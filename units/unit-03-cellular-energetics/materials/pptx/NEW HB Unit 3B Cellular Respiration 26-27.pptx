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Oswald"/>
      <p:regular r:id="rId44"/>
      <p:bold r:id="rId45"/>
    </p:embeddedFont>
    <p:embeddedFont>
      <p:font typeface="Open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Oswald-regular.fntdata"/><Relationship Id="rId43" Type="http://schemas.openxmlformats.org/officeDocument/2006/relationships/slide" Target="slides/slide38.xml"/><Relationship Id="rId46" Type="http://schemas.openxmlformats.org/officeDocument/2006/relationships/font" Target="fonts/OpenSans-regular.fntdata"/><Relationship Id="rId45" Type="http://schemas.openxmlformats.org/officeDocument/2006/relationships/font" Target="fonts/Oswa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italic.fntdata"/><Relationship Id="rId47" Type="http://schemas.openxmlformats.org/officeDocument/2006/relationships/font" Target="fonts/OpenSans-bold.fntdata"/><Relationship Id="rId49"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9d88b5316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9d88b5316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9d88b5316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9d88b5316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9d88b5316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9d88b5316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9d88b5316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9d88b5316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d88b53163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d88b5316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9d88b53163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9d88b5316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d88b53163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d88b53163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d88b53163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d88b53163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d88b53163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d88b5316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d88b5316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9d88b5316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409dec8e9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409dec8e9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f09bcbda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f09bcbda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14b0433f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14b0433f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14b0433f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14b0433f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14b0433f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14b0433f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14b0433f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14b0433f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14b0433f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14b0433f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14b0433f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14b0433f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409dec8e9d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409dec8e9d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14b0433f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14b0433f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14b0433f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a14b0433f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14b0433f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14b0433f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409dec8e9d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409dec8e9d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h3a0250d098b83f43_1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h3a0250d098b83f43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9f09bcbda6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9f09bcbda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14b0433f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a14b0433f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14b0433f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a14b0433f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14b0433f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a14b0433f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14b0433f8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14b0433f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a14b0433f8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a14b0433f8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14b0433f8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14b0433f8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f09bcbda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9f09bcbda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409dec8e9d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409dec8e9d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14b0433f8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a14b0433f8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a14b0433f8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a14b0433f8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a14b0433f8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a14b0433f8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h2eee836a6516830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h2eee836a6516830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Font typeface="Open Sans"/>
              <a:buNone/>
              <a:defRPr sz="2800">
                <a:latin typeface="Open Sans"/>
                <a:ea typeface="Open Sans"/>
                <a:cs typeface="Open Sans"/>
                <a:sym typeface="Open San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Open Sans"/>
              <a:buChar char="●"/>
              <a:defRPr>
                <a:latin typeface="Open Sans"/>
                <a:ea typeface="Open Sans"/>
                <a:cs typeface="Open Sans"/>
                <a:sym typeface="Open Sans"/>
              </a:defRPr>
            </a:lvl1pPr>
            <a:lvl2pPr indent="-317500" lvl="1" marL="914400">
              <a:spcBef>
                <a:spcPts val="0"/>
              </a:spcBef>
              <a:spcAft>
                <a:spcPts val="0"/>
              </a:spcAft>
              <a:buSzPts val="1400"/>
              <a:buFont typeface="Open Sans"/>
              <a:buChar char="○"/>
              <a:defRPr>
                <a:latin typeface="Open Sans"/>
                <a:ea typeface="Open Sans"/>
                <a:cs typeface="Open Sans"/>
                <a:sym typeface="Open Sans"/>
              </a:defRPr>
            </a:lvl2pPr>
            <a:lvl3pPr indent="-317500" lvl="2" marL="1371600">
              <a:spcBef>
                <a:spcPts val="0"/>
              </a:spcBef>
              <a:spcAft>
                <a:spcPts val="0"/>
              </a:spcAft>
              <a:buSzPts val="1400"/>
              <a:buFont typeface="Open Sans"/>
              <a:buChar char="■"/>
              <a:defRPr>
                <a:latin typeface="Open Sans"/>
                <a:ea typeface="Open Sans"/>
                <a:cs typeface="Open Sans"/>
                <a:sym typeface="Open Sans"/>
              </a:defRPr>
            </a:lvl3pPr>
            <a:lvl4pPr indent="-317500" lvl="3" marL="1828800">
              <a:spcBef>
                <a:spcPts val="0"/>
              </a:spcBef>
              <a:spcAft>
                <a:spcPts val="0"/>
              </a:spcAft>
              <a:buSzPts val="1400"/>
              <a:buFont typeface="Open Sans"/>
              <a:buChar char="●"/>
              <a:defRPr>
                <a:latin typeface="Open Sans"/>
                <a:ea typeface="Open Sans"/>
                <a:cs typeface="Open Sans"/>
                <a:sym typeface="Open Sans"/>
              </a:defRPr>
            </a:lvl4pPr>
            <a:lvl5pPr indent="-317500" lvl="4" marL="2286000">
              <a:spcBef>
                <a:spcPts val="0"/>
              </a:spcBef>
              <a:spcAft>
                <a:spcPts val="0"/>
              </a:spcAft>
              <a:buSzPts val="1400"/>
              <a:buFont typeface="Open Sans"/>
              <a:buChar char="○"/>
              <a:defRPr>
                <a:latin typeface="Open Sans"/>
                <a:ea typeface="Open Sans"/>
                <a:cs typeface="Open Sans"/>
                <a:sym typeface="Open Sans"/>
              </a:defRPr>
            </a:lvl5pPr>
            <a:lvl6pPr indent="-317500" lvl="5" marL="2743200">
              <a:spcBef>
                <a:spcPts val="0"/>
              </a:spcBef>
              <a:spcAft>
                <a:spcPts val="0"/>
              </a:spcAft>
              <a:buSzPts val="1400"/>
              <a:buFont typeface="Open Sans"/>
              <a:buChar char="■"/>
              <a:defRPr>
                <a:latin typeface="Open Sans"/>
                <a:ea typeface="Open Sans"/>
                <a:cs typeface="Open Sans"/>
                <a:sym typeface="Open Sans"/>
              </a:defRPr>
            </a:lvl6pPr>
            <a:lvl7pPr indent="-317500" lvl="6" marL="3200400">
              <a:spcBef>
                <a:spcPts val="0"/>
              </a:spcBef>
              <a:spcAft>
                <a:spcPts val="0"/>
              </a:spcAft>
              <a:buSzPts val="1400"/>
              <a:buFont typeface="Open Sans"/>
              <a:buChar char="●"/>
              <a:defRPr>
                <a:latin typeface="Open Sans"/>
                <a:ea typeface="Open Sans"/>
                <a:cs typeface="Open Sans"/>
                <a:sym typeface="Open Sans"/>
              </a:defRPr>
            </a:lvl7pPr>
            <a:lvl8pPr indent="-317500" lvl="7" marL="3657600">
              <a:spcBef>
                <a:spcPts val="0"/>
              </a:spcBef>
              <a:spcAft>
                <a:spcPts val="0"/>
              </a:spcAft>
              <a:buSzPts val="1400"/>
              <a:buFont typeface="Open Sans"/>
              <a:buChar char="○"/>
              <a:defRPr>
                <a:latin typeface="Open Sans"/>
                <a:ea typeface="Open Sans"/>
                <a:cs typeface="Open Sans"/>
                <a:sym typeface="Open Sans"/>
              </a:defRPr>
            </a:lvl8pPr>
            <a:lvl9pPr indent="-317500" lvl="8" marL="4114800">
              <a:spcBef>
                <a:spcPts val="0"/>
              </a:spcBef>
              <a:spcAft>
                <a:spcPts val="0"/>
              </a:spcAft>
              <a:buSzPts val="1400"/>
              <a:buFont typeface="Open Sans"/>
              <a:buChar char="■"/>
              <a:defRPr>
                <a:latin typeface="Open Sans"/>
                <a:ea typeface="Open Sans"/>
                <a:cs typeface="Open Sans"/>
                <a:sym typeface="Open Sans"/>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Open Sans"/>
              <a:buChar char="●"/>
              <a:defRPr sz="1400">
                <a:latin typeface="Open Sans"/>
                <a:ea typeface="Open Sans"/>
                <a:cs typeface="Open Sans"/>
                <a:sym typeface="Open Sans"/>
              </a:defRPr>
            </a:lvl1pPr>
            <a:lvl2pPr indent="-304800" lvl="1" marL="914400">
              <a:spcBef>
                <a:spcPts val="0"/>
              </a:spcBef>
              <a:spcAft>
                <a:spcPts val="0"/>
              </a:spcAft>
              <a:buSzPts val="1200"/>
              <a:buFont typeface="Open Sans"/>
              <a:buChar char="○"/>
              <a:defRPr sz="1200">
                <a:latin typeface="Open Sans"/>
                <a:ea typeface="Open Sans"/>
                <a:cs typeface="Open Sans"/>
                <a:sym typeface="Open Sans"/>
              </a:defRPr>
            </a:lvl2pPr>
            <a:lvl3pPr indent="-304800" lvl="2" marL="1371600">
              <a:spcBef>
                <a:spcPts val="0"/>
              </a:spcBef>
              <a:spcAft>
                <a:spcPts val="0"/>
              </a:spcAft>
              <a:buSzPts val="1200"/>
              <a:buFont typeface="Open Sans"/>
              <a:buChar char="■"/>
              <a:defRPr sz="1200">
                <a:latin typeface="Open Sans"/>
                <a:ea typeface="Open Sans"/>
                <a:cs typeface="Open Sans"/>
                <a:sym typeface="Open Sans"/>
              </a:defRPr>
            </a:lvl3pPr>
            <a:lvl4pPr indent="-304800" lvl="3" marL="1828800">
              <a:spcBef>
                <a:spcPts val="0"/>
              </a:spcBef>
              <a:spcAft>
                <a:spcPts val="0"/>
              </a:spcAft>
              <a:buSzPts val="1200"/>
              <a:buFont typeface="Open Sans"/>
              <a:buChar char="●"/>
              <a:defRPr sz="1200">
                <a:latin typeface="Open Sans"/>
                <a:ea typeface="Open Sans"/>
                <a:cs typeface="Open Sans"/>
                <a:sym typeface="Open Sans"/>
              </a:defRPr>
            </a:lvl4pPr>
            <a:lvl5pPr indent="-304800" lvl="4" marL="2286000">
              <a:spcBef>
                <a:spcPts val="0"/>
              </a:spcBef>
              <a:spcAft>
                <a:spcPts val="0"/>
              </a:spcAft>
              <a:buSzPts val="1200"/>
              <a:buFont typeface="Open Sans"/>
              <a:buChar char="○"/>
              <a:defRPr sz="1200">
                <a:latin typeface="Open Sans"/>
                <a:ea typeface="Open Sans"/>
                <a:cs typeface="Open Sans"/>
                <a:sym typeface="Open Sans"/>
              </a:defRPr>
            </a:lvl5pPr>
            <a:lvl6pPr indent="-304800" lvl="5" marL="2743200">
              <a:spcBef>
                <a:spcPts val="0"/>
              </a:spcBef>
              <a:spcAft>
                <a:spcPts val="0"/>
              </a:spcAft>
              <a:buSzPts val="1200"/>
              <a:buFont typeface="Open Sans"/>
              <a:buChar char="■"/>
              <a:defRPr sz="1200">
                <a:latin typeface="Open Sans"/>
                <a:ea typeface="Open Sans"/>
                <a:cs typeface="Open Sans"/>
                <a:sym typeface="Open Sans"/>
              </a:defRPr>
            </a:lvl6pPr>
            <a:lvl7pPr indent="-304800" lvl="6" marL="3200400">
              <a:spcBef>
                <a:spcPts val="0"/>
              </a:spcBef>
              <a:spcAft>
                <a:spcPts val="0"/>
              </a:spcAft>
              <a:buSzPts val="1200"/>
              <a:buFont typeface="Open Sans"/>
              <a:buChar char="●"/>
              <a:defRPr sz="1200">
                <a:latin typeface="Open Sans"/>
                <a:ea typeface="Open Sans"/>
                <a:cs typeface="Open Sans"/>
                <a:sym typeface="Open Sans"/>
              </a:defRPr>
            </a:lvl7pPr>
            <a:lvl8pPr indent="-304800" lvl="7" marL="3657600">
              <a:spcBef>
                <a:spcPts val="0"/>
              </a:spcBef>
              <a:spcAft>
                <a:spcPts val="0"/>
              </a:spcAft>
              <a:buSzPts val="1200"/>
              <a:buFont typeface="Open Sans"/>
              <a:buChar char="○"/>
              <a:defRPr sz="1200">
                <a:latin typeface="Open Sans"/>
                <a:ea typeface="Open Sans"/>
                <a:cs typeface="Open Sans"/>
                <a:sym typeface="Open Sans"/>
              </a:defRPr>
            </a:lvl8pPr>
            <a:lvl9pPr indent="-304800" lvl="8" marL="4114800">
              <a:spcBef>
                <a:spcPts val="0"/>
              </a:spcBef>
              <a:spcAft>
                <a:spcPts val="0"/>
              </a:spcAft>
              <a:buSzPts val="1200"/>
              <a:buFont typeface="Open Sans"/>
              <a:buChar char="■"/>
              <a:defRPr sz="1200">
                <a:latin typeface="Open Sans"/>
                <a:ea typeface="Open Sans"/>
                <a:cs typeface="Open Sans"/>
                <a:sym typeface="Open Sans"/>
              </a:defRPr>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Open Sans"/>
              <a:buChar char="●"/>
              <a:defRPr sz="1400">
                <a:latin typeface="Open Sans"/>
                <a:ea typeface="Open Sans"/>
                <a:cs typeface="Open Sans"/>
                <a:sym typeface="Open Sans"/>
              </a:defRPr>
            </a:lvl1pPr>
            <a:lvl2pPr indent="-304800" lvl="1" marL="914400">
              <a:spcBef>
                <a:spcPts val="0"/>
              </a:spcBef>
              <a:spcAft>
                <a:spcPts val="0"/>
              </a:spcAft>
              <a:buSzPts val="1200"/>
              <a:buFont typeface="Open Sans"/>
              <a:buChar char="○"/>
              <a:defRPr sz="1200">
                <a:latin typeface="Open Sans"/>
                <a:ea typeface="Open Sans"/>
                <a:cs typeface="Open Sans"/>
                <a:sym typeface="Open Sans"/>
              </a:defRPr>
            </a:lvl2pPr>
            <a:lvl3pPr indent="-304800" lvl="2" marL="1371600">
              <a:spcBef>
                <a:spcPts val="0"/>
              </a:spcBef>
              <a:spcAft>
                <a:spcPts val="0"/>
              </a:spcAft>
              <a:buSzPts val="1200"/>
              <a:buFont typeface="Open Sans"/>
              <a:buChar char="■"/>
              <a:defRPr sz="1200">
                <a:latin typeface="Open Sans"/>
                <a:ea typeface="Open Sans"/>
                <a:cs typeface="Open Sans"/>
                <a:sym typeface="Open Sans"/>
              </a:defRPr>
            </a:lvl3pPr>
            <a:lvl4pPr indent="-304800" lvl="3" marL="1828800">
              <a:spcBef>
                <a:spcPts val="0"/>
              </a:spcBef>
              <a:spcAft>
                <a:spcPts val="0"/>
              </a:spcAft>
              <a:buSzPts val="1200"/>
              <a:buFont typeface="Open Sans"/>
              <a:buChar char="●"/>
              <a:defRPr sz="1200">
                <a:latin typeface="Open Sans"/>
                <a:ea typeface="Open Sans"/>
                <a:cs typeface="Open Sans"/>
                <a:sym typeface="Open Sans"/>
              </a:defRPr>
            </a:lvl4pPr>
            <a:lvl5pPr indent="-304800" lvl="4" marL="2286000">
              <a:spcBef>
                <a:spcPts val="0"/>
              </a:spcBef>
              <a:spcAft>
                <a:spcPts val="0"/>
              </a:spcAft>
              <a:buSzPts val="1200"/>
              <a:buFont typeface="Open Sans"/>
              <a:buChar char="○"/>
              <a:defRPr sz="1200">
                <a:latin typeface="Open Sans"/>
                <a:ea typeface="Open Sans"/>
                <a:cs typeface="Open Sans"/>
                <a:sym typeface="Open Sans"/>
              </a:defRPr>
            </a:lvl5pPr>
            <a:lvl6pPr indent="-304800" lvl="5" marL="2743200">
              <a:spcBef>
                <a:spcPts val="0"/>
              </a:spcBef>
              <a:spcAft>
                <a:spcPts val="0"/>
              </a:spcAft>
              <a:buSzPts val="1200"/>
              <a:buFont typeface="Open Sans"/>
              <a:buChar char="■"/>
              <a:defRPr sz="1200">
                <a:latin typeface="Open Sans"/>
                <a:ea typeface="Open Sans"/>
                <a:cs typeface="Open Sans"/>
                <a:sym typeface="Open Sans"/>
              </a:defRPr>
            </a:lvl6pPr>
            <a:lvl7pPr indent="-304800" lvl="6" marL="3200400">
              <a:spcBef>
                <a:spcPts val="0"/>
              </a:spcBef>
              <a:spcAft>
                <a:spcPts val="0"/>
              </a:spcAft>
              <a:buSzPts val="1200"/>
              <a:buFont typeface="Open Sans"/>
              <a:buChar char="●"/>
              <a:defRPr sz="1200">
                <a:latin typeface="Open Sans"/>
                <a:ea typeface="Open Sans"/>
                <a:cs typeface="Open Sans"/>
                <a:sym typeface="Open Sans"/>
              </a:defRPr>
            </a:lvl7pPr>
            <a:lvl8pPr indent="-304800" lvl="7" marL="3657600">
              <a:spcBef>
                <a:spcPts val="0"/>
              </a:spcBef>
              <a:spcAft>
                <a:spcPts val="0"/>
              </a:spcAft>
              <a:buSzPts val="1200"/>
              <a:buFont typeface="Open Sans"/>
              <a:buChar char="○"/>
              <a:defRPr sz="1200">
                <a:latin typeface="Open Sans"/>
                <a:ea typeface="Open Sans"/>
                <a:cs typeface="Open Sans"/>
                <a:sym typeface="Open Sans"/>
              </a:defRPr>
            </a:lvl8pPr>
            <a:lvl9pPr indent="-304800" lvl="8" marL="4114800">
              <a:spcBef>
                <a:spcPts val="0"/>
              </a:spcBef>
              <a:spcAft>
                <a:spcPts val="0"/>
              </a:spcAft>
              <a:buSzPts val="1200"/>
              <a:buFont typeface="Open Sans"/>
              <a:buChar char="■"/>
              <a:defRPr sz="1200">
                <a:latin typeface="Open Sans"/>
                <a:ea typeface="Open Sans"/>
                <a:cs typeface="Open Sans"/>
                <a:sym typeface="Open Sans"/>
              </a:defRPr>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Open Sans"/>
              <a:buChar char="●"/>
              <a:defRPr sz="1200">
                <a:latin typeface="Open Sans"/>
                <a:ea typeface="Open Sans"/>
                <a:cs typeface="Open Sans"/>
                <a:sym typeface="Open Sans"/>
              </a:defRPr>
            </a:lvl1pPr>
            <a:lvl2pPr indent="-304800" lvl="1" marL="914400">
              <a:spcBef>
                <a:spcPts val="0"/>
              </a:spcBef>
              <a:spcAft>
                <a:spcPts val="0"/>
              </a:spcAft>
              <a:buSzPts val="1200"/>
              <a:buFont typeface="Open Sans"/>
              <a:buChar char="○"/>
              <a:defRPr sz="1200">
                <a:latin typeface="Open Sans"/>
                <a:ea typeface="Open Sans"/>
                <a:cs typeface="Open Sans"/>
                <a:sym typeface="Open Sans"/>
              </a:defRPr>
            </a:lvl2pPr>
            <a:lvl3pPr indent="-304800" lvl="2" marL="1371600">
              <a:spcBef>
                <a:spcPts val="0"/>
              </a:spcBef>
              <a:spcAft>
                <a:spcPts val="0"/>
              </a:spcAft>
              <a:buSzPts val="1200"/>
              <a:buFont typeface="Open Sans"/>
              <a:buChar char="■"/>
              <a:defRPr sz="1200">
                <a:latin typeface="Open Sans"/>
                <a:ea typeface="Open Sans"/>
                <a:cs typeface="Open Sans"/>
                <a:sym typeface="Open Sans"/>
              </a:defRPr>
            </a:lvl3pPr>
            <a:lvl4pPr indent="-304800" lvl="3" marL="1828800">
              <a:spcBef>
                <a:spcPts val="0"/>
              </a:spcBef>
              <a:spcAft>
                <a:spcPts val="0"/>
              </a:spcAft>
              <a:buSzPts val="1200"/>
              <a:buFont typeface="Open Sans"/>
              <a:buChar char="●"/>
              <a:defRPr sz="1200">
                <a:latin typeface="Open Sans"/>
                <a:ea typeface="Open Sans"/>
                <a:cs typeface="Open Sans"/>
                <a:sym typeface="Open Sans"/>
              </a:defRPr>
            </a:lvl4pPr>
            <a:lvl5pPr indent="-304800" lvl="4" marL="2286000">
              <a:spcBef>
                <a:spcPts val="0"/>
              </a:spcBef>
              <a:spcAft>
                <a:spcPts val="0"/>
              </a:spcAft>
              <a:buSzPts val="1200"/>
              <a:buFont typeface="Open Sans"/>
              <a:buChar char="○"/>
              <a:defRPr sz="1200">
                <a:latin typeface="Open Sans"/>
                <a:ea typeface="Open Sans"/>
                <a:cs typeface="Open Sans"/>
                <a:sym typeface="Open Sans"/>
              </a:defRPr>
            </a:lvl5pPr>
            <a:lvl6pPr indent="-304800" lvl="5" marL="2743200">
              <a:spcBef>
                <a:spcPts val="0"/>
              </a:spcBef>
              <a:spcAft>
                <a:spcPts val="0"/>
              </a:spcAft>
              <a:buSzPts val="1200"/>
              <a:buFont typeface="Open Sans"/>
              <a:buChar char="■"/>
              <a:defRPr sz="1200">
                <a:latin typeface="Open Sans"/>
                <a:ea typeface="Open Sans"/>
                <a:cs typeface="Open Sans"/>
                <a:sym typeface="Open Sans"/>
              </a:defRPr>
            </a:lvl6pPr>
            <a:lvl7pPr indent="-304800" lvl="6" marL="3200400">
              <a:spcBef>
                <a:spcPts val="0"/>
              </a:spcBef>
              <a:spcAft>
                <a:spcPts val="0"/>
              </a:spcAft>
              <a:buSzPts val="1200"/>
              <a:buFont typeface="Open Sans"/>
              <a:buChar char="●"/>
              <a:defRPr sz="1200">
                <a:latin typeface="Open Sans"/>
                <a:ea typeface="Open Sans"/>
                <a:cs typeface="Open Sans"/>
                <a:sym typeface="Open Sans"/>
              </a:defRPr>
            </a:lvl7pPr>
            <a:lvl8pPr indent="-304800" lvl="7" marL="3657600">
              <a:spcBef>
                <a:spcPts val="0"/>
              </a:spcBef>
              <a:spcAft>
                <a:spcPts val="0"/>
              </a:spcAft>
              <a:buSzPts val="1200"/>
              <a:buFont typeface="Open Sans"/>
              <a:buChar char="○"/>
              <a:defRPr sz="1200">
                <a:latin typeface="Open Sans"/>
                <a:ea typeface="Open Sans"/>
                <a:cs typeface="Open Sans"/>
                <a:sym typeface="Open Sans"/>
              </a:defRPr>
            </a:lvl8pPr>
            <a:lvl9pPr indent="-304800" lvl="8" marL="4114800">
              <a:spcBef>
                <a:spcPts val="0"/>
              </a:spcBef>
              <a:spcAft>
                <a:spcPts val="0"/>
              </a:spcAft>
              <a:buSzPts val="1200"/>
              <a:buFont typeface="Open Sans"/>
              <a:buChar char="■"/>
              <a:defRPr sz="1200">
                <a:latin typeface="Open Sans"/>
                <a:ea typeface="Open Sans"/>
                <a:cs typeface="Open Sans"/>
                <a:sym typeface="Open Sans"/>
              </a:defRPr>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Open Sans"/>
              <a:buNone/>
              <a:defRPr sz="2100">
                <a:latin typeface="Open Sans"/>
                <a:ea typeface="Open Sans"/>
                <a:cs typeface="Open Sans"/>
                <a:sym typeface="Open Sans"/>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000000"/>
              </a:buClr>
              <a:buSzPts val="1800"/>
              <a:buFont typeface="Open Sans"/>
              <a:buChar char="●"/>
              <a:defRPr>
                <a:solidFill>
                  <a:srgbClr val="000000"/>
                </a:solidFill>
                <a:latin typeface="Open Sans"/>
                <a:ea typeface="Open Sans"/>
                <a:cs typeface="Open Sans"/>
                <a:sym typeface="Open Sans"/>
              </a:defRPr>
            </a:lvl1pPr>
            <a:lvl2pPr indent="-317500" lvl="1" marL="914400">
              <a:spcBef>
                <a:spcPts val="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2pPr>
            <a:lvl3pPr indent="-317500" lvl="2" marL="1371600">
              <a:spcBef>
                <a:spcPts val="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3pPr>
            <a:lvl4pPr indent="-317500" lvl="3" marL="1828800">
              <a:spcBef>
                <a:spcPts val="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4pPr>
            <a:lvl5pPr indent="-317500" lvl="4" marL="2286000">
              <a:spcBef>
                <a:spcPts val="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5pPr>
            <a:lvl6pPr indent="-317500" lvl="5" marL="2743200">
              <a:spcBef>
                <a:spcPts val="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6pPr>
            <a:lvl7pPr indent="-317500" lvl="6" marL="3200400">
              <a:spcBef>
                <a:spcPts val="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7pPr>
            <a:lvl8pPr indent="-317500" lvl="7" marL="3657600">
              <a:spcBef>
                <a:spcPts val="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8pPr>
            <a:lvl9pPr indent="-317500" lvl="8" marL="4114800">
              <a:spcBef>
                <a:spcPts val="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Open Sans"/>
              <a:buNone/>
              <a:defRPr>
                <a:latin typeface="Open Sans"/>
                <a:ea typeface="Open Sans"/>
                <a:cs typeface="Open Sans"/>
                <a:sym typeface="Open Sans"/>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Font typeface="Open Sans"/>
              <a:buChar char="●"/>
              <a:defRPr>
                <a:latin typeface="Open Sans"/>
                <a:ea typeface="Open Sans"/>
                <a:cs typeface="Open Sans"/>
                <a:sym typeface="Open Sans"/>
              </a:defRPr>
            </a:lvl1pPr>
            <a:lvl2pPr indent="-317500" lvl="1" marL="914400" algn="ctr">
              <a:spcBef>
                <a:spcPts val="0"/>
              </a:spcBef>
              <a:spcAft>
                <a:spcPts val="0"/>
              </a:spcAft>
              <a:buSzPts val="1400"/>
              <a:buFont typeface="Open Sans"/>
              <a:buChar char="○"/>
              <a:defRPr>
                <a:latin typeface="Open Sans"/>
                <a:ea typeface="Open Sans"/>
                <a:cs typeface="Open Sans"/>
                <a:sym typeface="Open Sans"/>
              </a:defRPr>
            </a:lvl2pPr>
            <a:lvl3pPr indent="-317500" lvl="2" marL="1371600" algn="ctr">
              <a:spcBef>
                <a:spcPts val="0"/>
              </a:spcBef>
              <a:spcAft>
                <a:spcPts val="0"/>
              </a:spcAft>
              <a:buSzPts val="1400"/>
              <a:buFont typeface="Open Sans"/>
              <a:buChar char="■"/>
              <a:defRPr>
                <a:latin typeface="Open Sans"/>
                <a:ea typeface="Open Sans"/>
                <a:cs typeface="Open Sans"/>
                <a:sym typeface="Open Sans"/>
              </a:defRPr>
            </a:lvl3pPr>
            <a:lvl4pPr indent="-317500" lvl="3" marL="1828800" algn="ctr">
              <a:spcBef>
                <a:spcPts val="0"/>
              </a:spcBef>
              <a:spcAft>
                <a:spcPts val="0"/>
              </a:spcAft>
              <a:buSzPts val="1400"/>
              <a:buFont typeface="Open Sans"/>
              <a:buChar char="●"/>
              <a:defRPr>
                <a:latin typeface="Open Sans"/>
                <a:ea typeface="Open Sans"/>
                <a:cs typeface="Open Sans"/>
                <a:sym typeface="Open Sans"/>
              </a:defRPr>
            </a:lvl4pPr>
            <a:lvl5pPr indent="-317500" lvl="4" marL="2286000" algn="ctr">
              <a:spcBef>
                <a:spcPts val="0"/>
              </a:spcBef>
              <a:spcAft>
                <a:spcPts val="0"/>
              </a:spcAft>
              <a:buSzPts val="1400"/>
              <a:buFont typeface="Open Sans"/>
              <a:buChar char="○"/>
              <a:defRPr>
                <a:latin typeface="Open Sans"/>
                <a:ea typeface="Open Sans"/>
                <a:cs typeface="Open Sans"/>
                <a:sym typeface="Open Sans"/>
              </a:defRPr>
            </a:lvl5pPr>
            <a:lvl6pPr indent="-317500" lvl="5" marL="2743200" algn="ctr">
              <a:spcBef>
                <a:spcPts val="0"/>
              </a:spcBef>
              <a:spcAft>
                <a:spcPts val="0"/>
              </a:spcAft>
              <a:buSzPts val="1400"/>
              <a:buFont typeface="Open Sans"/>
              <a:buChar char="■"/>
              <a:defRPr>
                <a:latin typeface="Open Sans"/>
                <a:ea typeface="Open Sans"/>
                <a:cs typeface="Open Sans"/>
                <a:sym typeface="Open Sans"/>
              </a:defRPr>
            </a:lvl6pPr>
            <a:lvl7pPr indent="-317500" lvl="6" marL="3200400" algn="ctr">
              <a:spcBef>
                <a:spcPts val="0"/>
              </a:spcBef>
              <a:spcAft>
                <a:spcPts val="0"/>
              </a:spcAft>
              <a:buSzPts val="1400"/>
              <a:buFont typeface="Open Sans"/>
              <a:buChar char="●"/>
              <a:defRPr>
                <a:latin typeface="Open Sans"/>
                <a:ea typeface="Open Sans"/>
                <a:cs typeface="Open Sans"/>
                <a:sym typeface="Open Sans"/>
              </a:defRPr>
            </a:lvl7pPr>
            <a:lvl8pPr indent="-317500" lvl="7" marL="3657600" algn="ctr">
              <a:spcBef>
                <a:spcPts val="0"/>
              </a:spcBef>
              <a:spcAft>
                <a:spcPts val="0"/>
              </a:spcAft>
              <a:buSzPts val="1400"/>
              <a:buFont typeface="Open Sans"/>
              <a:buChar char="○"/>
              <a:defRPr>
                <a:latin typeface="Open Sans"/>
                <a:ea typeface="Open Sans"/>
                <a:cs typeface="Open Sans"/>
                <a:sym typeface="Open Sans"/>
              </a:defRPr>
            </a:lvl8pPr>
            <a:lvl9pPr indent="-317500" lvl="8" marL="4114800" algn="ctr">
              <a:spcBef>
                <a:spcPts val="0"/>
              </a:spcBef>
              <a:spcAft>
                <a:spcPts val="0"/>
              </a:spcAft>
              <a:buSzPts val="1400"/>
              <a:buFont typeface="Open Sans"/>
              <a:buChar char="■"/>
              <a:defRPr>
                <a:latin typeface="Open Sans"/>
                <a:ea typeface="Open Sans"/>
                <a:cs typeface="Open Sans"/>
                <a:sym typeface="Open Sans"/>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Open Sans"/>
              <a:buNone/>
              <a:defRPr sz="2800">
                <a:solidFill>
                  <a:schemeClr val="lt1"/>
                </a:solidFill>
                <a:latin typeface="Open Sans"/>
                <a:ea typeface="Open Sans"/>
                <a:cs typeface="Open Sans"/>
                <a:sym typeface="Open Sans"/>
              </a:defRPr>
            </a:lvl1pPr>
            <a:lvl2pPr lvl="1">
              <a:spcBef>
                <a:spcPts val="0"/>
              </a:spcBef>
              <a:spcAft>
                <a:spcPts val="0"/>
              </a:spcAft>
              <a:buClr>
                <a:schemeClr val="lt1"/>
              </a:buClr>
              <a:buSzPts val="2800"/>
              <a:buNone/>
              <a:defRPr sz="2800">
                <a:solidFill>
                  <a:schemeClr val="lt1"/>
                </a:solidFill>
              </a:defRPr>
            </a:lvl2pPr>
            <a:lvl3pPr lvl="2">
              <a:spcBef>
                <a:spcPts val="0"/>
              </a:spcBef>
              <a:spcAft>
                <a:spcPts val="0"/>
              </a:spcAft>
              <a:buClr>
                <a:schemeClr val="lt1"/>
              </a:buClr>
              <a:buSzPts val="2800"/>
              <a:buNone/>
              <a:defRPr sz="2800">
                <a:solidFill>
                  <a:schemeClr val="lt1"/>
                </a:solidFill>
              </a:defRPr>
            </a:lvl3pPr>
            <a:lvl4pPr lvl="3">
              <a:spcBef>
                <a:spcPts val="0"/>
              </a:spcBef>
              <a:spcAft>
                <a:spcPts val="0"/>
              </a:spcAft>
              <a:buClr>
                <a:schemeClr val="lt1"/>
              </a:buClr>
              <a:buSzPts val="2800"/>
              <a:buNone/>
              <a:defRPr sz="2800">
                <a:solidFill>
                  <a:schemeClr val="lt1"/>
                </a:solidFill>
              </a:defRPr>
            </a:lvl4pPr>
            <a:lvl5pPr lvl="4">
              <a:spcBef>
                <a:spcPts val="0"/>
              </a:spcBef>
              <a:spcAft>
                <a:spcPts val="0"/>
              </a:spcAft>
              <a:buClr>
                <a:schemeClr val="lt1"/>
              </a:buClr>
              <a:buSzPts val="2800"/>
              <a:buNone/>
              <a:defRPr sz="2800">
                <a:solidFill>
                  <a:schemeClr val="lt1"/>
                </a:solidFill>
              </a:defRPr>
            </a:lvl5pPr>
            <a:lvl6pPr lvl="5">
              <a:spcBef>
                <a:spcPts val="0"/>
              </a:spcBef>
              <a:spcAft>
                <a:spcPts val="0"/>
              </a:spcAft>
              <a:buClr>
                <a:schemeClr val="lt1"/>
              </a:buClr>
              <a:buSzPts val="2800"/>
              <a:buNone/>
              <a:defRPr sz="2800">
                <a:solidFill>
                  <a:schemeClr val="lt1"/>
                </a:solidFill>
              </a:defRPr>
            </a:lvl6pPr>
            <a:lvl7pPr lvl="6">
              <a:spcBef>
                <a:spcPts val="0"/>
              </a:spcBef>
              <a:spcAft>
                <a:spcPts val="0"/>
              </a:spcAft>
              <a:buClr>
                <a:schemeClr val="lt1"/>
              </a:buClr>
              <a:buSzPts val="2800"/>
              <a:buNone/>
              <a:defRPr sz="2800">
                <a:solidFill>
                  <a:schemeClr val="lt1"/>
                </a:solidFill>
              </a:defRPr>
            </a:lvl7pPr>
            <a:lvl8pPr lvl="7">
              <a:spcBef>
                <a:spcPts val="0"/>
              </a:spcBef>
              <a:spcAft>
                <a:spcPts val="0"/>
              </a:spcAft>
              <a:buClr>
                <a:schemeClr val="lt1"/>
              </a:buClr>
              <a:buSzPts val="2800"/>
              <a:buNone/>
              <a:defRPr sz="2800">
                <a:solidFill>
                  <a:schemeClr val="lt1"/>
                </a:solidFill>
              </a:defRPr>
            </a:lvl8pPr>
            <a:lvl9pPr lvl="8">
              <a:spcBef>
                <a:spcPts val="0"/>
              </a:spcBef>
              <a:spcAft>
                <a:spcPts val="0"/>
              </a:spcAft>
              <a:buClr>
                <a:schemeClr val="lt1"/>
              </a:buClr>
              <a:buSzPts val="2800"/>
              <a:buNone/>
              <a:defRPr sz="2800">
                <a:solidFill>
                  <a:schemeClr val="lt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Open Sans"/>
              <a:buChar char="●"/>
              <a:defRPr sz="1800">
                <a:solidFill>
                  <a:schemeClr val="lt1"/>
                </a:solidFill>
                <a:latin typeface="Open Sans"/>
                <a:ea typeface="Open Sans"/>
                <a:cs typeface="Open Sans"/>
                <a:sym typeface="Open Sans"/>
              </a:defRPr>
            </a:lvl1pPr>
            <a:lvl2pPr indent="-317500" lvl="1" marL="914400">
              <a:lnSpc>
                <a:spcPct val="115000"/>
              </a:lnSpc>
              <a:spcBef>
                <a:spcPts val="0"/>
              </a:spcBef>
              <a:spcAft>
                <a:spcPts val="0"/>
              </a:spcAft>
              <a:buClr>
                <a:schemeClr val="lt1"/>
              </a:buClr>
              <a:buSzPts val="1400"/>
              <a:buFont typeface="Open Sans"/>
              <a:buChar char="○"/>
              <a:defRPr>
                <a:solidFill>
                  <a:schemeClr val="lt1"/>
                </a:solidFill>
                <a:latin typeface="Open Sans"/>
                <a:ea typeface="Open Sans"/>
                <a:cs typeface="Open Sans"/>
                <a:sym typeface="Open Sans"/>
              </a:defRPr>
            </a:lvl2pPr>
            <a:lvl3pPr indent="-317500" lvl="2" marL="1371600">
              <a:lnSpc>
                <a:spcPct val="115000"/>
              </a:lnSpc>
              <a:spcBef>
                <a:spcPts val="0"/>
              </a:spcBef>
              <a:spcAft>
                <a:spcPts val="0"/>
              </a:spcAft>
              <a:buClr>
                <a:schemeClr val="lt1"/>
              </a:buClr>
              <a:buSzPts val="1400"/>
              <a:buFont typeface="Open Sans"/>
              <a:buChar char="■"/>
              <a:defRPr>
                <a:solidFill>
                  <a:schemeClr val="lt1"/>
                </a:solidFill>
                <a:latin typeface="Open Sans"/>
                <a:ea typeface="Open Sans"/>
                <a:cs typeface="Open Sans"/>
                <a:sym typeface="Open Sans"/>
              </a:defRPr>
            </a:lvl3pPr>
            <a:lvl4pPr indent="-317500" lvl="3" marL="1828800">
              <a:lnSpc>
                <a:spcPct val="115000"/>
              </a:lnSpc>
              <a:spcBef>
                <a:spcPts val="0"/>
              </a:spcBef>
              <a:spcAft>
                <a:spcPts val="0"/>
              </a:spcAft>
              <a:buClr>
                <a:schemeClr val="lt1"/>
              </a:buClr>
              <a:buSzPts val="1400"/>
              <a:buFont typeface="Open Sans"/>
              <a:buChar char="●"/>
              <a:defRPr>
                <a:solidFill>
                  <a:schemeClr val="lt1"/>
                </a:solidFill>
                <a:latin typeface="Open Sans"/>
                <a:ea typeface="Open Sans"/>
                <a:cs typeface="Open Sans"/>
                <a:sym typeface="Open Sans"/>
              </a:defRPr>
            </a:lvl4pPr>
            <a:lvl5pPr indent="-317500" lvl="4" marL="2286000">
              <a:lnSpc>
                <a:spcPct val="115000"/>
              </a:lnSpc>
              <a:spcBef>
                <a:spcPts val="0"/>
              </a:spcBef>
              <a:spcAft>
                <a:spcPts val="0"/>
              </a:spcAft>
              <a:buClr>
                <a:schemeClr val="lt1"/>
              </a:buClr>
              <a:buSzPts val="1400"/>
              <a:buFont typeface="Open Sans"/>
              <a:buChar char="○"/>
              <a:defRPr>
                <a:solidFill>
                  <a:schemeClr val="lt1"/>
                </a:solidFill>
                <a:latin typeface="Open Sans"/>
                <a:ea typeface="Open Sans"/>
                <a:cs typeface="Open Sans"/>
                <a:sym typeface="Open Sans"/>
              </a:defRPr>
            </a:lvl5pPr>
            <a:lvl6pPr indent="-317500" lvl="5" marL="2743200">
              <a:lnSpc>
                <a:spcPct val="115000"/>
              </a:lnSpc>
              <a:spcBef>
                <a:spcPts val="0"/>
              </a:spcBef>
              <a:spcAft>
                <a:spcPts val="0"/>
              </a:spcAft>
              <a:buClr>
                <a:schemeClr val="lt1"/>
              </a:buClr>
              <a:buSzPts val="1400"/>
              <a:buFont typeface="Open Sans"/>
              <a:buChar char="■"/>
              <a:defRPr>
                <a:solidFill>
                  <a:schemeClr val="lt1"/>
                </a:solidFill>
                <a:latin typeface="Open Sans"/>
                <a:ea typeface="Open Sans"/>
                <a:cs typeface="Open Sans"/>
                <a:sym typeface="Open Sans"/>
              </a:defRPr>
            </a:lvl6pPr>
            <a:lvl7pPr indent="-317500" lvl="6" marL="3200400">
              <a:lnSpc>
                <a:spcPct val="115000"/>
              </a:lnSpc>
              <a:spcBef>
                <a:spcPts val="0"/>
              </a:spcBef>
              <a:spcAft>
                <a:spcPts val="0"/>
              </a:spcAft>
              <a:buClr>
                <a:schemeClr val="lt1"/>
              </a:buClr>
              <a:buSzPts val="1400"/>
              <a:buFont typeface="Open Sans"/>
              <a:buChar char="●"/>
              <a:defRPr>
                <a:solidFill>
                  <a:schemeClr val="lt1"/>
                </a:solidFill>
                <a:latin typeface="Open Sans"/>
                <a:ea typeface="Open Sans"/>
                <a:cs typeface="Open Sans"/>
                <a:sym typeface="Open Sans"/>
              </a:defRPr>
            </a:lvl7pPr>
            <a:lvl8pPr indent="-317500" lvl="7" marL="3657600">
              <a:lnSpc>
                <a:spcPct val="115000"/>
              </a:lnSpc>
              <a:spcBef>
                <a:spcPts val="0"/>
              </a:spcBef>
              <a:spcAft>
                <a:spcPts val="0"/>
              </a:spcAft>
              <a:buClr>
                <a:schemeClr val="lt1"/>
              </a:buClr>
              <a:buSzPts val="1400"/>
              <a:buFont typeface="Open Sans"/>
              <a:buChar char="○"/>
              <a:defRPr>
                <a:solidFill>
                  <a:schemeClr val="lt1"/>
                </a:solidFill>
                <a:latin typeface="Open Sans"/>
                <a:ea typeface="Open Sans"/>
                <a:cs typeface="Open Sans"/>
                <a:sym typeface="Open Sans"/>
              </a:defRPr>
            </a:lvl8pPr>
            <a:lvl9pPr indent="-317500" lvl="8" marL="4114800">
              <a:lnSpc>
                <a:spcPct val="115000"/>
              </a:lnSpc>
              <a:spcBef>
                <a:spcPts val="0"/>
              </a:spcBef>
              <a:spcAft>
                <a:spcPts val="0"/>
              </a:spcAft>
              <a:buClr>
                <a:schemeClr val="lt1"/>
              </a:buClr>
              <a:buSzPts val="1400"/>
              <a:buFont typeface="Open Sans"/>
              <a:buChar char="■"/>
              <a:defRPr>
                <a:solidFill>
                  <a:schemeClr val="lt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hyperlink" Target="http://www.youtube.com/watch?v=7V2kRH0K8QU" TargetMode="External"/><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hyperlink" Target="http://www.youtube.com/watch?v=YbdkbCU20_M" TargetMode="External"/><Relationship Id="rId5"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1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www.youtube.com/watch?v=78YEo1BlhuM" TargetMode="External"/><Relationship Id="rId4" Type="http://schemas.openxmlformats.org/officeDocument/2006/relationships/image" Target="../media/image2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www.youtube.com/watch?v=UZlmm-yzWrQ" TargetMode="External"/><Relationship Id="rId4" Type="http://schemas.openxmlformats.org/officeDocument/2006/relationships/image" Target="../media/image2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www.youtube.com/watch?v=zJNx1DDqIVo" TargetMode="External"/><Relationship Id="rId4" Type="http://schemas.openxmlformats.org/officeDocument/2006/relationships/image" Target="../media/image3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241408" y="1545450"/>
            <a:ext cx="8520600" cy="2052600"/>
          </a:xfrm>
          <a:prstGeom prst="rect">
            <a:avLst/>
          </a:prstGeom>
          <a:solidFill>
            <a:srgbClr val="000000">
              <a:alpha val="50940"/>
            </a:srgbClr>
          </a:solidFill>
        </p:spPr>
        <p:txBody>
          <a:bodyPr anchorCtr="0" anchor="ctr" bIns="91425" lIns="91425" spcFirstLastPara="1" rIns="91425" wrap="square" tIns="91425">
            <a:normAutofit/>
          </a:bodyPr>
          <a:lstStyle/>
          <a:p>
            <a:pPr indent="0" lvl="0" marL="0" rtl="0" algn="ctr">
              <a:spcBef>
                <a:spcPts val="0"/>
              </a:spcBef>
              <a:spcAft>
                <a:spcPts val="0"/>
              </a:spcAft>
              <a:buNone/>
            </a:pPr>
            <a:r>
              <a:rPr b="1" lang="en">
                <a:latin typeface="Oswald"/>
                <a:ea typeface="Oswald"/>
                <a:cs typeface="Oswald"/>
                <a:sym typeface="Oswald"/>
              </a:rPr>
              <a:t>Cellular Respiration</a:t>
            </a:r>
            <a:endParaRPr b="1">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Cellular Respiration Overview</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u="sng">
                <a:solidFill>
                  <a:srgbClr val="F1C232"/>
                </a:solidFill>
              </a:rPr>
              <a:t>Goal</a:t>
            </a:r>
            <a:r>
              <a:rPr lang="en"/>
              <a:t>: to make energy in the form of ATP</a:t>
            </a:r>
            <a:endParaRPr/>
          </a:p>
          <a:p>
            <a:pPr indent="-317500" lvl="1" marL="914400" rtl="0" algn="l">
              <a:spcBef>
                <a:spcPts val="0"/>
              </a:spcBef>
              <a:spcAft>
                <a:spcPts val="0"/>
              </a:spcAft>
              <a:buSzPts val="1400"/>
              <a:buChar char="○"/>
            </a:pPr>
            <a:r>
              <a:rPr lang="en"/>
              <a:t>Energy in carbs (glucose) are converted and stored in ATP</a:t>
            </a:r>
            <a:endParaRPr/>
          </a:p>
          <a:p>
            <a:pPr indent="-342900" lvl="0" marL="457200" rtl="0" algn="l">
              <a:spcBef>
                <a:spcPts val="0"/>
              </a:spcBef>
              <a:spcAft>
                <a:spcPts val="0"/>
              </a:spcAft>
              <a:buSzPts val="1800"/>
              <a:buChar char="●"/>
            </a:pPr>
            <a:r>
              <a:rPr lang="en"/>
              <a:t>Carbohydrates are used first as a source of energy, but any food can be broken down as  a source of energy </a:t>
            </a:r>
            <a:endParaRPr/>
          </a:p>
          <a:p>
            <a:pPr indent="-342900" lvl="0" marL="457200" rtl="0" algn="l">
              <a:spcBef>
                <a:spcPts val="0"/>
              </a:spcBef>
              <a:spcAft>
                <a:spcPts val="0"/>
              </a:spcAft>
              <a:buSzPts val="1800"/>
              <a:buChar char="●"/>
            </a:pPr>
            <a:r>
              <a:rPr b="1" lang="en">
                <a:solidFill>
                  <a:srgbClr val="D7537B"/>
                </a:solidFill>
              </a:rPr>
              <a:t>Reactants</a:t>
            </a:r>
            <a:r>
              <a:rPr lang="en">
                <a:solidFill>
                  <a:srgbClr val="D7537B"/>
                </a:solidFill>
              </a:rPr>
              <a:t>:</a:t>
            </a:r>
            <a:r>
              <a:rPr lang="en"/>
              <a:t> Glucose and Oxygen</a:t>
            </a:r>
            <a:endParaRPr/>
          </a:p>
          <a:p>
            <a:pPr indent="-342900" lvl="0" marL="457200" rtl="0" algn="l">
              <a:spcBef>
                <a:spcPts val="0"/>
              </a:spcBef>
              <a:spcAft>
                <a:spcPts val="0"/>
              </a:spcAft>
              <a:buSzPts val="1800"/>
              <a:buChar char="●"/>
            </a:pPr>
            <a:r>
              <a:rPr b="1" lang="en">
                <a:solidFill>
                  <a:srgbClr val="D7537B"/>
                </a:solidFill>
              </a:rPr>
              <a:t>Products</a:t>
            </a:r>
            <a:r>
              <a:rPr lang="en"/>
              <a:t>: Carbon Dioxide and Water</a:t>
            </a:r>
            <a:endParaRPr/>
          </a:p>
        </p:txBody>
      </p:sp>
      <p:pic>
        <p:nvPicPr>
          <p:cNvPr id="61" name="Google Shape;61;p14"/>
          <p:cNvPicPr preferRelativeResize="0"/>
          <p:nvPr/>
        </p:nvPicPr>
        <p:blipFill rotWithShape="1">
          <a:blip r:embed="rId3">
            <a:alphaModFix/>
          </a:blip>
          <a:srcRect b="0" l="5319" r="17258" t="0"/>
          <a:stretch/>
        </p:blipFill>
        <p:spPr>
          <a:xfrm>
            <a:off x="2750400" y="3385325"/>
            <a:ext cx="3643201" cy="1514475"/>
          </a:xfrm>
          <a:prstGeom prst="rect">
            <a:avLst/>
          </a:prstGeom>
          <a:noFill/>
          <a:ln>
            <a:noFill/>
          </a:ln>
        </p:spPr>
      </p:pic>
      <p:sp>
        <p:nvSpPr>
          <p:cNvPr id="62" name="Google Shape;62;p14"/>
          <p:cNvSpPr txBox="1"/>
          <p:nvPr/>
        </p:nvSpPr>
        <p:spPr>
          <a:xfrm>
            <a:off x="7063200" y="3484800"/>
            <a:ext cx="1512000" cy="92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6"/>
                </a:solidFill>
                <a:latin typeface="Open Sans"/>
                <a:ea typeface="Open Sans"/>
                <a:cs typeface="Open Sans"/>
                <a:sym typeface="Open Sans"/>
              </a:rPr>
              <a:t>Note:</a:t>
            </a:r>
            <a:r>
              <a:rPr lang="en">
                <a:solidFill>
                  <a:schemeClr val="lt1"/>
                </a:solidFill>
                <a:latin typeface="Open Sans"/>
                <a:ea typeface="Open Sans"/>
                <a:cs typeface="Open Sans"/>
                <a:sym typeface="Open Sans"/>
              </a:rPr>
              <a:t> Energy is released in the form of ATP but is usually </a:t>
            </a:r>
            <a:r>
              <a:rPr b="1" lang="en">
                <a:solidFill>
                  <a:schemeClr val="lt1"/>
                </a:solidFill>
                <a:latin typeface="Open Sans"/>
                <a:ea typeface="Open Sans"/>
                <a:cs typeface="Open Sans"/>
                <a:sym typeface="Open Sans"/>
              </a:rPr>
              <a:t>NOT </a:t>
            </a:r>
            <a:r>
              <a:rPr lang="en">
                <a:solidFill>
                  <a:schemeClr val="lt1"/>
                </a:solidFill>
                <a:latin typeface="Open Sans"/>
                <a:ea typeface="Open Sans"/>
                <a:cs typeface="Open Sans"/>
                <a:sym typeface="Open Sans"/>
              </a:rPr>
              <a:t>considered a product!</a:t>
            </a:r>
            <a:endParaRPr>
              <a:solidFill>
                <a:schemeClr val="lt1"/>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279900" y="367200"/>
            <a:ext cx="4045200" cy="76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580"/>
              <a:t>Mitochondria Structures</a:t>
            </a:r>
            <a:endParaRPr sz="3780"/>
          </a:p>
        </p:txBody>
      </p:sp>
      <p:pic>
        <p:nvPicPr>
          <p:cNvPr descr="Mitochondria: Form, function, and disease" id="68" name="Google Shape;68;p15"/>
          <p:cNvPicPr preferRelativeResize="0"/>
          <p:nvPr/>
        </p:nvPicPr>
        <p:blipFill rotWithShape="1">
          <a:blip r:embed="rId3">
            <a:alphaModFix/>
          </a:blip>
          <a:srcRect b="0" l="0" r="0" t="0"/>
          <a:stretch/>
        </p:blipFill>
        <p:spPr>
          <a:xfrm>
            <a:off x="4783675" y="1020152"/>
            <a:ext cx="4096800" cy="3103200"/>
          </a:xfrm>
          <a:prstGeom prst="round2DiagRect">
            <a:avLst>
              <a:gd fmla="val 5608" name="adj1"/>
              <a:gd fmla="val 0" name="adj2"/>
            </a:avLst>
          </a:prstGeom>
          <a:noFill/>
          <a:ln cap="sq" cmpd="sng" w="19050">
            <a:solidFill>
              <a:srgbClr val="B0BFC7">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sp>
        <p:nvSpPr>
          <p:cNvPr id="69" name="Google Shape;69;p15"/>
          <p:cNvSpPr txBox="1"/>
          <p:nvPr/>
        </p:nvSpPr>
        <p:spPr>
          <a:xfrm>
            <a:off x="403200" y="1137600"/>
            <a:ext cx="3880800" cy="3729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Open Sans"/>
              <a:buChar char="●"/>
            </a:pPr>
            <a:r>
              <a:rPr lang="en">
                <a:solidFill>
                  <a:schemeClr val="lt1"/>
                </a:solidFill>
                <a:latin typeface="Open Sans"/>
                <a:ea typeface="Open Sans"/>
                <a:cs typeface="Open Sans"/>
                <a:sym typeface="Open Sans"/>
              </a:rPr>
              <a:t>Double membranes: outer and inner </a:t>
            </a:r>
            <a:endParaRPr>
              <a:solidFill>
                <a:schemeClr val="lt1"/>
              </a:solidFill>
              <a:latin typeface="Open Sans"/>
              <a:ea typeface="Open Sans"/>
              <a:cs typeface="Open Sans"/>
              <a:sym typeface="Open Sans"/>
            </a:endParaRPr>
          </a:p>
          <a:p>
            <a:pPr indent="-317500" lvl="0" marL="457200" rtl="0" algn="l">
              <a:spcBef>
                <a:spcPts val="0"/>
              </a:spcBef>
              <a:spcAft>
                <a:spcPts val="0"/>
              </a:spcAft>
              <a:buClr>
                <a:schemeClr val="lt1"/>
              </a:buClr>
              <a:buSzPts val="1400"/>
              <a:buFont typeface="Open Sans"/>
              <a:buChar char="●"/>
            </a:pPr>
            <a:r>
              <a:rPr b="1" lang="en">
                <a:solidFill>
                  <a:srgbClr val="D7537B"/>
                </a:solidFill>
                <a:latin typeface="Open Sans"/>
                <a:ea typeface="Open Sans"/>
                <a:cs typeface="Open Sans"/>
                <a:sym typeface="Open Sans"/>
              </a:rPr>
              <a:t>Inner membrane</a:t>
            </a:r>
            <a:r>
              <a:rPr lang="en">
                <a:solidFill>
                  <a:schemeClr val="lt1"/>
                </a:solidFill>
                <a:latin typeface="Open Sans"/>
                <a:ea typeface="Open Sans"/>
                <a:cs typeface="Open Sans"/>
                <a:sym typeface="Open Sans"/>
              </a:rPr>
              <a:t>: folded membranes inside of the mitochondria</a:t>
            </a:r>
            <a:endParaRPr>
              <a:solidFill>
                <a:schemeClr val="lt1"/>
              </a:solidFill>
              <a:latin typeface="Open Sans"/>
              <a:ea typeface="Open Sans"/>
              <a:cs typeface="Open Sans"/>
              <a:sym typeface="Open Sans"/>
            </a:endParaRPr>
          </a:p>
          <a:p>
            <a:pPr indent="-317500" lvl="1" marL="914400" rtl="0" algn="l">
              <a:spcBef>
                <a:spcPts val="0"/>
              </a:spcBef>
              <a:spcAft>
                <a:spcPts val="0"/>
              </a:spcAft>
              <a:buClr>
                <a:schemeClr val="lt1"/>
              </a:buClr>
              <a:buSzPts val="1400"/>
              <a:buFont typeface="Open Sans"/>
              <a:buChar char="○"/>
            </a:pPr>
            <a:r>
              <a:rPr b="1" lang="en">
                <a:solidFill>
                  <a:srgbClr val="D7537B"/>
                </a:solidFill>
                <a:latin typeface="Open Sans"/>
                <a:ea typeface="Open Sans"/>
                <a:cs typeface="Open Sans"/>
                <a:sym typeface="Open Sans"/>
              </a:rPr>
              <a:t>Cristae</a:t>
            </a:r>
            <a:r>
              <a:rPr lang="en">
                <a:solidFill>
                  <a:schemeClr val="lt1"/>
                </a:solidFill>
                <a:latin typeface="Open Sans"/>
                <a:ea typeface="Open Sans"/>
                <a:cs typeface="Open Sans"/>
                <a:sym typeface="Open Sans"/>
              </a:rPr>
              <a:t>- inner membrane folds that increase surface area to increase ATP production</a:t>
            </a:r>
            <a:endParaRPr>
              <a:solidFill>
                <a:schemeClr val="lt1"/>
              </a:solidFill>
              <a:latin typeface="Open Sans"/>
              <a:ea typeface="Open Sans"/>
              <a:cs typeface="Open Sans"/>
              <a:sym typeface="Open Sans"/>
            </a:endParaRPr>
          </a:p>
          <a:p>
            <a:pPr indent="-317500" lvl="0" marL="457200" rtl="0" algn="l">
              <a:spcBef>
                <a:spcPts val="0"/>
              </a:spcBef>
              <a:spcAft>
                <a:spcPts val="0"/>
              </a:spcAft>
              <a:buClr>
                <a:schemeClr val="lt1"/>
              </a:buClr>
              <a:buSzPts val="1400"/>
              <a:buFont typeface="Open Sans"/>
              <a:buChar char="●"/>
            </a:pPr>
            <a:r>
              <a:rPr b="1" lang="en">
                <a:solidFill>
                  <a:srgbClr val="D7537B"/>
                </a:solidFill>
                <a:latin typeface="Open Sans"/>
                <a:ea typeface="Open Sans"/>
                <a:cs typeface="Open Sans"/>
                <a:sym typeface="Open Sans"/>
              </a:rPr>
              <a:t>Intermembrane space</a:t>
            </a:r>
            <a:r>
              <a:rPr b="1" lang="en">
                <a:solidFill>
                  <a:schemeClr val="lt1"/>
                </a:solidFill>
                <a:latin typeface="Open Sans"/>
                <a:ea typeface="Open Sans"/>
                <a:cs typeface="Open Sans"/>
                <a:sym typeface="Open Sans"/>
              </a:rPr>
              <a:t>:</a:t>
            </a:r>
            <a:r>
              <a:rPr lang="en">
                <a:solidFill>
                  <a:schemeClr val="lt1"/>
                </a:solidFill>
                <a:latin typeface="Open Sans"/>
                <a:ea typeface="Open Sans"/>
                <a:cs typeface="Open Sans"/>
                <a:sym typeface="Open Sans"/>
              </a:rPr>
              <a:t> fluid-filled space between membranes where H+ gradient builds</a:t>
            </a:r>
            <a:endParaRPr>
              <a:solidFill>
                <a:schemeClr val="lt1"/>
              </a:solidFill>
              <a:latin typeface="Open Sans"/>
              <a:ea typeface="Open Sans"/>
              <a:cs typeface="Open Sans"/>
              <a:sym typeface="Open Sans"/>
            </a:endParaRPr>
          </a:p>
          <a:p>
            <a:pPr indent="-317500" lvl="0" marL="457200" rtl="0" algn="l">
              <a:spcBef>
                <a:spcPts val="0"/>
              </a:spcBef>
              <a:spcAft>
                <a:spcPts val="0"/>
              </a:spcAft>
              <a:buClr>
                <a:schemeClr val="lt1"/>
              </a:buClr>
              <a:buSzPts val="1400"/>
              <a:buFont typeface="Open Sans"/>
              <a:buChar char="●"/>
            </a:pPr>
            <a:r>
              <a:rPr b="1" lang="en">
                <a:solidFill>
                  <a:srgbClr val="D7537B"/>
                </a:solidFill>
                <a:latin typeface="Open Sans"/>
                <a:ea typeface="Open Sans"/>
                <a:cs typeface="Open Sans"/>
                <a:sym typeface="Open Sans"/>
              </a:rPr>
              <a:t>Matrix</a:t>
            </a:r>
            <a:r>
              <a:rPr lang="en">
                <a:solidFill>
                  <a:schemeClr val="lt1"/>
                </a:solidFill>
                <a:latin typeface="Open Sans"/>
                <a:ea typeface="Open Sans"/>
                <a:cs typeface="Open Sans"/>
                <a:sym typeface="Open Sans"/>
              </a:rPr>
              <a:t>: fluid-like substance that fills the space</a:t>
            </a:r>
            <a:endParaRPr>
              <a:solidFill>
                <a:schemeClr val="lt1"/>
              </a:solidFill>
              <a:latin typeface="Open Sans"/>
              <a:ea typeface="Open Sans"/>
              <a:cs typeface="Open Sans"/>
              <a:sym typeface="Open Sans"/>
            </a:endParaRPr>
          </a:p>
          <a:p>
            <a:pPr indent="-317500" lvl="0" marL="457200" rtl="0" algn="l">
              <a:spcBef>
                <a:spcPts val="0"/>
              </a:spcBef>
              <a:spcAft>
                <a:spcPts val="0"/>
              </a:spcAft>
              <a:buClr>
                <a:schemeClr val="lt1"/>
              </a:buClr>
              <a:buSzPts val="1400"/>
              <a:buFont typeface="Open Sans"/>
              <a:buChar char="●"/>
            </a:pPr>
            <a:r>
              <a:rPr lang="en">
                <a:solidFill>
                  <a:schemeClr val="lt1"/>
                </a:solidFill>
                <a:latin typeface="Open Sans"/>
                <a:ea typeface="Open Sans"/>
                <a:cs typeface="Open Sans"/>
                <a:sym typeface="Open Sans"/>
              </a:rPr>
              <a:t>Contain their own DNA and Ribosomes!</a:t>
            </a:r>
            <a:endParaRPr>
              <a:solidFill>
                <a:schemeClr val="lt1"/>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294300" y="2124750"/>
            <a:ext cx="4045200" cy="89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Lipid Bilayers</a:t>
            </a:r>
            <a:endParaRPr/>
          </a:p>
        </p:txBody>
      </p:sp>
      <p:pic>
        <p:nvPicPr>
          <p:cNvPr descr="Mitochondrial phospholipids: role in mitochondrial function | SpringerLink" id="75" name="Google Shape;75;p16"/>
          <p:cNvPicPr preferRelativeResize="0"/>
          <p:nvPr/>
        </p:nvPicPr>
        <p:blipFill rotWithShape="1">
          <a:blip r:embed="rId3">
            <a:alphaModFix/>
          </a:blip>
          <a:srcRect b="0" l="0" r="0" t="0"/>
          <a:stretch/>
        </p:blipFill>
        <p:spPr>
          <a:xfrm>
            <a:off x="4707150" y="1005150"/>
            <a:ext cx="4149925" cy="3133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Cellular Respiration Overview</a:t>
            </a:r>
            <a:endParaRPr/>
          </a:p>
        </p:txBody>
      </p:sp>
      <p:sp>
        <p:nvSpPr>
          <p:cNvPr id="81" name="Google Shape;81;p17"/>
          <p:cNvSpPr txBox="1"/>
          <p:nvPr>
            <p:ph idx="1" type="body"/>
          </p:nvPr>
        </p:nvSpPr>
        <p:spPr>
          <a:xfrm>
            <a:off x="311700" y="1224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4 Metabolic Stages</a:t>
            </a:r>
            <a:endParaRPr/>
          </a:p>
          <a:p>
            <a:pPr indent="-342900" lvl="0" marL="457200" rtl="0" algn="l">
              <a:spcBef>
                <a:spcPts val="0"/>
              </a:spcBef>
              <a:spcAft>
                <a:spcPts val="0"/>
              </a:spcAft>
              <a:buClr>
                <a:schemeClr val="accent1"/>
              </a:buClr>
              <a:buSzPts val="1800"/>
              <a:buChar char="●"/>
            </a:pPr>
            <a:r>
              <a:rPr b="1" lang="en">
                <a:solidFill>
                  <a:schemeClr val="accent1"/>
                </a:solidFill>
              </a:rPr>
              <a:t>An</a:t>
            </a:r>
            <a:r>
              <a:rPr lang="en">
                <a:solidFill>
                  <a:schemeClr val="accent1"/>
                </a:solidFill>
              </a:rPr>
              <a:t>aerobic Respiration</a:t>
            </a:r>
            <a:endParaRPr>
              <a:solidFill>
                <a:schemeClr val="accent1"/>
              </a:solidFill>
            </a:endParaRPr>
          </a:p>
          <a:p>
            <a:pPr indent="-317500" lvl="1" marL="914400" rtl="0" algn="l">
              <a:spcBef>
                <a:spcPts val="0"/>
              </a:spcBef>
              <a:spcAft>
                <a:spcPts val="0"/>
              </a:spcAft>
              <a:buSzPts val="1400"/>
              <a:buChar char="○"/>
            </a:pPr>
            <a:r>
              <a:rPr lang="en"/>
              <a:t>Respiration without O2</a:t>
            </a:r>
            <a:endParaRPr/>
          </a:p>
          <a:p>
            <a:pPr indent="-317500" lvl="1" marL="914400" rtl="0" algn="l">
              <a:spcBef>
                <a:spcPts val="0"/>
              </a:spcBef>
              <a:spcAft>
                <a:spcPts val="0"/>
              </a:spcAft>
              <a:buSzPts val="1400"/>
              <a:buChar char="○"/>
            </a:pPr>
            <a:r>
              <a:rPr lang="en"/>
              <a:t>Occurs in Cytosol</a:t>
            </a:r>
            <a:endParaRPr/>
          </a:p>
          <a:p>
            <a:pPr indent="-342900" lvl="0" marL="457200" rtl="0" algn="l">
              <a:spcBef>
                <a:spcPts val="0"/>
              </a:spcBef>
              <a:spcAft>
                <a:spcPts val="0"/>
              </a:spcAft>
              <a:buClr>
                <a:schemeClr val="accent1"/>
              </a:buClr>
              <a:buSzPts val="1800"/>
              <a:buChar char="●"/>
            </a:pPr>
            <a:r>
              <a:rPr lang="en">
                <a:solidFill>
                  <a:schemeClr val="accent1"/>
                </a:solidFill>
              </a:rPr>
              <a:t>Aerobic respiration</a:t>
            </a:r>
            <a:endParaRPr>
              <a:solidFill>
                <a:schemeClr val="accent1"/>
              </a:solidFill>
            </a:endParaRPr>
          </a:p>
          <a:p>
            <a:pPr indent="-317500" lvl="1" marL="914400" rtl="0" algn="l">
              <a:spcBef>
                <a:spcPts val="0"/>
              </a:spcBef>
              <a:spcAft>
                <a:spcPts val="0"/>
              </a:spcAft>
              <a:buSzPts val="1400"/>
              <a:buChar char="○"/>
            </a:pPr>
            <a:r>
              <a:rPr lang="en"/>
              <a:t>Respiration with O2</a:t>
            </a:r>
            <a:endParaRPr/>
          </a:p>
          <a:p>
            <a:pPr indent="-317500" lvl="1" marL="914400" rtl="0" algn="l">
              <a:spcBef>
                <a:spcPts val="0"/>
              </a:spcBef>
              <a:spcAft>
                <a:spcPts val="0"/>
              </a:spcAft>
              <a:buSzPts val="1400"/>
              <a:buChar char="○"/>
            </a:pPr>
            <a:r>
              <a:rPr lang="en"/>
              <a:t>Occurs in mitochondria</a:t>
            </a:r>
            <a:endParaRPr/>
          </a:p>
          <a:p>
            <a:pPr indent="0" lvl="0" marL="0" rtl="0" algn="l">
              <a:spcBef>
                <a:spcPts val="1200"/>
              </a:spcBef>
              <a:spcAft>
                <a:spcPts val="1200"/>
              </a:spcAft>
              <a:buNone/>
            </a:pPr>
            <a:r>
              <a:t/>
            </a:r>
            <a:endParaRPr/>
          </a:p>
        </p:txBody>
      </p:sp>
      <p:sp>
        <p:nvSpPr>
          <p:cNvPr id="82" name="Google Shape;82;p17"/>
          <p:cNvSpPr txBox="1"/>
          <p:nvPr/>
        </p:nvSpPr>
        <p:spPr>
          <a:xfrm>
            <a:off x="4867200" y="1152475"/>
            <a:ext cx="3376800" cy="2685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Open Sans"/>
              <a:buAutoNum type="arabicPeriod"/>
            </a:pPr>
            <a:r>
              <a:rPr lang="en" sz="1800">
                <a:solidFill>
                  <a:schemeClr val="lt1"/>
                </a:solidFill>
                <a:latin typeface="Open Sans"/>
                <a:ea typeface="Open Sans"/>
                <a:cs typeface="Open Sans"/>
                <a:sym typeface="Open Sans"/>
              </a:rPr>
              <a:t>Glycolysis </a:t>
            </a:r>
            <a:endParaRPr sz="1800">
              <a:solidFill>
                <a:schemeClr val="lt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lt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lt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lt1"/>
              </a:solidFill>
              <a:latin typeface="Open Sans"/>
              <a:ea typeface="Open Sans"/>
              <a:cs typeface="Open Sans"/>
              <a:sym typeface="Open Sans"/>
            </a:endParaRPr>
          </a:p>
          <a:p>
            <a:pPr indent="-342900" lvl="0" marL="457200" rtl="0" algn="l">
              <a:spcBef>
                <a:spcPts val="0"/>
              </a:spcBef>
              <a:spcAft>
                <a:spcPts val="0"/>
              </a:spcAft>
              <a:buClr>
                <a:schemeClr val="lt1"/>
              </a:buClr>
              <a:buSzPts val="1800"/>
              <a:buFont typeface="Open Sans"/>
              <a:buAutoNum type="arabicPeriod"/>
            </a:pPr>
            <a:r>
              <a:rPr lang="en" sz="1800">
                <a:solidFill>
                  <a:schemeClr val="lt1"/>
                </a:solidFill>
                <a:latin typeface="Open Sans"/>
                <a:ea typeface="Open Sans"/>
                <a:cs typeface="Open Sans"/>
                <a:sym typeface="Open Sans"/>
              </a:rPr>
              <a:t>Pyruvate Oxidation </a:t>
            </a:r>
            <a:endParaRPr sz="1800">
              <a:solidFill>
                <a:schemeClr val="lt1"/>
              </a:solidFill>
              <a:latin typeface="Open Sans"/>
              <a:ea typeface="Open Sans"/>
              <a:cs typeface="Open Sans"/>
              <a:sym typeface="Open Sans"/>
            </a:endParaRPr>
          </a:p>
          <a:p>
            <a:pPr indent="-342900" lvl="0" marL="457200" rtl="0" algn="l">
              <a:spcBef>
                <a:spcPts val="0"/>
              </a:spcBef>
              <a:spcAft>
                <a:spcPts val="0"/>
              </a:spcAft>
              <a:buClr>
                <a:schemeClr val="lt1"/>
              </a:buClr>
              <a:buSzPts val="1800"/>
              <a:buFont typeface="Open Sans"/>
              <a:buAutoNum type="arabicPeriod"/>
            </a:pPr>
            <a:r>
              <a:rPr lang="en" sz="1800">
                <a:solidFill>
                  <a:schemeClr val="lt1"/>
                </a:solidFill>
                <a:latin typeface="Open Sans"/>
                <a:ea typeface="Open Sans"/>
                <a:cs typeface="Open Sans"/>
                <a:sym typeface="Open Sans"/>
              </a:rPr>
              <a:t>Krebs Cycle </a:t>
            </a:r>
            <a:endParaRPr sz="1800">
              <a:solidFill>
                <a:schemeClr val="lt1"/>
              </a:solidFill>
              <a:latin typeface="Open Sans"/>
              <a:ea typeface="Open Sans"/>
              <a:cs typeface="Open Sans"/>
              <a:sym typeface="Open Sans"/>
            </a:endParaRPr>
          </a:p>
          <a:p>
            <a:pPr indent="-342900" lvl="0" marL="457200" rtl="0" algn="l">
              <a:spcBef>
                <a:spcPts val="0"/>
              </a:spcBef>
              <a:spcAft>
                <a:spcPts val="0"/>
              </a:spcAft>
              <a:buClr>
                <a:schemeClr val="lt1"/>
              </a:buClr>
              <a:buSzPts val="1800"/>
              <a:buFont typeface="Open Sans"/>
              <a:buAutoNum type="arabicPeriod"/>
            </a:pPr>
            <a:r>
              <a:rPr lang="en" sz="1800">
                <a:solidFill>
                  <a:schemeClr val="lt1"/>
                </a:solidFill>
                <a:latin typeface="Open Sans"/>
                <a:ea typeface="Open Sans"/>
                <a:cs typeface="Open Sans"/>
                <a:sym typeface="Open Sans"/>
              </a:rPr>
              <a:t>Electron Transport Chain</a:t>
            </a:r>
            <a:endParaRPr sz="1800">
              <a:solidFill>
                <a:schemeClr val="lt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lt1"/>
              </a:solidFill>
              <a:latin typeface="Open Sans"/>
              <a:ea typeface="Open Sans"/>
              <a:cs typeface="Open Sans"/>
              <a:sym typeface="Open Sans"/>
            </a:endParaRPr>
          </a:p>
        </p:txBody>
      </p:sp>
      <p:sp>
        <p:nvSpPr>
          <p:cNvPr id="83" name="Google Shape;83;p17"/>
          <p:cNvSpPr/>
          <p:nvPr/>
        </p:nvSpPr>
        <p:spPr>
          <a:xfrm>
            <a:off x="4572010" y="1052876"/>
            <a:ext cx="396000" cy="649500"/>
          </a:xfrm>
          <a:prstGeom prst="leftBracket">
            <a:avLst>
              <a:gd fmla="val 8333" name="adj"/>
            </a:avLst>
          </a:prstGeom>
          <a:noFill/>
          <a:ln cap="flat" cmpd="sng" w="38100">
            <a:solidFill>
              <a:srgbClr val="D7537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wentieth Century"/>
              <a:ea typeface="Twentieth Century"/>
              <a:cs typeface="Twentieth Century"/>
              <a:sym typeface="Twentieth Century"/>
            </a:endParaRPr>
          </a:p>
        </p:txBody>
      </p:sp>
      <p:cxnSp>
        <p:nvCxnSpPr>
          <p:cNvPr id="84" name="Google Shape;84;p17"/>
          <p:cNvCxnSpPr/>
          <p:nvPr/>
        </p:nvCxnSpPr>
        <p:spPr>
          <a:xfrm flipH="1" rot="10800000">
            <a:off x="3319200" y="1411200"/>
            <a:ext cx="1245600" cy="381600"/>
          </a:xfrm>
          <a:prstGeom prst="straightConnector1">
            <a:avLst/>
          </a:prstGeom>
          <a:noFill/>
          <a:ln cap="flat" cmpd="sng" w="38100">
            <a:solidFill>
              <a:srgbClr val="D7537B"/>
            </a:solidFill>
            <a:prstDash val="solid"/>
            <a:round/>
            <a:headEnd len="sm" w="sm" type="none"/>
            <a:tailEnd len="sm" w="sm" type="none"/>
          </a:ln>
        </p:spPr>
      </p:cxnSp>
      <p:cxnSp>
        <p:nvCxnSpPr>
          <p:cNvPr id="85" name="Google Shape;85;p17"/>
          <p:cNvCxnSpPr>
            <a:endCxn id="86" idx="1"/>
          </p:cNvCxnSpPr>
          <p:nvPr/>
        </p:nvCxnSpPr>
        <p:spPr>
          <a:xfrm>
            <a:off x="3024000" y="2627999"/>
            <a:ext cx="1483200" cy="196200"/>
          </a:xfrm>
          <a:prstGeom prst="straightConnector1">
            <a:avLst/>
          </a:prstGeom>
          <a:noFill/>
          <a:ln cap="flat" cmpd="sng" w="38100">
            <a:solidFill>
              <a:srgbClr val="D7537B"/>
            </a:solidFill>
            <a:prstDash val="solid"/>
            <a:round/>
            <a:headEnd len="sm" w="sm" type="none"/>
            <a:tailEnd len="sm" w="sm" type="none"/>
          </a:ln>
        </p:spPr>
      </p:cxnSp>
      <p:sp>
        <p:nvSpPr>
          <p:cNvPr id="86" name="Google Shape;86;p17"/>
          <p:cNvSpPr/>
          <p:nvPr/>
        </p:nvSpPr>
        <p:spPr>
          <a:xfrm>
            <a:off x="4507200" y="2249999"/>
            <a:ext cx="396000" cy="1148400"/>
          </a:xfrm>
          <a:prstGeom prst="leftBracket">
            <a:avLst>
              <a:gd fmla="val 8333" name="adj"/>
            </a:avLst>
          </a:prstGeom>
          <a:noFill/>
          <a:ln cap="flat" cmpd="sng" w="38100">
            <a:solidFill>
              <a:srgbClr val="D7537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wentieth Century"/>
              <a:ea typeface="Twentieth Century"/>
              <a:cs typeface="Twentieth Century"/>
              <a:sym typeface="Twentieth Centur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504650" y="450150"/>
            <a:ext cx="2944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600"/>
              <a:t>Overview of Cellular Respiration</a:t>
            </a:r>
            <a:endParaRPr sz="3600"/>
          </a:p>
        </p:txBody>
      </p:sp>
      <p:pic>
        <p:nvPicPr>
          <p:cNvPr descr="Image result for cellular respiration diagram" id="92" name="Google Shape;92;p18"/>
          <p:cNvPicPr preferRelativeResize="0"/>
          <p:nvPr/>
        </p:nvPicPr>
        <p:blipFill rotWithShape="1">
          <a:blip r:embed="rId3">
            <a:alphaModFix/>
          </a:blip>
          <a:srcRect b="0" l="0" r="0" t="0"/>
          <a:stretch/>
        </p:blipFill>
        <p:spPr>
          <a:xfrm>
            <a:off x="3708400" y="833475"/>
            <a:ext cx="5075050" cy="3324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Cellular Respiration Overview</a:t>
            </a:r>
            <a:endParaRPr/>
          </a:p>
          <a:p>
            <a:pPr indent="0" lvl="0" marL="0" rtl="0" algn="l">
              <a:spcBef>
                <a:spcPts val="0"/>
              </a:spcBef>
              <a:spcAft>
                <a:spcPts val="0"/>
              </a:spcAft>
              <a:buNone/>
            </a:pPr>
            <a:r>
              <a:t/>
            </a:r>
            <a:endParaRPr/>
          </a:p>
        </p:txBody>
      </p:sp>
      <p:sp>
        <p:nvSpPr>
          <p:cNvPr id="98" name="Google Shape;98;p19"/>
          <p:cNvSpPr txBox="1"/>
          <p:nvPr>
            <p:ph idx="1" type="body"/>
          </p:nvPr>
        </p:nvSpPr>
        <p:spPr>
          <a:xfrm>
            <a:off x="311700" y="1152475"/>
            <a:ext cx="53475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Gradual </a:t>
            </a:r>
            <a:r>
              <a:rPr b="1" lang="en" u="sng"/>
              <a:t>oxidation</a:t>
            </a:r>
            <a:r>
              <a:rPr lang="en"/>
              <a:t> of glucose releases the energy to make ATP at each step</a:t>
            </a:r>
            <a:endParaRPr/>
          </a:p>
          <a:p>
            <a:pPr indent="-342900" lvl="0" marL="457200" rtl="0" algn="l">
              <a:spcBef>
                <a:spcPts val="0"/>
              </a:spcBef>
              <a:spcAft>
                <a:spcPts val="0"/>
              </a:spcAft>
              <a:buSzPts val="1800"/>
              <a:buChar char="●"/>
            </a:pPr>
            <a:r>
              <a:rPr lang="en"/>
              <a:t>Electrons and hydrogens are carried down to the last step of aerobic respiration </a:t>
            </a:r>
            <a:r>
              <a:rPr b="1" lang="en">
                <a:solidFill>
                  <a:srgbClr val="D7537B"/>
                </a:solidFill>
              </a:rPr>
              <a:t>(Electron Transport Chain)</a:t>
            </a:r>
            <a:endParaRPr b="1">
              <a:solidFill>
                <a:srgbClr val="D7537B"/>
              </a:solidFill>
            </a:endParaRPr>
          </a:p>
          <a:p>
            <a:pPr indent="-342900" lvl="0" marL="457200" rtl="0" algn="l">
              <a:spcBef>
                <a:spcPts val="0"/>
              </a:spcBef>
              <a:spcAft>
                <a:spcPts val="0"/>
              </a:spcAft>
              <a:buSzPts val="1800"/>
              <a:buChar char="●"/>
            </a:pPr>
            <a:r>
              <a:rPr b="1" lang="en">
                <a:solidFill>
                  <a:srgbClr val="00FF00"/>
                </a:solidFill>
              </a:rPr>
              <a:t>NAD+ and FAD</a:t>
            </a:r>
            <a:r>
              <a:rPr lang="en"/>
              <a:t> are coenzymes that act as electron carriers for the cell and shuttle electrons to the ETC. </a:t>
            </a:r>
            <a:endParaRPr/>
          </a:p>
          <a:p>
            <a:pPr indent="-317500" lvl="1" marL="914400" rtl="0" algn="l">
              <a:spcBef>
                <a:spcPts val="0"/>
              </a:spcBef>
              <a:spcAft>
                <a:spcPts val="0"/>
              </a:spcAft>
              <a:buSzPts val="1400"/>
              <a:buChar char="○"/>
            </a:pPr>
            <a:r>
              <a:rPr lang="en"/>
              <a:t>NAD+ </a:t>
            </a:r>
            <a:r>
              <a:rPr lang="en"/>
              <a:t>is</a:t>
            </a:r>
            <a:r>
              <a:rPr lang="en"/>
              <a:t> </a:t>
            </a:r>
            <a:r>
              <a:rPr b="1" lang="en"/>
              <a:t>reduced</a:t>
            </a:r>
            <a:r>
              <a:rPr lang="en"/>
              <a:t> into NADH and FAD is </a:t>
            </a:r>
            <a:r>
              <a:rPr b="1" lang="en"/>
              <a:t>reduced</a:t>
            </a:r>
            <a:r>
              <a:rPr lang="en"/>
              <a:t> into FADH</a:t>
            </a:r>
            <a:r>
              <a:rPr baseline="-25000" lang="en"/>
              <a:t>2</a:t>
            </a:r>
            <a:endParaRPr baseline="-25000"/>
          </a:p>
        </p:txBody>
      </p:sp>
      <p:pic>
        <p:nvPicPr>
          <p:cNvPr id="99" name="Google Shape;99;p19"/>
          <p:cNvPicPr preferRelativeResize="0"/>
          <p:nvPr/>
        </p:nvPicPr>
        <p:blipFill rotWithShape="1">
          <a:blip r:embed="rId3">
            <a:alphaModFix/>
          </a:blip>
          <a:srcRect b="0" l="0" r="0" t="0"/>
          <a:stretch/>
        </p:blipFill>
        <p:spPr>
          <a:xfrm>
            <a:off x="5659200" y="1396925"/>
            <a:ext cx="3108300" cy="2168100"/>
          </a:xfrm>
          <a:prstGeom prst="round2DiagRect">
            <a:avLst>
              <a:gd fmla="val 5608" name="adj1"/>
              <a:gd fmla="val 0" name="adj2"/>
            </a:avLst>
          </a:prstGeom>
          <a:noFill/>
          <a:ln cap="sq" cmpd="sng" w="19050">
            <a:solidFill>
              <a:srgbClr val="B0BFC7">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490250" y="450150"/>
            <a:ext cx="40515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latin typeface="Oswald"/>
                <a:ea typeface="Oswald"/>
                <a:cs typeface="Oswald"/>
                <a:sym typeface="Oswald"/>
              </a:rPr>
              <a:t>Step 1: Glycolysis</a:t>
            </a:r>
            <a:endParaRPr b="1">
              <a:latin typeface="Oswald"/>
              <a:ea typeface="Oswald"/>
              <a:cs typeface="Oswald"/>
              <a:sym typeface="Oswald"/>
            </a:endParaRPr>
          </a:p>
        </p:txBody>
      </p:sp>
      <p:pic>
        <p:nvPicPr>
          <p:cNvPr descr="Image result for cellular respiration diagram" id="105" name="Google Shape;105;p20"/>
          <p:cNvPicPr preferRelativeResize="0"/>
          <p:nvPr/>
        </p:nvPicPr>
        <p:blipFill rotWithShape="1">
          <a:blip r:embed="rId3">
            <a:alphaModFix/>
          </a:blip>
          <a:srcRect b="0" l="0" r="0" t="40"/>
          <a:stretch/>
        </p:blipFill>
        <p:spPr>
          <a:xfrm>
            <a:off x="4180050" y="1339600"/>
            <a:ext cx="4733100" cy="3099000"/>
          </a:xfrm>
          <a:prstGeom prst="round2DiagRect">
            <a:avLst>
              <a:gd fmla="val 4860" name="adj1"/>
              <a:gd fmla="val 0" name="adj2"/>
            </a:avLst>
          </a:prstGeom>
          <a:noFill/>
          <a:ln cap="sq" cmpd="sng" w="19050">
            <a:solidFill>
              <a:srgbClr val="B0BFC7">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sp>
        <p:nvSpPr>
          <p:cNvPr id="106" name="Google Shape;106;p20"/>
          <p:cNvSpPr/>
          <p:nvPr/>
        </p:nvSpPr>
        <p:spPr>
          <a:xfrm>
            <a:off x="4283850" y="1389750"/>
            <a:ext cx="1260900" cy="2994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Glycolysis Overview</a:t>
            </a:r>
            <a:endParaRPr/>
          </a:p>
        </p:txBody>
      </p:sp>
      <p:sp>
        <p:nvSpPr>
          <p:cNvPr id="112" name="Google Shape;112;p21"/>
          <p:cNvSpPr txBox="1"/>
          <p:nvPr>
            <p:ph idx="1" type="body"/>
          </p:nvPr>
        </p:nvSpPr>
        <p:spPr>
          <a:xfrm>
            <a:off x="311700" y="1067375"/>
            <a:ext cx="4065300" cy="382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solidFill>
                  <a:schemeClr val="accent1"/>
                </a:solidFill>
              </a:rPr>
              <a:t>Glyco</a:t>
            </a:r>
            <a:r>
              <a:rPr lang="en">
                <a:solidFill>
                  <a:srgbClr val="D7537B"/>
                </a:solidFill>
              </a:rPr>
              <a:t>lysis</a:t>
            </a:r>
            <a:r>
              <a:rPr lang="en"/>
              <a:t>: </a:t>
            </a:r>
            <a:r>
              <a:rPr lang="en">
                <a:solidFill>
                  <a:srgbClr val="D7537B"/>
                </a:solidFill>
              </a:rPr>
              <a:t>breaking down</a:t>
            </a:r>
            <a:r>
              <a:rPr lang="en"/>
              <a:t> </a:t>
            </a:r>
            <a:r>
              <a:rPr lang="en">
                <a:solidFill>
                  <a:schemeClr val="accent1"/>
                </a:solidFill>
              </a:rPr>
              <a:t>glucose</a:t>
            </a:r>
            <a:r>
              <a:rPr lang="en"/>
              <a:t> into two molecules of pyruvate</a:t>
            </a:r>
            <a:endParaRPr/>
          </a:p>
          <a:p>
            <a:pPr indent="-342900" lvl="0" marL="457200" rtl="0" algn="l">
              <a:spcBef>
                <a:spcPts val="0"/>
              </a:spcBef>
              <a:spcAft>
                <a:spcPts val="0"/>
              </a:spcAft>
              <a:buSzPts val="1800"/>
              <a:buChar char="●"/>
            </a:pPr>
            <a:r>
              <a:rPr lang="en"/>
              <a:t>Occurs in cytosol </a:t>
            </a:r>
            <a:endParaRPr/>
          </a:p>
          <a:p>
            <a:pPr indent="-342900" lvl="0" marL="457200" rtl="0" algn="l">
              <a:spcBef>
                <a:spcPts val="0"/>
              </a:spcBef>
              <a:spcAft>
                <a:spcPts val="0"/>
              </a:spcAft>
              <a:buSzPts val="1800"/>
              <a:buChar char="●"/>
            </a:pPr>
            <a:r>
              <a:rPr b="1" lang="en"/>
              <a:t>An</a:t>
            </a:r>
            <a:r>
              <a:rPr lang="en"/>
              <a:t>aerobic- occurs without oxygen</a:t>
            </a:r>
            <a:endParaRPr/>
          </a:p>
          <a:p>
            <a:pPr indent="-342900" lvl="0" marL="457200" rtl="0" algn="l">
              <a:spcBef>
                <a:spcPts val="0"/>
              </a:spcBef>
              <a:spcAft>
                <a:spcPts val="0"/>
              </a:spcAft>
              <a:buSzPts val="1800"/>
              <a:buChar char="●"/>
            </a:pPr>
            <a:r>
              <a:rPr lang="en"/>
              <a:t>Inefficient: generates only 2 ATP per 1 glucose</a:t>
            </a:r>
            <a:endParaRPr/>
          </a:p>
          <a:p>
            <a:pPr indent="-342900" lvl="0" marL="457200" rtl="0" algn="l">
              <a:spcBef>
                <a:spcPts val="0"/>
              </a:spcBef>
              <a:spcAft>
                <a:spcPts val="0"/>
              </a:spcAft>
              <a:buSzPts val="1800"/>
              <a:buChar char="●"/>
            </a:pPr>
            <a:r>
              <a:rPr lang="en"/>
              <a:t> </a:t>
            </a:r>
            <a:r>
              <a:rPr lang="en"/>
              <a:t>10 step process catalyzed by enzymes</a:t>
            </a:r>
            <a:endParaRPr/>
          </a:p>
          <a:p>
            <a:pPr indent="0" lvl="0" marL="0" rtl="0" algn="l">
              <a:spcBef>
                <a:spcPts val="1200"/>
              </a:spcBef>
              <a:spcAft>
                <a:spcPts val="1200"/>
              </a:spcAft>
              <a:buNone/>
            </a:pPr>
            <a:r>
              <a:t/>
            </a:r>
            <a:endParaRPr/>
          </a:p>
        </p:txBody>
      </p:sp>
      <p:pic>
        <p:nvPicPr>
          <p:cNvPr descr="Sulli&amp;#39;s Biology: Ch 9 Respiration and Fermentation" id="113" name="Google Shape;113;p21"/>
          <p:cNvPicPr preferRelativeResize="0"/>
          <p:nvPr/>
        </p:nvPicPr>
        <p:blipFill rotWithShape="1">
          <a:blip r:embed="rId3">
            <a:alphaModFix/>
          </a:blip>
          <a:srcRect b="0" l="0" r="0" t="0"/>
          <a:stretch/>
        </p:blipFill>
        <p:spPr>
          <a:xfrm>
            <a:off x="5642802" y="300876"/>
            <a:ext cx="3189500" cy="44490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Evolutionary</a:t>
            </a:r>
            <a:r>
              <a:rPr lang="en"/>
              <a:t> Perspective- Why is it Anaerobic?</a:t>
            </a:r>
            <a:endParaRPr/>
          </a:p>
        </p:txBody>
      </p:sp>
      <p:sp>
        <p:nvSpPr>
          <p:cNvPr id="119" name="Google Shape;119;p22"/>
          <p:cNvSpPr txBox="1"/>
          <p:nvPr>
            <p:ph idx="1" type="body"/>
          </p:nvPr>
        </p:nvSpPr>
        <p:spPr>
          <a:xfrm>
            <a:off x="311700" y="1152475"/>
            <a:ext cx="4387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Prokaryotes were the first cells (our ancestors) and had no organelles</a:t>
            </a:r>
            <a:endParaRPr/>
          </a:p>
          <a:p>
            <a:pPr indent="-342900" lvl="0" marL="457200" rtl="0" algn="l">
              <a:spcBef>
                <a:spcPts val="0"/>
              </a:spcBef>
              <a:spcAft>
                <a:spcPts val="0"/>
              </a:spcAft>
              <a:buSzPts val="1800"/>
              <a:buChar char="●"/>
            </a:pPr>
            <a:r>
              <a:rPr lang="en"/>
              <a:t>Life first evolved </a:t>
            </a:r>
            <a:r>
              <a:rPr b="1" lang="en"/>
              <a:t>without</a:t>
            </a:r>
            <a:r>
              <a:rPr lang="en"/>
              <a:t> free Oxygen in the atmosphere </a:t>
            </a:r>
            <a:endParaRPr/>
          </a:p>
          <a:p>
            <a:pPr indent="-342900" lvl="0" marL="457200" rtl="0" algn="l">
              <a:spcBef>
                <a:spcPts val="0"/>
              </a:spcBef>
              <a:spcAft>
                <a:spcPts val="0"/>
              </a:spcAft>
              <a:buSzPts val="1800"/>
              <a:buChar char="●"/>
            </a:pPr>
            <a:r>
              <a:rPr lang="en"/>
              <a:t>Prokaryotes evolved glycolysis without mitochondria </a:t>
            </a:r>
            <a:endParaRPr/>
          </a:p>
          <a:p>
            <a:pPr indent="-342900" lvl="0" marL="457200" rtl="0" algn="l">
              <a:spcBef>
                <a:spcPts val="0"/>
              </a:spcBef>
              <a:spcAft>
                <a:spcPts val="0"/>
              </a:spcAft>
              <a:buClr>
                <a:schemeClr val="accent1"/>
              </a:buClr>
              <a:buSzPts val="1800"/>
              <a:buChar char="●"/>
            </a:pPr>
            <a:r>
              <a:rPr b="1" lang="en">
                <a:solidFill>
                  <a:schemeClr val="accent1"/>
                </a:solidFill>
              </a:rPr>
              <a:t>All cells use glycolysis!!</a:t>
            </a:r>
            <a:endParaRPr b="1">
              <a:solidFill>
                <a:schemeClr val="accent1"/>
              </a:solidFill>
            </a:endParaRPr>
          </a:p>
          <a:p>
            <a:pPr indent="0" lvl="0" marL="0" rtl="0" algn="l">
              <a:spcBef>
                <a:spcPts val="1200"/>
              </a:spcBef>
              <a:spcAft>
                <a:spcPts val="1200"/>
              </a:spcAft>
              <a:buNone/>
            </a:pPr>
            <a:r>
              <a:t/>
            </a:r>
            <a:endParaRPr/>
          </a:p>
        </p:txBody>
      </p:sp>
      <p:pic>
        <p:nvPicPr>
          <p:cNvPr descr="Ambiente: un &amp;#39;impermeabile&amp;#39; di batteri resistente all&amp;#39;acqua" id="120" name="Google Shape;120;p22"/>
          <p:cNvPicPr preferRelativeResize="0"/>
          <p:nvPr/>
        </p:nvPicPr>
        <p:blipFill rotWithShape="1">
          <a:blip r:embed="rId3">
            <a:alphaModFix/>
          </a:blip>
          <a:srcRect b="0" l="0" r="0" t="2277"/>
          <a:stretch/>
        </p:blipFill>
        <p:spPr>
          <a:xfrm>
            <a:off x="5258103" y="1433999"/>
            <a:ext cx="3475500" cy="2275500"/>
          </a:xfrm>
          <a:prstGeom prst="round2DiagRect">
            <a:avLst>
              <a:gd fmla="val 4860" name="adj1"/>
              <a:gd fmla="val 0" name="adj2"/>
            </a:avLst>
          </a:prstGeom>
          <a:noFill/>
          <a:ln cap="sq" cmpd="sng" w="19050">
            <a:solidFill>
              <a:srgbClr val="B0BFC7">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to Glycolysis</a:t>
            </a:r>
            <a:endParaRPr/>
          </a:p>
        </p:txBody>
      </p:sp>
      <p:sp>
        <p:nvSpPr>
          <p:cNvPr id="126" name="Google Shape;126;p23"/>
          <p:cNvSpPr txBox="1"/>
          <p:nvPr>
            <p:ph idx="1" type="body"/>
          </p:nvPr>
        </p:nvSpPr>
        <p:spPr>
          <a:xfrm>
            <a:off x="311700" y="1152475"/>
            <a:ext cx="51285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Two phosphate groups get added to glucose (a 6 carbon </a:t>
            </a:r>
            <a:r>
              <a:rPr lang="en"/>
              <a:t>molecule</a:t>
            </a:r>
            <a:r>
              <a:rPr lang="en"/>
              <a:t>) from 2 ATP molecules </a:t>
            </a:r>
            <a:endParaRPr/>
          </a:p>
          <a:p>
            <a:pPr indent="-342900" lvl="0" marL="457200" rtl="0" algn="l">
              <a:spcBef>
                <a:spcPts val="0"/>
              </a:spcBef>
              <a:spcAft>
                <a:spcPts val="0"/>
              </a:spcAft>
              <a:buSzPts val="1800"/>
              <a:buAutoNum type="arabicPeriod"/>
            </a:pPr>
            <a:r>
              <a:rPr lang="en"/>
              <a:t>The phosphate groups make glucose unstable and it </a:t>
            </a:r>
            <a:r>
              <a:rPr b="1" lang="en">
                <a:solidFill>
                  <a:srgbClr val="D7537B"/>
                </a:solidFill>
              </a:rPr>
              <a:t>breaks</a:t>
            </a:r>
            <a:r>
              <a:rPr lang="en"/>
              <a:t> into two 3-carbon molecules (G3P)</a:t>
            </a:r>
            <a:endParaRPr/>
          </a:p>
          <a:p>
            <a:pPr indent="-342900" lvl="0" marL="457200" rtl="0" algn="l">
              <a:spcBef>
                <a:spcPts val="0"/>
              </a:spcBef>
              <a:spcAft>
                <a:spcPts val="0"/>
              </a:spcAft>
              <a:buSzPts val="1800"/>
              <a:buAutoNum type="arabicPeriod"/>
            </a:pPr>
            <a:r>
              <a:rPr lang="en"/>
              <a:t>This 3 carbon molecule gets </a:t>
            </a:r>
            <a:r>
              <a:rPr b="1" lang="en">
                <a:solidFill>
                  <a:schemeClr val="accent1"/>
                </a:solidFill>
              </a:rPr>
              <a:t>oxidized</a:t>
            </a:r>
            <a:r>
              <a:rPr lang="en"/>
              <a:t> to make </a:t>
            </a:r>
            <a:r>
              <a:rPr lang="en"/>
              <a:t>2 NADH</a:t>
            </a:r>
            <a:r>
              <a:rPr lang="en"/>
              <a:t> and 2 </a:t>
            </a:r>
            <a:r>
              <a:rPr lang="en"/>
              <a:t>pyruvate</a:t>
            </a:r>
            <a:r>
              <a:rPr lang="en"/>
              <a:t> are created. (4 ATP total  </a:t>
            </a:r>
            <a:r>
              <a:rPr lang="en"/>
              <a:t>get</a:t>
            </a:r>
            <a:r>
              <a:rPr lang="en"/>
              <a:t> made in this process)</a:t>
            </a:r>
            <a:endParaRPr/>
          </a:p>
        </p:txBody>
      </p:sp>
      <p:pic>
        <p:nvPicPr>
          <p:cNvPr descr="Sulli&amp;#39;s Biology: Ch 9 Respiration and Fermentation" id="127" name="Google Shape;127;p23"/>
          <p:cNvPicPr preferRelativeResize="0"/>
          <p:nvPr/>
        </p:nvPicPr>
        <p:blipFill rotWithShape="1">
          <a:blip r:embed="rId3">
            <a:alphaModFix/>
          </a:blip>
          <a:srcRect b="0" l="0" r="0" t="0"/>
          <a:stretch/>
        </p:blipFill>
        <p:spPr>
          <a:xfrm>
            <a:off x="5642802" y="300876"/>
            <a:ext cx="3189500" cy="44490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descr="In this first video of our series on aerobic respiration, we will introduce respiration, learn about its first stage (glycolysis), and watch a demo showing the energy contained in sugar (it’s quite explosive…).  This goes along with the Respiration Interactive activity at BioMan Biology, so you might want to start there: https://biomanbio.com/HTML5GamesandLabs/PhotoRespgames/respiration-interactive-page.html &#10;&#10;Credits:  Music from https://www.bensound.com/" id="132" name="Google Shape;132;p24" title="Glycolysis (and Exploding Sugar Demo!)">
            <a:hlinkClick r:id="rId3"/>
          </p:cNvPr>
          <p:cNvPicPr preferRelativeResize="0"/>
          <p:nvPr/>
        </p:nvPicPr>
        <p:blipFill>
          <a:blip r:embed="rId4">
            <a:alphaModFix/>
          </a:blip>
          <a:stretch>
            <a:fillRect/>
          </a:stretch>
        </p:blipFill>
        <p:spPr>
          <a:xfrm>
            <a:off x="1047038" y="866125"/>
            <a:ext cx="7049925" cy="3965575"/>
          </a:xfrm>
          <a:prstGeom prst="rect">
            <a:avLst/>
          </a:prstGeom>
          <a:noFill/>
          <a:ln>
            <a:noFill/>
          </a:ln>
        </p:spPr>
      </p:pic>
      <p:sp>
        <p:nvSpPr>
          <p:cNvPr id="133" name="Google Shape;133;p24"/>
          <p:cNvSpPr txBox="1"/>
          <p:nvPr>
            <p:ph type="title"/>
          </p:nvPr>
        </p:nvSpPr>
        <p:spPr>
          <a:xfrm>
            <a:off x="311700" y="293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Glycolysis video- watch 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Glycolysis Summary</a:t>
            </a:r>
            <a:endParaRPr/>
          </a:p>
        </p:txBody>
      </p:sp>
      <p:sp>
        <p:nvSpPr>
          <p:cNvPr id="139" name="Google Shape;139;p25"/>
          <p:cNvSpPr txBox="1"/>
          <p:nvPr>
            <p:ph idx="1" type="body"/>
          </p:nvPr>
        </p:nvSpPr>
        <p:spPr>
          <a:xfrm>
            <a:off x="311700" y="1152475"/>
            <a:ext cx="5806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solidFill>
                  <a:schemeClr val="accent1"/>
                </a:solidFill>
              </a:rPr>
              <a:t>Converts:</a:t>
            </a:r>
            <a:r>
              <a:rPr lang="en"/>
              <a:t> 1 glucose to 2 pyruvate </a:t>
            </a:r>
            <a:endParaRPr/>
          </a:p>
          <a:p>
            <a:pPr indent="-342900" lvl="0" marL="457200" rtl="0" algn="l">
              <a:spcBef>
                <a:spcPts val="0"/>
              </a:spcBef>
              <a:spcAft>
                <a:spcPts val="0"/>
              </a:spcAft>
              <a:buSzPts val="1800"/>
              <a:buChar char="●"/>
            </a:pPr>
            <a:r>
              <a:rPr lang="en">
                <a:solidFill>
                  <a:schemeClr val="accent1"/>
                </a:solidFill>
              </a:rPr>
              <a:t>Produces:</a:t>
            </a:r>
            <a:r>
              <a:rPr lang="en"/>
              <a:t> 4 ATP &amp; 2 NADH </a:t>
            </a:r>
            <a:endParaRPr/>
          </a:p>
          <a:p>
            <a:pPr indent="-342900" lvl="0" marL="457200" rtl="0" algn="l">
              <a:spcBef>
                <a:spcPts val="0"/>
              </a:spcBef>
              <a:spcAft>
                <a:spcPts val="0"/>
              </a:spcAft>
              <a:buSzPts val="1800"/>
              <a:buChar char="●"/>
            </a:pPr>
            <a:r>
              <a:rPr lang="en"/>
              <a:t>Consumes: 2 ATP</a:t>
            </a:r>
            <a:endParaRPr/>
          </a:p>
          <a:p>
            <a:pPr indent="-342900" lvl="0" marL="457200" rtl="0" algn="l">
              <a:spcBef>
                <a:spcPts val="0"/>
              </a:spcBef>
              <a:spcAft>
                <a:spcPts val="0"/>
              </a:spcAft>
              <a:buSzPts val="1800"/>
              <a:buChar char="●"/>
            </a:pPr>
            <a:r>
              <a:rPr lang="en"/>
              <a:t>Net Yield: 2 ATP and 2 NADH</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rPr b="1" lang="en">
                <a:solidFill>
                  <a:srgbClr val="D7537B"/>
                </a:solidFill>
              </a:rPr>
              <a:t>Where does the NADH go?</a:t>
            </a:r>
            <a:r>
              <a:rPr b="1" lang="en">
                <a:solidFill>
                  <a:srgbClr val="C27BA0"/>
                </a:solidFill>
              </a:rPr>
              <a:t> </a:t>
            </a:r>
            <a:r>
              <a:rPr lang="en"/>
              <a:t>→ carries electrons and H+ down to the ETC!</a:t>
            </a:r>
            <a:endParaRPr/>
          </a:p>
        </p:txBody>
      </p:sp>
      <p:pic>
        <p:nvPicPr>
          <p:cNvPr descr="NADH - Science with The Amoeba Sisters" id="140" name="Google Shape;140;p25"/>
          <p:cNvPicPr preferRelativeResize="0"/>
          <p:nvPr/>
        </p:nvPicPr>
        <p:blipFill rotWithShape="1">
          <a:blip r:embed="rId3">
            <a:alphaModFix/>
          </a:blip>
          <a:srcRect b="0" l="0" r="0" t="0"/>
          <a:stretch/>
        </p:blipFill>
        <p:spPr>
          <a:xfrm>
            <a:off x="6210651" y="2980100"/>
            <a:ext cx="2457000" cy="1842600"/>
          </a:xfrm>
          <a:prstGeom prst="round2DiagRect">
            <a:avLst>
              <a:gd fmla="val 5608" name="adj1"/>
              <a:gd fmla="val 0" name="adj2"/>
            </a:avLst>
          </a:prstGeom>
          <a:noFill/>
          <a:ln cap="sq" cmpd="sng" w="19050">
            <a:solidFill>
              <a:srgbClr val="B0BFC7">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pic>
        <p:nvPicPr>
          <p:cNvPr id="141" name="Google Shape;141;p25"/>
          <p:cNvPicPr preferRelativeResize="0"/>
          <p:nvPr/>
        </p:nvPicPr>
        <p:blipFill>
          <a:blip r:embed="rId4">
            <a:alphaModFix/>
          </a:blip>
          <a:stretch>
            <a:fillRect/>
          </a:stretch>
        </p:blipFill>
        <p:spPr>
          <a:xfrm>
            <a:off x="5187700" y="736876"/>
            <a:ext cx="3479950" cy="1657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Branching Point-Decision Time!</a:t>
            </a:r>
            <a:endParaRPr/>
          </a:p>
        </p:txBody>
      </p:sp>
      <p:sp>
        <p:nvSpPr>
          <p:cNvPr id="147" name="Google Shape;147;p26"/>
          <p:cNvSpPr txBox="1"/>
          <p:nvPr>
            <p:ph idx="1" type="body"/>
          </p:nvPr>
        </p:nvSpPr>
        <p:spPr>
          <a:xfrm>
            <a:off x="311700" y="1152475"/>
            <a:ext cx="43185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solidFill>
                  <a:schemeClr val="accent1"/>
                </a:solidFill>
              </a:rPr>
              <a:t>If oxygen is present: </a:t>
            </a:r>
            <a:endParaRPr b="1">
              <a:solidFill>
                <a:schemeClr val="accent1"/>
              </a:solidFill>
            </a:endParaRPr>
          </a:p>
          <a:p>
            <a:pPr indent="-342900" lvl="0" marL="457200" rtl="0" algn="l">
              <a:spcBef>
                <a:spcPts val="1200"/>
              </a:spcBef>
              <a:spcAft>
                <a:spcPts val="0"/>
              </a:spcAft>
              <a:buSzPts val="1800"/>
              <a:buChar char="●"/>
            </a:pPr>
            <a:r>
              <a:rPr lang="en" u="sng"/>
              <a:t>aerobic</a:t>
            </a:r>
            <a:r>
              <a:rPr lang="en"/>
              <a:t> respiration takes place in the mitochondria </a:t>
            </a:r>
            <a:endParaRPr/>
          </a:p>
          <a:p>
            <a:pPr indent="0" lvl="0" marL="0" rtl="0" algn="l">
              <a:spcBef>
                <a:spcPts val="1200"/>
              </a:spcBef>
              <a:spcAft>
                <a:spcPts val="0"/>
              </a:spcAft>
              <a:buNone/>
            </a:pPr>
            <a:r>
              <a:rPr b="1" lang="en">
                <a:solidFill>
                  <a:srgbClr val="D7537B"/>
                </a:solidFill>
              </a:rPr>
              <a:t>If NO oxygen present:</a:t>
            </a:r>
            <a:r>
              <a:rPr b="1" lang="en"/>
              <a:t> </a:t>
            </a:r>
            <a:endParaRPr b="1"/>
          </a:p>
          <a:p>
            <a:pPr indent="-342900" lvl="0" marL="457200" rtl="0" algn="l">
              <a:spcBef>
                <a:spcPts val="1200"/>
              </a:spcBef>
              <a:spcAft>
                <a:spcPts val="0"/>
              </a:spcAft>
              <a:buSzPts val="1800"/>
              <a:buChar char="●"/>
            </a:pPr>
            <a:r>
              <a:rPr lang="en" u="sng"/>
              <a:t>anaerobic</a:t>
            </a:r>
            <a:r>
              <a:rPr lang="en"/>
              <a:t> respiration (</a:t>
            </a:r>
            <a:r>
              <a:rPr b="1" lang="en"/>
              <a:t>fermentation</a:t>
            </a:r>
            <a:r>
              <a:rPr lang="en"/>
              <a:t>) takes place in the cytoplasm</a:t>
            </a:r>
            <a:endParaRPr/>
          </a:p>
          <a:p>
            <a:pPr indent="-342900" lvl="0" marL="457200" rtl="0" algn="l">
              <a:spcBef>
                <a:spcPts val="0"/>
              </a:spcBef>
              <a:spcAft>
                <a:spcPts val="0"/>
              </a:spcAft>
              <a:buSzPts val="1800"/>
              <a:buChar char="●"/>
            </a:pPr>
            <a:r>
              <a:rPr lang="en"/>
              <a:t>2 Types: Alcohol and Lactic Acid Fermentation</a:t>
            </a:r>
            <a:endParaRPr/>
          </a:p>
          <a:p>
            <a:pPr indent="0" lvl="0" marL="0" rtl="0" algn="l">
              <a:spcBef>
                <a:spcPts val="1200"/>
              </a:spcBef>
              <a:spcAft>
                <a:spcPts val="1200"/>
              </a:spcAft>
              <a:buNone/>
            </a:pPr>
            <a:r>
              <a:t/>
            </a:r>
            <a:endParaRPr/>
          </a:p>
        </p:txBody>
      </p:sp>
      <p:pic>
        <p:nvPicPr>
          <p:cNvPr id="148" name="Google Shape;148;p26"/>
          <p:cNvPicPr preferRelativeResize="0"/>
          <p:nvPr/>
        </p:nvPicPr>
        <p:blipFill rotWithShape="1">
          <a:blip r:embed="rId3">
            <a:alphaModFix/>
          </a:blip>
          <a:srcRect b="4443" l="0" r="2086" t="0"/>
          <a:stretch/>
        </p:blipFill>
        <p:spPr>
          <a:xfrm>
            <a:off x="5497001" y="445027"/>
            <a:ext cx="3479050" cy="3933125"/>
          </a:xfrm>
          <a:prstGeom prst="rect">
            <a:avLst/>
          </a:prstGeom>
          <a:noFill/>
          <a:ln>
            <a:noFill/>
          </a:ln>
          <a:effectLst>
            <a:outerShdw rotWithShape="0" algn="ctr" dir="2700000" dist="35921">
              <a:srgbClr val="808080"/>
            </a:outerShdw>
          </a:effectLst>
        </p:spPr>
      </p:pic>
      <p:pic>
        <p:nvPicPr>
          <p:cNvPr descr="What happens when you can't do aerobic cellular respiration because oxygen isn't available? Explore fermentation with The Amoeba Sisters! This video focuses on alcoholic fermentation and lactic acid fermentation, and it also mentions how this pathway is different from anaerobic cellular respiration. &#10;&#10;Table of Contents:&#10;00:00 Intro&#10;0:39 Why do organisms need oxygen?&#10;1:01 Aerobic Cellular Respiration&#10;2:07 Options for when there is no oxygen?&#10;2:38 Anaerobic Respiration&#10;3:18 Fermentation &#10;5:38 Alcoholic Fermentation&#10;6:35 Lactic Acid Fermentation&#10;&#10;Reference: &#10;OpenStax, Biology. OpenStax CNX. Apr 9, 2018 http://cnx.org/contents/185cbf87-c72e-48f5-b51e-f14f21b5eabd@11.1&#10;&#10;-----------------------------------------------------------------------------------------&#10;Further Reading regarding how lactate/lactic acid may -not- be responsible for delayed muscle soreness (or fatigue)?&#10;&#10;Biology OpenStax (free, peer-reviewed textbook): https://cnx.org/contents/GFy_h8cu@11.1:jmCYmYol@7/Metabolism-without-Oxygen&#10;&#10;https://www.tandfonline.com/doi/abs/10.1080/00913847.1983.11708485&#10;&#10;https://www.researchgate.net/publication/297742203_Lactate_Friend_or_Foe&#10;&#10;https://www.researchgate.net/publication/7206794_Lactic_Acid_and_Exercise_Performance&#10;&#10;https://www.nytimes.com/2006/05/16/health/nutrition/16run.html&#10;-----------------------------------------------------------------------------------------&#10;&#10;Biology Video Playlist: https://www.youtube.com/playlist?list=PLwL0Myd7Dk1F0iQPGrjehze3eDpco1eVz&#10;&#10;The Amoeba Sisters videos demystify science with humor and relevance. The videos center on Pinky's certification and experience in teaching biology at the high school level. Amoeba Sisters videos only cover concepts that Pinky is certified to teach, and they focus on her specialty: secondary life science. Learn more about our videos here: https://www.amoebasisters.com/our-videos&#10;&#10;⭐ Our Linktree: https://linktr.ee/amoebasisters&#10;&#10;🗂️ Resources that complement our videos! Visit https://docs.google.com/spreadsheets/d/1b3kmAzFEjWgoMKCrkeNCKFYunWk04IuLY93jI4OY0gY/edit?usp=sharing&#10;&#10;❤️ Support Us? https://www.amoebasisters.com/support-us&#10;&#10;TIPS FOR VIEWING EDU YOUTUBE VIDEOS:&#10;Want to learn tips for viewing edu YouTube videos including changing the speed, language, viewing the transcript, etc? https://www.amoebasisters.com/pinkys-ed-tech-favorites/10-youtube-tips-from-an-edu-youtuber-duo&#10;&#10;MUSIC:&#10;Music in this video is listed free to use/no attribution required from the YouTube audio library https://www.youtube.com/audiolibrary/music?feature=blog&#10;&#10;COMMUNITY:&#10;We take pride in our AWESOME community, and we welcome feedback and discussion.  However, please remember that this is an education channel. See YouTube's community guidelines and how YouTube handles comments that are reported by the community. We also reserve the right to remove comments.&#10;&#10;TRANSLATIONS:&#10;Hindi Subtitles Credit: Alisha Aggarwal&#10;Vietnamese Subtitles Credit: Tammy Vu&#10;&#10;While we don't allow dubbing of our videos, we do gladly accept subtitle translations from our community. Some translated subtitles on our videos were translated by the community using YouTube's community-contributed subtitle feature. After the feature was discontinued by YouTube, we have another option for submitting translated subtitles here:  https://www.amoebasisters.com/pinkys-ed-tech-favorites/community-contributed-subtitles We want to thank our amazing community for the generosity of their time in continuing to create translated subtitles. If you have a concern about community contributed contributions, please contact us." id="149" name="Google Shape;149;p26" title="Fermentation">
            <a:hlinkClick r:id="rId4"/>
          </p:cNvPr>
          <p:cNvPicPr preferRelativeResize="0"/>
          <p:nvPr/>
        </p:nvPicPr>
        <p:blipFill>
          <a:blip r:embed="rId5">
            <a:alphaModFix/>
          </a:blip>
          <a:stretch>
            <a:fillRect/>
          </a:stretch>
        </p:blipFill>
        <p:spPr>
          <a:xfrm>
            <a:off x="3637850" y="4102900"/>
            <a:ext cx="1458450" cy="820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p:nvPr/>
        </p:nvSpPr>
        <p:spPr>
          <a:xfrm>
            <a:off x="5458050" y="765550"/>
            <a:ext cx="3586800" cy="3062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5" name="Google Shape;15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Lactic Acid Fermentation</a:t>
            </a:r>
            <a:endParaRPr/>
          </a:p>
          <a:p>
            <a:pPr indent="0" lvl="0" marL="0" rtl="0" algn="l">
              <a:spcBef>
                <a:spcPts val="0"/>
              </a:spcBef>
              <a:spcAft>
                <a:spcPts val="0"/>
              </a:spcAft>
              <a:buNone/>
            </a:pPr>
            <a:r>
              <a:t/>
            </a:r>
            <a:endParaRPr/>
          </a:p>
        </p:txBody>
      </p:sp>
      <p:sp>
        <p:nvSpPr>
          <p:cNvPr id="156" name="Google Shape;156;p27"/>
          <p:cNvSpPr txBox="1"/>
          <p:nvPr>
            <p:ph idx="1" type="body"/>
          </p:nvPr>
        </p:nvSpPr>
        <p:spPr>
          <a:xfrm>
            <a:off x="311700" y="1152475"/>
            <a:ext cx="4880100" cy="37260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Performed</a:t>
            </a:r>
            <a:r>
              <a:rPr lang="en" sz="1700"/>
              <a:t> by animals and some fungi</a:t>
            </a:r>
            <a:endParaRPr sz="1700"/>
          </a:p>
          <a:p>
            <a:pPr indent="-336550" lvl="0" marL="457200" rtl="0" algn="l">
              <a:spcBef>
                <a:spcPts val="0"/>
              </a:spcBef>
              <a:spcAft>
                <a:spcPts val="0"/>
              </a:spcAft>
              <a:buSzPts val="1700"/>
              <a:buChar char="●"/>
            </a:pPr>
            <a:r>
              <a:rPr lang="en" sz="1700"/>
              <a:t>Pyruvate is converted to </a:t>
            </a:r>
            <a:r>
              <a:rPr lang="en" sz="1700">
                <a:solidFill>
                  <a:srgbClr val="D7537B"/>
                </a:solidFill>
              </a:rPr>
              <a:t>lactate and 2 ATP</a:t>
            </a:r>
            <a:endParaRPr sz="1700">
              <a:solidFill>
                <a:srgbClr val="D7537B"/>
              </a:solidFill>
            </a:endParaRPr>
          </a:p>
          <a:p>
            <a:pPr indent="-336550" lvl="0" marL="457200" rtl="0" algn="l">
              <a:spcBef>
                <a:spcPts val="0"/>
              </a:spcBef>
              <a:spcAft>
                <a:spcPts val="0"/>
              </a:spcAft>
              <a:buSzPts val="1700"/>
              <a:buChar char="●"/>
            </a:pPr>
            <a:r>
              <a:rPr lang="en" sz="1700">
                <a:solidFill>
                  <a:schemeClr val="accent1"/>
                </a:solidFill>
              </a:rPr>
              <a:t>Significance</a:t>
            </a:r>
            <a:r>
              <a:rPr lang="en" sz="1700"/>
              <a:t>: </a:t>
            </a:r>
            <a:r>
              <a:rPr lang="en" sz="1700" u="sng"/>
              <a:t>NADH is converted back to NAD+</a:t>
            </a:r>
            <a:r>
              <a:rPr lang="en" sz="1700"/>
              <a:t> to be recycled back into glycolysis (</a:t>
            </a:r>
            <a:r>
              <a:rPr b="1" lang="en" sz="1700"/>
              <a:t>NAD+ Regeneration</a:t>
            </a:r>
            <a:r>
              <a:rPr lang="en" sz="1700"/>
              <a:t>)</a:t>
            </a:r>
            <a:endParaRPr sz="1700"/>
          </a:p>
          <a:p>
            <a:pPr indent="-336550" lvl="0" marL="457200" rtl="0" algn="l">
              <a:spcBef>
                <a:spcPts val="0"/>
              </a:spcBef>
              <a:spcAft>
                <a:spcPts val="0"/>
              </a:spcAft>
              <a:buSzPts val="1700"/>
              <a:buChar char="●"/>
            </a:pPr>
            <a:r>
              <a:rPr lang="en" sz="1700"/>
              <a:t>Reversible 🡪 once O2 is present again, lactate is converted back to pyruvate by the liver</a:t>
            </a:r>
            <a:endParaRPr sz="1700"/>
          </a:p>
          <a:p>
            <a:pPr indent="0" lvl="0" marL="0" rtl="0" algn="l">
              <a:spcBef>
                <a:spcPts val="1200"/>
              </a:spcBef>
              <a:spcAft>
                <a:spcPts val="1200"/>
              </a:spcAft>
              <a:buNone/>
            </a:pPr>
            <a:r>
              <a:t/>
            </a:r>
            <a:endParaRPr/>
          </a:p>
        </p:txBody>
      </p:sp>
      <p:sp>
        <p:nvSpPr>
          <p:cNvPr id="157" name="Google Shape;157;p27"/>
          <p:cNvSpPr txBox="1"/>
          <p:nvPr/>
        </p:nvSpPr>
        <p:spPr>
          <a:xfrm>
            <a:off x="839700" y="4355500"/>
            <a:ext cx="7464600" cy="4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700">
                <a:solidFill>
                  <a:schemeClr val="lt1"/>
                </a:solidFill>
                <a:latin typeface="Open Sans"/>
                <a:ea typeface="Open Sans"/>
                <a:cs typeface="Open Sans"/>
                <a:sym typeface="Open Sans"/>
              </a:rPr>
              <a:t>In humans, this occurs when your muscles cannot get enough oxygen to keep up with demand </a:t>
            </a:r>
            <a:endParaRPr b="1" i="1" sz="1700">
              <a:solidFill>
                <a:schemeClr val="lt1"/>
              </a:solidFill>
              <a:latin typeface="Open Sans"/>
              <a:ea typeface="Open Sans"/>
              <a:cs typeface="Open Sans"/>
              <a:sym typeface="Open Sans"/>
            </a:endParaRPr>
          </a:p>
        </p:txBody>
      </p:sp>
      <p:pic>
        <p:nvPicPr>
          <p:cNvPr id="158" name="Google Shape;158;p27"/>
          <p:cNvPicPr preferRelativeResize="0"/>
          <p:nvPr/>
        </p:nvPicPr>
        <p:blipFill>
          <a:blip r:embed="rId3">
            <a:alphaModFix/>
          </a:blip>
          <a:stretch>
            <a:fillRect/>
          </a:stretch>
        </p:blipFill>
        <p:spPr>
          <a:xfrm>
            <a:off x="5522925" y="1011000"/>
            <a:ext cx="3457051" cy="25712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Alcohol Fermentation</a:t>
            </a:r>
            <a:endParaRPr/>
          </a:p>
        </p:txBody>
      </p:sp>
      <p:sp>
        <p:nvSpPr>
          <p:cNvPr id="164" name="Google Shape;164;p28"/>
          <p:cNvSpPr txBox="1"/>
          <p:nvPr>
            <p:ph idx="1" type="body"/>
          </p:nvPr>
        </p:nvSpPr>
        <p:spPr>
          <a:xfrm>
            <a:off x="311700" y="1152475"/>
            <a:ext cx="50181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Occurs in a single celled eukaryote called yeast, and in bacteria</a:t>
            </a:r>
            <a:endParaRPr/>
          </a:p>
          <a:p>
            <a:pPr indent="-325755" lvl="0" marL="457200" rtl="0" algn="l">
              <a:spcBef>
                <a:spcPts val="0"/>
              </a:spcBef>
              <a:spcAft>
                <a:spcPts val="0"/>
              </a:spcAft>
              <a:buSzPct val="100000"/>
              <a:buChar char="●"/>
            </a:pPr>
            <a:r>
              <a:rPr lang="en"/>
              <a:t>Used commercially for baking and alcohol production</a:t>
            </a:r>
            <a:endParaRPr/>
          </a:p>
          <a:p>
            <a:pPr indent="-325755" lvl="0" marL="457200" rtl="0" algn="l">
              <a:spcBef>
                <a:spcPts val="0"/>
              </a:spcBef>
              <a:spcAft>
                <a:spcPts val="0"/>
              </a:spcAft>
              <a:buSzPct val="100000"/>
              <a:buChar char="●"/>
            </a:pPr>
            <a:r>
              <a:rPr lang="en"/>
              <a:t>Pyruvate is converted to </a:t>
            </a:r>
            <a:r>
              <a:rPr b="1" lang="en">
                <a:solidFill>
                  <a:srgbClr val="D7537B"/>
                </a:solidFill>
              </a:rPr>
              <a:t>ethanol and CO2</a:t>
            </a:r>
            <a:r>
              <a:rPr lang="en">
                <a:solidFill>
                  <a:srgbClr val="D7537B"/>
                </a:solidFill>
              </a:rPr>
              <a:t> </a:t>
            </a:r>
            <a:endParaRPr>
              <a:solidFill>
                <a:srgbClr val="D7537B"/>
              </a:solidFill>
            </a:endParaRPr>
          </a:p>
          <a:p>
            <a:pPr indent="-304165" lvl="1" marL="914400" rtl="0" algn="l">
              <a:spcBef>
                <a:spcPts val="0"/>
              </a:spcBef>
              <a:spcAft>
                <a:spcPts val="0"/>
              </a:spcAft>
              <a:buSzPct val="100000"/>
              <a:buChar char="○"/>
            </a:pPr>
            <a:r>
              <a:rPr lang="en"/>
              <a:t>NADH is converted back into NAD+ to be used again in glycolysis </a:t>
            </a:r>
            <a:endParaRPr/>
          </a:p>
          <a:p>
            <a:pPr indent="-325755" lvl="0" marL="457200" rtl="0" algn="l">
              <a:spcBef>
                <a:spcPts val="0"/>
              </a:spcBef>
              <a:spcAft>
                <a:spcPts val="0"/>
              </a:spcAft>
              <a:buSzPct val="100000"/>
              <a:buChar char="●"/>
            </a:pPr>
            <a:r>
              <a:rPr lang="en"/>
              <a:t>Produces only 2 ATP</a:t>
            </a:r>
            <a:endParaRPr/>
          </a:p>
          <a:p>
            <a:pPr indent="-325755" lvl="0" marL="457200" rtl="0" algn="l">
              <a:spcBef>
                <a:spcPts val="0"/>
              </a:spcBef>
              <a:spcAft>
                <a:spcPts val="0"/>
              </a:spcAft>
              <a:buSzPct val="100000"/>
              <a:buChar char="●"/>
            </a:pPr>
            <a:r>
              <a:rPr lang="en"/>
              <a:t>Dead end process: at ~12% ethanol yeast cells die and you cannot reverse this reaction!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descr="Alcoholic Fermentation | Conditions, Chemical reactions, and Uses -24HB |  Fermentation, Chemical reactions, Ethanol fermentation" id="165" name="Google Shape;165;p28"/>
          <p:cNvPicPr preferRelativeResize="0"/>
          <p:nvPr/>
        </p:nvPicPr>
        <p:blipFill rotWithShape="1">
          <a:blip r:embed="rId3">
            <a:alphaModFix/>
          </a:blip>
          <a:srcRect b="0" l="0" r="0" t="0"/>
          <a:stretch/>
        </p:blipFill>
        <p:spPr>
          <a:xfrm>
            <a:off x="5709677" y="2505404"/>
            <a:ext cx="3018000" cy="2339100"/>
          </a:xfrm>
          <a:prstGeom prst="round2DiagRect">
            <a:avLst>
              <a:gd fmla="val 5608" name="adj1"/>
              <a:gd fmla="val 0" name="adj2"/>
            </a:avLst>
          </a:prstGeom>
          <a:noFill/>
          <a:ln cap="sq" cmpd="sng" w="19050">
            <a:solidFill>
              <a:srgbClr val="B0BFC7">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pic>
        <p:nvPicPr>
          <p:cNvPr id="166" name="Google Shape;166;p28"/>
          <p:cNvPicPr preferRelativeResize="0"/>
          <p:nvPr/>
        </p:nvPicPr>
        <p:blipFill>
          <a:blip r:embed="rId4">
            <a:alphaModFix/>
          </a:blip>
          <a:stretch>
            <a:fillRect/>
          </a:stretch>
        </p:blipFill>
        <p:spPr>
          <a:xfrm>
            <a:off x="5472100" y="145450"/>
            <a:ext cx="1758474" cy="1171849"/>
          </a:xfrm>
          <a:prstGeom prst="rect">
            <a:avLst/>
          </a:prstGeom>
          <a:noFill/>
          <a:ln>
            <a:noFill/>
          </a:ln>
        </p:spPr>
      </p:pic>
      <p:pic>
        <p:nvPicPr>
          <p:cNvPr descr="How to use less yeast and still bake great bread - The Washington Post" id="167" name="Google Shape;167;p28"/>
          <p:cNvPicPr preferRelativeResize="0"/>
          <p:nvPr/>
        </p:nvPicPr>
        <p:blipFill rotWithShape="1">
          <a:blip r:embed="rId5">
            <a:alphaModFix/>
          </a:blip>
          <a:srcRect b="0" l="17688" r="8675" t="0"/>
          <a:stretch/>
        </p:blipFill>
        <p:spPr>
          <a:xfrm>
            <a:off x="7409656" y="1189776"/>
            <a:ext cx="1497093" cy="11435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311700" y="2150850"/>
            <a:ext cx="2912100" cy="841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en">
                <a:latin typeface="Oswald"/>
                <a:ea typeface="Oswald"/>
                <a:cs typeface="Oswald"/>
                <a:sym typeface="Oswald"/>
              </a:rPr>
              <a:t>Steps 2-3: </a:t>
            </a:r>
            <a:endParaRPr b="1">
              <a:latin typeface="Oswald"/>
              <a:ea typeface="Oswald"/>
              <a:cs typeface="Oswald"/>
              <a:sym typeface="Oswald"/>
            </a:endParaRPr>
          </a:p>
          <a:p>
            <a:pPr indent="0" lvl="0" marL="0" rtl="0" algn="l">
              <a:spcBef>
                <a:spcPts val="0"/>
              </a:spcBef>
              <a:spcAft>
                <a:spcPts val="0"/>
              </a:spcAft>
              <a:buNone/>
            </a:pPr>
            <a:r>
              <a:rPr b="1" lang="en">
                <a:latin typeface="Oswald"/>
                <a:ea typeface="Oswald"/>
                <a:cs typeface="Oswald"/>
                <a:sym typeface="Oswald"/>
              </a:rPr>
              <a:t>Pyruvate Oxidation and the Krebs Cycle</a:t>
            </a:r>
            <a:endParaRPr b="1">
              <a:latin typeface="Oswald"/>
              <a:ea typeface="Oswald"/>
              <a:cs typeface="Oswald"/>
              <a:sym typeface="Oswald"/>
            </a:endParaRPr>
          </a:p>
        </p:txBody>
      </p:sp>
      <p:pic>
        <p:nvPicPr>
          <p:cNvPr id="173" name="Google Shape;173;p29"/>
          <p:cNvPicPr preferRelativeResize="0"/>
          <p:nvPr/>
        </p:nvPicPr>
        <p:blipFill>
          <a:blip r:embed="rId3">
            <a:alphaModFix/>
          </a:blip>
          <a:stretch>
            <a:fillRect/>
          </a:stretch>
        </p:blipFill>
        <p:spPr>
          <a:xfrm>
            <a:off x="3712875" y="1093450"/>
            <a:ext cx="4864650" cy="2956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2: Oxidation of Pyruvate</a:t>
            </a:r>
            <a:endParaRPr/>
          </a:p>
        </p:txBody>
      </p:sp>
      <p:sp>
        <p:nvSpPr>
          <p:cNvPr id="179" name="Google Shape;179;p30"/>
          <p:cNvSpPr txBox="1"/>
          <p:nvPr>
            <p:ph idx="1" type="body"/>
          </p:nvPr>
        </p:nvSpPr>
        <p:spPr>
          <a:xfrm>
            <a:off x="311700" y="1152475"/>
            <a:ext cx="4179900" cy="3416400"/>
          </a:xfrm>
          <a:prstGeom prst="rect">
            <a:avLst/>
          </a:prstGeom>
        </p:spPr>
        <p:txBody>
          <a:bodyPr anchorCtr="0" anchor="t" bIns="91425" lIns="91425" spcFirstLastPara="1" rIns="91425" wrap="square" tIns="91425">
            <a:normAutofit/>
          </a:bodyPr>
          <a:lstStyle/>
          <a:p>
            <a:pPr indent="-228600" lvl="0" marL="228600" rtl="0" algn="l">
              <a:lnSpc>
                <a:spcPct val="120000"/>
              </a:lnSpc>
              <a:spcBef>
                <a:spcPts val="0"/>
              </a:spcBef>
              <a:spcAft>
                <a:spcPts val="0"/>
              </a:spcAft>
              <a:buSzPts val="3000"/>
              <a:buFont typeface="Arial"/>
              <a:buChar char="•"/>
            </a:pPr>
            <a:r>
              <a:rPr lang="en" sz="2400">
                <a:latin typeface="Twentieth Century"/>
                <a:ea typeface="Twentieth Century"/>
                <a:cs typeface="Twentieth Century"/>
                <a:sym typeface="Twentieth Century"/>
              </a:rPr>
              <a:t>Pyruvate still has energy to yield</a:t>
            </a:r>
            <a:endParaRPr sz="2400">
              <a:latin typeface="Twentieth Century"/>
              <a:ea typeface="Twentieth Century"/>
              <a:cs typeface="Twentieth Century"/>
              <a:sym typeface="Twentieth Century"/>
            </a:endParaRPr>
          </a:p>
          <a:p>
            <a:pPr indent="-228600" lvl="0" marL="228600" rtl="0" algn="l">
              <a:lnSpc>
                <a:spcPct val="120000"/>
              </a:lnSpc>
              <a:spcBef>
                <a:spcPts val="1000"/>
              </a:spcBef>
              <a:spcAft>
                <a:spcPts val="0"/>
              </a:spcAft>
              <a:buSzPts val="3000"/>
              <a:buFont typeface="Arial"/>
              <a:buChar char="•"/>
            </a:pPr>
            <a:r>
              <a:rPr lang="en" sz="2400">
                <a:latin typeface="Twentieth Century"/>
                <a:ea typeface="Twentieth Century"/>
                <a:cs typeface="Twentieth Century"/>
                <a:sym typeface="Twentieth Century"/>
              </a:rPr>
              <a:t>If O</a:t>
            </a:r>
            <a:r>
              <a:rPr baseline="-25000" lang="en" sz="2400">
                <a:latin typeface="Twentieth Century"/>
                <a:ea typeface="Twentieth Century"/>
                <a:cs typeface="Twentieth Century"/>
                <a:sym typeface="Twentieth Century"/>
              </a:rPr>
              <a:t>2</a:t>
            </a:r>
            <a:r>
              <a:rPr lang="en" sz="2400">
                <a:latin typeface="Twentieth Century"/>
                <a:ea typeface="Twentieth Century"/>
                <a:cs typeface="Twentieth Century"/>
                <a:sym typeface="Twentieth Century"/>
              </a:rPr>
              <a:t> is available, pyruvate enters the mitochondria 🡪 specifically the </a:t>
            </a:r>
            <a:r>
              <a:rPr lang="en" sz="2400" u="sng">
                <a:solidFill>
                  <a:schemeClr val="accent1"/>
                </a:solidFill>
                <a:latin typeface="Twentieth Century"/>
                <a:ea typeface="Twentieth Century"/>
                <a:cs typeface="Twentieth Century"/>
                <a:sym typeface="Twentieth Century"/>
              </a:rPr>
              <a:t>mitochondrial matrix</a:t>
            </a:r>
            <a:endParaRPr>
              <a:solidFill>
                <a:schemeClr val="accent1"/>
              </a:solidFill>
            </a:endParaRPr>
          </a:p>
        </p:txBody>
      </p:sp>
      <p:pic>
        <p:nvPicPr>
          <p:cNvPr descr="Image result for cellular respiration diagram" id="180" name="Google Shape;180;p30"/>
          <p:cNvPicPr preferRelativeResize="0"/>
          <p:nvPr/>
        </p:nvPicPr>
        <p:blipFill rotWithShape="1">
          <a:blip r:embed="rId3">
            <a:alphaModFix/>
          </a:blip>
          <a:srcRect b="0" l="0" r="0" t="40"/>
          <a:stretch/>
        </p:blipFill>
        <p:spPr>
          <a:xfrm>
            <a:off x="4824825" y="1325275"/>
            <a:ext cx="4131300" cy="2704800"/>
          </a:xfrm>
          <a:prstGeom prst="round2DiagRect">
            <a:avLst>
              <a:gd fmla="val 4860" name="adj1"/>
              <a:gd fmla="val 0" name="adj2"/>
            </a:avLst>
          </a:prstGeom>
          <a:noFill/>
          <a:ln cap="sq" cmpd="sng" w="19050">
            <a:solidFill>
              <a:srgbClr val="B0BFC7">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sp>
        <p:nvSpPr>
          <p:cNvPr id="181" name="Google Shape;181;p30"/>
          <p:cNvSpPr/>
          <p:nvPr/>
        </p:nvSpPr>
        <p:spPr>
          <a:xfrm>
            <a:off x="6139250" y="1396900"/>
            <a:ext cx="730800" cy="2550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Oxidation of Pyruvate Steps</a:t>
            </a:r>
            <a:endParaRPr/>
          </a:p>
        </p:txBody>
      </p:sp>
      <p:sp>
        <p:nvSpPr>
          <p:cNvPr id="187" name="Google Shape;187;p31"/>
          <p:cNvSpPr txBox="1"/>
          <p:nvPr>
            <p:ph idx="1" type="body"/>
          </p:nvPr>
        </p:nvSpPr>
        <p:spPr>
          <a:xfrm>
            <a:off x="311700" y="1152475"/>
            <a:ext cx="4953600" cy="3416400"/>
          </a:xfrm>
          <a:prstGeom prst="rect">
            <a:avLst/>
          </a:prstGeom>
        </p:spPr>
        <p:txBody>
          <a:bodyPr anchorCtr="0" anchor="t" bIns="91425" lIns="91425" spcFirstLastPara="1" rIns="91425" wrap="square" tIns="91425">
            <a:normAutofit fontScale="92500" lnSpcReduction="20000"/>
          </a:bodyPr>
          <a:lstStyle/>
          <a:p>
            <a:pPr indent="-322580" lvl="0" marL="457200" rtl="0" algn="l">
              <a:spcBef>
                <a:spcPts val="0"/>
              </a:spcBef>
              <a:spcAft>
                <a:spcPts val="0"/>
              </a:spcAft>
              <a:buSzPct val="100000"/>
              <a:buChar char="●"/>
            </a:pPr>
            <a:r>
              <a:rPr lang="en" sz="1600"/>
              <a:t>Pyruvate is converted into Acetyl Coenzyme A and CO2 </a:t>
            </a:r>
            <a:r>
              <a:rPr lang="en" sz="1600">
                <a:solidFill>
                  <a:schemeClr val="accent6"/>
                </a:solidFill>
              </a:rPr>
              <a:t>(2x!)</a:t>
            </a:r>
            <a:endParaRPr sz="1600">
              <a:solidFill>
                <a:schemeClr val="accent6"/>
              </a:solidFill>
            </a:endParaRPr>
          </a:p>
          <a:p>
            <a:pPr indent="-322580" lvl="0" marL="914400" rtl="0" algn="l">
              <a:spcBef>
                <a:spcPts val="0"/>
              </a:spcBef>
              <a:spcAft>
                <a:spcPts val="0"/>
              </a:spcAft>
              <a:buSzPct val="100000"/>
              <a:buAutoNum type="arabicPeriod"/>
            </a:pPr>
            <a:r>
              <a:rPr lang="en" sz="1600"/>
              <a:t>Pyruvate </a:t>
            </a:r>
            <a:r>
              <a:rPr lang="en" sz="1600">
                <a:solidFill>
                  <a:srgbClr val="D7537B"/>
                </a:solidFill>
              </a:rPr>
              <a:t>loses a carbon</a:t>
            </a:r>
            <a:r>
              <a:rPr lang="en" sz="1600"/>
              <a:t> and 2 oxygens 🡪 released as CO2 </a:t>
            </a:r>
            <a:r>
              <a:rPr b="1" lang="en" sz="1600">
                <a:solidFill>
                  <a:srgbClr val="D7537B"/>
                </a:solidFill>
              </a:rPr>
              <a:t>(decarboxylation)</a:t>
            </a:r>
            <a:r>
              <a:rPr b="1" lang="en" sz="1600"/>
              <a:t> </a:t>
            </a:r>
            <a:endParaRPr b="1" sz="1600"/>
          </a:p>
          <a:p>
            <a:pPr indent="-322580" lvl="0" marL="914400" rtl="0" algn="l">
              <a:spcBef>
                <a:spcPts val="0"/>
              </a:spcBef>
              <a:spcAft>
                <a:spcPts val="0"/>
              </a:spcAft>
              <a:buSzPct val="100000"/>
              <a:buAutoNum type="arabicPeriod"/>
            </a:pPr>
            <a:r>
              <a:rPr lang="en" sz="1600"/>
              <a:t>NAD+ is </a:t>
            </a:r>
            <a:r>
              <a:rPr lang="en" sz="1600">
                <a:solidFill>
                  <a:schemeClr val="accent1"/>
                </a:solidFill>
              </a:rPr>
              <a:t>reduced</a:t>
            </a:r>
            <a:r>
              <a:rPr lang="en" sz="1600"/>
              <a:t> to NADH</a:t>
            </a:r>
            <a:endParaRPr sz="1600"/>
          </a:p>
          <a:p>
            <a:pPr indent="-322580" lvl="0" marL="914400" rtl="0" algn="l">
              <a:spcBef>
                <a:spcPts val="0"/>
              </a:spcBef>
              <a:spcAft>
                <a:spcPts val="0"/>
              </a:spcAft>
              <a:buSzPct val="100000"/>
              <a:buAutoNum type="arabicPeriod"/>
            </a:pPr>
            <a:r>
              <a:rPr lang="en" sz="1600"/>
              <a:t>Coenzyme A is transferred to pyruvate **helps bring Acetyl to Krebs Cycle</a:t>
            </a:r>
            <a:endParaRPr sz="1600"/>
          </a:p>
          <a:p>
            <a:pPr indent="0" lvl="0" marL="0" rtl="0" algn="l">
              <a:spcBef>
                <a:spcPts val="1200"/>
              </a:spcBef>
              <a:spcAft>
                <a:spcPts val="0"/>
              </a:spcAft>
              <a:buNone/>
            </a:pPr>
            <a:r>
              <a:t/>
            </a:r>
            <a:endParaRPr sz="1600"/>
          </a:p>
          <a:p>
            <a:pPr indent="-322580" lvl="0" marL="457200" rtl="0" algn="l">
              <a:spcBef>
                <a:spcPts val="1200"/>
              </a:spcBef>
              <a:spcAft>
                <a:spcPts val="0"/>
              </a:spcAft>
              <a:buSzPct val="100000"/>
              <a:buChar char="●"/>
            </a:pPr>
            <a:r>
              <a:rPr lang="en" sz="1600"/>
              <a:t>2 acetyl CoA is produced and moves on to </a:t>
            </a:r>
            <a:r>
              <a:rPr b="1" lang="en" sz="1600" u="sng"/>
              <a:t>Krebs cycle</a:t>
            </a:r>
            <a:endParaRPr b="1" sz="1600" u="sng"/>
          </a:p>
          <a:p>
            <a:pPr indent="-322580" lvl="0" marL="457200" rtl="0" algn="l">
              <a:spcBef>
                <a:spcPts val="0"/>
              </a:spcBef>
              <a:spcAft>
                <a:spcPts val="0"/>
              </a:spcAft>
              <a:buSzPct val="100000"/>
              <a:buChar char="●"/>
            </a:pPr>
            <a:r>
              <a:rPr lang="en" sz="1600"/>
              <a:t>NADH gets saved for the </a:t>
            </a:r>
            <a:r>
              <a:rPr b="1" lang="en" sz="1600" u="sng"/>
              <a:t>ETC</a:t>
            </a:r>
            <a:endParaRPr b="1" sz="1600" u="sng"/>
          </a:p>
          <a:p>
            <a:pPr indent="0" lvl="0" marL="0" rtl="0" algn="l">
              <a:spcBef>
                <a:spcPts val="1200"/>
              </a:spcBef>
              <a:spcAft>
                <a:spcPts val="1200"/>
              </a:spcAft>
              <a:buNone/>
            </a:pPr>
            <a:r>
              <a:t/>
            </a:r>
            <a:endParaRPr/>
          </a:p>
        </p:txBody>
      </p:sp>
      <p:pic>
        <p:nvPicPr>
          <p:cNvPr id="188" name="Google Shape;188;p31"/>
          <p:cNvPicPr preferRelativeResize="0"/>
          <p:nvPr/>
        </p:nvPicPr>
        <p:blipFill rotWithShape="1">
          <a:blip r:embed="rId3">
            <a:alphaModFix/>
          </a:blip>
          <a:srcRect b="32935" l="0" r="42948" t="4772"/>
          <a:stretch/>
        </p:blipFill>
        <p:spPr>
          <a:xfrm>
            <a:off x="5322575" y="1776600"/>
            <a:ext cx="3388376" cy="1526175"/>
          </a:xfrm>
          <a:prstGeom prst="rect">
            <a:avLst/>
          </a:prstGeom>
          <a:noFill/>
          <a:ln>
            <a:noFill/>
          </a:ln>
        </p:spPr>
      </p:pic>
      <p:sp>
        <p:nvSpPr>
          <p:cNvPr id="189" name="Google Shape;189;p31"/>
          <p:cNvSpPr/>
          <p:nvPr/>
        </p:nvSpPr>
        <p:spPr>
          <a:xfrm>
            <a:off x="7815550" y="1998650"/>
            <a:ext cx="895500" cy="37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Pyruvate Oxidation Video</a:t>
            </a:r>
            <a:endParaRPr/>
          </a:p>
        </p:txBody>
      </p:sp>
      <p:pic>
        <p:nvPicPr>
          <p:cNvPr descr="In this second video of our series on aerobic respiration, we will learn about the link reaction (also known as pyruvate oxidation), a key stage that connects glycolysis to the following stage (the Krebs cycle).  This goes along with the Respiration Interactive activity at BioMan Biology, so you might want to check it out here: https://biomanbio.com/HTML5GamesandLabs/PhotoRespgames/respiration-interactive-page.html &#10;Credits: Music by https://www.bensound.com/" id="195" name="Google Shape;195;p32" title="The Link Reaction Explained (Aerobic Respiration)">
            <a:hlinkClick r:id="rId3"/>
          </p:cNvPr>
          <p:cNvPicPr preferRelativeResize="0"/>
          <p:nvPr/>
        </p:nvPicPr>
        <p:blipFill>
          <a:blip r:embed="rId4">
            <a:alphaModFix/>
          </a:blip>
          <a:stretch>
            <a:fillRect/>
          </a:stretch>
        </p:blipFill>
        <p:spPr>
          <a:xfrm>
            <a:off x="1343175" y="1199525"/>
            <a:ext cx="6085700" cy="3423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000"/>
                                        <p:tgtEl>
                                          <p:spTgt spid="1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Pyruvate Oxidation in Detail</a:t>
            </a:r>
            <a:endParaRPr/>
          </a:p>
        </p:txBody>
      </p:sp>
      <p:pic>
        <p:nvPicPr>
          <p:cNvPr descr="Cellular Respiration — Christine Rodrigues" id="201" name="Google Shape;201;p33"/>
          <p:cNvPicPr preferRelativeResize="0"/>
          <p:nvPr/>
        </p:nvPicPr>
        <p:blipFill rotWithShape="1">
          <a:blip r:embed="rId3">
            <a:alphaModFix/>
          </a:blip>
          <a:srcRect b="0" l="0" r="0" t="0"/>
          <a:stretch/>
        </p:blipFill>
        <p:spPr>
          <a:xfrm>
            <a:off x="1785101" y="1254652"/>
            <a:ext cx="5573800" cy="3444750"/>
          </a:xfrm>
          <a:prstGeom prst="rect">
            <a:avLst/>
          </a:prstGeom>
          <a:noFill/>
          <a:ln>
            <a:noFill/>
          </a:ln>
        </p:spPr>
      </p:pic>
      <p:sp>
        <p:nvSpPr>
          <p:cNvPr id="202" name="Google Shape;202;p33"/>
          <p:cNvSpPr txBox="1"/>
          <p:nvPr/>
        </p:nvSpPr>
        <p:spPr>
          <a:xfrm>
            <a:off x="322375" y="1511525"/>
            <a:ext cx="1167600" cy="14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D7537B"/>
                </a:solidFill>
                <a:latin typeface="Open Sans"/>
                <a:ea typeface="Open Sans"/>
                <a:cs typeface="Open Sans"/>
                <a:sym typeface="Open Sans"/>
              </a:rPr>
              <a:t>Where does CO</a:t>
            </a:r>
            <a:r>
              <a:rPr b="1" baseline="-25000" lang="en" sz="1800">
                <a:solidFill>
                  <a:srgbClr val="D7537B"/>
                </a:solidFill>
                <a:latin typeface="Open Sans"/>
                <a:ea typeface="Open Sans"/>
                <a:cs typeface="Open Sans"/>
                <a:sym typeface="Open Sans"/>
              </a:rPr>
              <a:t>2 </a:t>
            </a:r>
            <a:r>
              <a:rPr b="1" lang="en" sz="1800">
                <a:solidFill>
                  <a:srgbClr val="D7537B"/>
                </a:solidFill>
                <a:latin typeface="Open Sans"/>
                <a:ea typeface="Open Sans"/>
                <a:cs typeface="Open Sans"/>
                <a:sym typeface="Open Sans"/>
              </a:rPr>
              <a:t>go?</a:t>
            </a:r>
            <a:endParaRPr b="1" sz="1800">
              <a:solidFill>
                <a:srgbClr val="D7537B"/>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3: Krebs Cycle</a:t>
            </a:r>
            <a:endParaRPr/>
          </a:p>
        </p:txBody>
      </p:sp>
      <p:sp>
        <p:nvSpPr>
          <p:cNvPr id="208" name="Google Shape;208;p34"/>
          <p:cNvSpPr txBox="1"/>
          <p:nvPr>
            <p:ph idx="1" type="body"/>
          </p:nvPr>
        </p:nvSpPr>
        <p:spPr>
          <a:xfrm>
            <a:off x="311700" y="1152475"/>
            <a:ext cx="4187100" cy="3618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AKA Citric Acid Cycle </a:t>
            </a:r>
            <a:endParaRPr/>
          </a:p>
          <a:p>
            <a:pPr indent="-342900" lvl="0" marL="457200" rtl="0" algn="l">
              <a:spcBef>
                <a:spcPts val="0"/>
              </a:spcBef>
              <a:spcAft>
                <a:spcPts val="0"/>
              </a:spcAft>
              <a:buSzPts val="1800"/>
              <a:buChar char="●"/>
            </a:pPr>
            <a:r>
              <a:rPr lang="en"/>
              <a:t>Identified by Hans Krebs in 1937 </a:t>
            </a:r>
            <a:endParaRPr/>
          </a:p>
          <a:p>
            <a:pPr indent="-342900" lvl="0" marL="457200" rtl="0" algn="l">
              <a:spcBef>
                <a:spcPts val="0"/>
              </a:spcBef>
              <a:spcAft>
                <a:spcPts val="0"/>
              </a:spcAft>
              <a:buSzPts val="1800"/>
              <a:buChar char="●"/>
            </a:pPr>
            <a:r>
              <a:rPr lang="en"/>
              <a:t>Happens 2x per 1 glucose</a:t>
            </a:r>
            <a:endParaRPr/>
          </a:p>
          <a:p>
            <a:pPr indent="-342900" lvl="0" marL="457200" rtl="0" algn="l">
              <a:spcBef>
                <a:spcPts val="0"/>
              </a:spcBef>
              <a:spcAft>
                <a:spcPts val="0"/>
              </a:spcAft>
              <a:buSzPts val="1800"/>
              <a:buChar char="●"/>
            </a:pPr>
            <a:r>
              <a:rPr lang="en">
                <a:solidFill>
                  <a:schemeClr val="accent6"/>
                </a:solidFill>
              </a:rPr>
              <a:t>Goal:</a:t>
            </a:r>
            <a:r>
              <a:rPr lang="en">
                <a:solidFill>
                  <a:schemeClr val="accent1"/>
                </a:solidFill>
              </a:rPr>
              <a:t> </a:t>
            </a:r>
            <a:r>
              <a:rPr lang="en"/>
              <a:t>Make a large </a:t>
            </a:r>
            <a:r>
              <a:rPr lang="en"/>
              <a:t>amount</a:t>
            </a:r>
            <a:r>
              <a:rPr lang="en"/>
              <a:t> of electron carriers for ETC</a:t>
            </a:r>
            <a:endParaRPr/>
          </a:p>
          <a:p>
            <a:pPr indent="-342900" lvl="0" marL="457200" rtl="0" algn="l">
              <a:spcBef>
                <a:spcPts val="0"/>
              </a:spcBef>
              <a:spcAft>
                <a:spcPts val="0"/>
              </a:spcAft>
              <a:buSzPts val="1800"/>
              <a:buChar char="●"/>
            </a:pPr>
            <a:r>
              <a:rPr lang="en"/>
              <a:t>Acetyl-CoA is </a:t>
            </a:r>
            <a:r>
              <a:rPr lang="en">
                <a:solidFill>
                  <a:srgbClr val="D7537B"/>
                </a:solidFill>
              </a:rPr>
              <a:t>oxidized</a:t>
            </a:r>
            <a:r>
              <a:rPr lang="en"/>
              <a:t> repeatedly in order to </a:t>
            </a:r>
            <a:r>
              <a:rPr lang="en">
                <a:solidFill>
                  <a:schemeClr val="accent1"/>
                </a:solidFill>
              </a:rPr>
              <a:t>reduce </a:t>
            </a:r>
            <a:r>
              <a:rPr lang="en"/>
              <a:t>electron carriers (NAD+ and FAD)</a:t>
            </a:r>
            <a:endParaRPr/>
          </a:p>
        </p:txBody>
      </p:sp>
      <p:pic>
        <p:nvPicPr>
          <p:cNvPr descr="Image result for cellular respiration diagram" id="209" name="Google Shape;209;p34"/>
          <p:cNvPicPr preferRelativeResize="0"/>
          <p:nvPr/>
        </p:nvPicPr>
        <p:blipFill rotWithShape="1">
          <a:blip r:embed="rId3">
            <a:alphaModFix/>
          </a:blip>
          <a:srcRect b="0" l="0" r="0" t="40"/>
          <a:stretch/>
        </p:blipFill>
        <p:spPr>
          <a:xfrm>
            <a:off x="4643624" y="1166850"/>
            <a:ext cx="4291200" cy="2809800"/>
          </a:xfrm>
          <a:prstGeom prst="round2DiagRect">
            <a:avLst>
              <a:gd fmla="val 4860" name="adj1"/>
              <a:gd fmla="val 0" name="adj2"/>
            </a:avLst>
          </a:prstGeom>
          <a:noFill/>
          <a:ln cap="sq" cmpd="sng" w="19050">
            <a:solidFill>
              <a:srgbClr val="B0BFC7">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sp>
        <p:nvSpPr>
          <p:cNvPr id="210" name="Google Shape;210;p34"/>
          <p:cNvSpPr/>
          <p:nvPr/>
        </p:nvSpPr>
        <p:spPr>
          <a:xfrm>
            <a:off x="6741000" y="1296600"/>
            <a:ext cx="1081800" cy="2680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Stages of the Kreb Cycle</a:t>
            </a:r>
            <a:endParaRPr/>
          </a:p>
        </p:txBody>
      </p:sp>
      <p:sp>
        <p:nvSpPr>
          <p:cNvPr id="216" name="Google Shape;216;p35"/>
          <p:cNvSpPr txBox="1"/>
          <p:nvPr>
            <p:ph idx="1" type="body"/>
          </p:nvPr>
        </p:nvSpPr>
        <p:spPr>
          <a:xfrm>
            <a:off x="311700" y="1152475"/>
            <a:ext cx="5634000" cy="3633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Acetyl-CoA is combined with </a:t>
            </a:r>
            <a:r>
              <a:rPr lang="en"/>
              <a:t>Oxaloacetate</a:t>
            </a:r>
            <a:r>
              <a:rPr lang="en"/>
              <a:t> to form </a:t>
            </a:r>
            <a:r>
              <a:rPr lang="en">
                <a:solidFill>
                  <a:schemeClr val="accent6"/>
                </a:solidFill>
              </a:rPr>
              <a:t>Citric Acid </a:t>
            </a:r>
            <a:r>
              <a:rPr lang="en"/>
              <a:t>and </a:t>
            </a:r>
            <a:r>
              <a:rPr lang="en"/>
              <a:t>CoA is removed </a:t>
            </a:r>
            <a:endParaRPr/>
          </a:p>
          <a:p>
            <a:pPr indent="-342900" lvl="0" marL="457200" rtl="0" algn="l">
              <a:spcBef>
                <a:spcPts val="0"/>
              </a:spcBef>
              <a:spcAft>
                <a:spcPts val="0"/>
              </a:spcAft>
              <a:buSzPts val="1800"/>
              <a:buAutoNum type="arabicPeriod"/>
            </a:pPr>
            <a:r>
              <a:rPr lang="en"/>
              <a:t>Citric acid is </a:t>
            </a:r>
            <a:r>
              <a:rPr lang="en"/>
              <a:t>oxidized</a:t>
            </a:r>
            <a:r>
              <a:rPr lang="en"/>
              <a:t> many times and electrons are transferred to electron carriers (NAD+ and FAD)</a:t>
            </a:r>
            <a:endParaRPr/>
          </a:p>
          <a:p>
            <a:pPr indent="-317500" lvl="1" marL="914400" rtl="0" algn="l">
              <a:spcBef>
                <a:spcPts val="0"/>
              </a:spcBef>
              <a:spcAft>
                <a:spcPts val="0"/>
              </a:spcAft>
              <a:buSzPts val="1400"/>
              <a:buChar char="○"/>
            </a:pPr>
            <a:r>
              <a:rPr lang="en"/>
              <a:t>Carbons are also </a:t>
            </a:r>
            <a:r>
              <a:rPr lang="en"/>
              <a:t>removed</a:t>
            </a:r>
            <a:r>
              <a:rPr lang="en"/>
              <a:t> in this process and CO</a:t>
            </a:r>
            <a:r>
              <a:rPr baseline="-25000" lang="en"/>
              <a:t>2</a:t>
            </a:r>
            <a:r>
              <a:rPr lang="en"/>
              <a:t> is released</a:t>
            </a:r>
            <a:endParaRPr/>
          </a:p>
          <a:p>
            <a:pPr indent="-342900" lvl="0" marL="457200" rtl="0" algn="l">
              <a:spcBef>
                <a:spcPts val="0"/>
              </a:spcBef>
              <a:spcAft>
                <a:spcPts val="0"/>
              </a:spcAft>
              <a:buSzPts val="1800"/>
              <a:buAutoNum type="arabicPeriod"/>
            </a:pPr>
            <a:r>
              <a:rPr lang="en"/>
              <a:t>Molecules are rearranged to form oxaloacetate again to be </a:t>
            </a:r>
            <a:r>
              <a:rPr lang="en" u="sng"/>
              <a:t>continuously</a:t>
            </a:r>
            <a:r>
              <a:rPr lang="en"/>
              <a:t> used in the Krebs Cycle</a:t>
            </a:r>
            <a:endParaRPr/>
          </a:p>
          <a:p>
            <a:pPr indent="0" lvl="0" marL="914400" rtl="0" algn="l">
              <a:spcBef>
                <a:spcPts val="1200"/>
              </a:spcBef>
              <a:spcAft>
                <a:spcPts val="1200"/>
              </a:spcAft>
              <a:buNone/>
            </a:pPr>
            <a:r>
              <a:t/>
            </a:r>
            <a:endParaRPr/>
          </a:p>
        </p:txBody>
      </p:sp>
      <p:pic>
        <p:nvPicPr>
          <p:cNvPr id="217" name="Google Shape;217;p35"/>
          <p:cNvPicPr preferRelativeResize="0"/>
          <p:nvPr/>
        </p:nvPicPr>
        <p:blipFill>
          <a:blip r:embed="rId3">
            <a:alphaModFix/>
          </a:blip>
          <a:stretch>
            <a:fillRect/>
          </a:stretch>
        </p:blipFill>
        <p:spPr>
          <a:xfrm>
            <a:off x="6370625" y="970738"/>
            <a:ext cx="2363100" cy="320203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Krebs Cycle Video</a:t>
            </a:r>
            <a:endParaRPr/>
          </a:p>
        </p:txBody>
      </p:sp>
      <p:pic>
        <p:nvPicPr>
          <p:cNvPr descr="In this third video of our series on aerobic respiration, we will learn about the Krebs cycle (also known as the citric acid cycle).   This is a critical stage in aerobic respiration that completes the oxidation and breakdown of what is left of sugar, making many electron carriers as well as carbon dioxide and a bit of ATP.  This goes along with the Respiration Interactive activity at BioMan Biology, so you might want to start there: https://biomanbio.com/HTML5GamesandLabs/PhotoRespgames/respiration-interactive-page.html &#10;&#10;Credits: music from https://www.bensound.com/" id="223" name="Google Shape;223;p36" title="The Krebs Cycle Explained (Aerobic Respiration)">
            <a:hlinkClick r:id="rId3"/>
          </p:cNvPr>
          <p:cNvPicPr preferRelativeResize="0"/>
          <p:nvPr/>
        </p:nvPicPr>
        <p:blipFill>
          <a:blip r:embed="rId4">
            <a:alphaModFix/>
          </a:blip>
          <a:stretch>
            <a:fillRect/>
          </a:stretch>
        </p:blipFill>
        <p:spPr>
          <a:xfrm>
            <a:off x="1630850" y="1127275"/>
            <a:ext cx="5882275" cy="330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227" name="Shape 227"/>
        <p:cNvGrpSpPr/>
        <p:nvPr/>
      </p:nvGrpSpPr>
      <p:grpSpPr>
        <a:xfrm>
          <a:off x="0" y="0"/>
          <a:ext cx="0" cy="0"/>
          <a:chOff x="0" y="0"/>
          <a:chExt cx="0" cy="0"/>
        </a:xfrm>
      </p:grpSpPr>
      <p:pic>
        <p:nvPicPr>
          <p:cNvPr id="228" name="Google Shape;228;p37"/>
          <p:cNvPicPr preferRelativeResize="0"/>
          <p:nvPr/>
        </p:nvPicPr>
        <p:blipFill rotWithShape="1">
          <a:blip r:embed="rId3">
            <a:alphaModFix/>
          </a:blip>
          <a:srcRect b="0" l="0" r="0" t="22738"/>
          <a:stretch/>
        </p:blipFill>
        <p:spPr>
          <a:xfrm>
            <a:off x="1986625" y="815562"/>
            <a:ext cx="5170750" cy="3512375"/>
          </a:xfrm>
          <a:prstGeom prst="rect">
            <a:avLst/>
          </a:prstGeom>
          <a:noFill/>
          <a:ln>
            <a:noFill/>
          </a:ln>
        </p:spPr>
      </p:pic>
      <p:sp>
        <p:nvSpPr>
          <p:cNvPr id="229" name="Google Shape;229;p37"/>
          <p:cNvSpPr/>
          <p:nvPr/>
        </p:nvSpPr>
        <p:spPr>
          <a:xfrm>
            <a:off x="4018800" y="1532975"/>
            <a:ext cx="1038900" cy="19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Oxaloacetate</a:t>
            </a:r>
            <a:endParaRPr sz="900">
              <a:latin typeface="Open Sans"/>
              <a:ea typeface="Open Sans"/>
              <a:cs typeface="Open Sans"/>
              <a:sym typeface="Open Sans"/>
            </a:endParaRPr>
          </a:p>
        </p:txBody>
      </p:sp>
      <p:sp>
        <p:nvSpPr>
          <p:cNvPr id="230" name="Google Shape;230;p37"/>
          <p:cNvSpPr txBox="1"/>
          <p:nvPr/>
        </p:nvSpPr>
        <p:spPr>
          <a:xfrm>
            <a:off x="286550" y="257900"/>
            <a:ext cx="1440000" cy="113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5"/>
                </a:solidFill>
                <a:latin typeface="Open Sans"/>
                <a:ea typeface="Open Sans"/>
                <a:cs typeface="Open Sans"/>
                <a:sym typeface="Open Sans"/>
              </a:rPr>
              <a:t>Per 1 glucose Krebs cycle spins 2x!</a:t>
            </a:r>
            <a:endParaRPr b="1" sz="1800">
              <a:solidFill>
                <a:schemeClr val="accent5"/>
              </a:solidFill>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4" name="Shape 234"/>
        <p:cNvGrpSpPr/>
        <p:nvPr/>
      </p:nvGrpSpPr>
      <p:grpSpPr>
        <a:xfrm>
          <a:off x="0" y="0"/>
          <a:ext cx="0" cy="0"/>
          <a:chOff x="0" y="0"/>
          <a:chExt cx="0" cy="0"/>
        </a:xfrm>
      </p:grpSpPr>
      <p:pic>
        <p:nvPicPr>
          <p:cNvPr id="235" name="Google Shape;235;p38"/>
          <p:cNvPicPr preferRelativeResize="0"/>
          <p:nvPr/>
        </p:nvPicPr>
        <p:blipFill rotWithShape="1">
          <a:blip r:embed="rId3">
            <a:alphaModFix/>
          </a:blip>
          <a:srcRect b="0" l="0" r="0" t="22738"/>
          <a:stretch/>
        </p:blipFill>
        <p:spPr>
          <a:xfrm>
            <a:off x="1986625" y="815562"/>
            <a:ext cx="5170750" cy="3512375"/>
          </a:xfrm>
          <a:prstGeom prst="rect">
            <a:avLst/>
          </a:prstGeom>
          <a:noFill/>
          <a:ln>
            <a:noFill/>
          </a:ln>
        </p:spPr>
      </p:pic>
      <p:sp>
        <p:nvSpPr>
          <p:cNvPr id="236" name="Google Shape;236;p38"/>
          <p:cNvSpPr txBox="1"/>
          <p:nvPr/>
        </p:nvSpPr>
        <p:spPr>
          <a:xfrm>
            <a:off x="6311175" y="1532975"/>
            <a:ext cx="252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D7537B"/>
                </a:solidFill>
                <a:latin typeface="Open Sans"/>
                <a:ea typeface="Open Sans"/>
                <a:cs typeface="Open Sans"/>
                <a:sym typeface="Open Sans"/>
              </a:rPr>
              <a:t>← Oxidized and decarboxylated</a:t>
            </a:r>
            <a:endParaRPr b="1" sz="1000">
              <a:solidFill>
                <a:schemeClr val="lt1"/>
              </a:solidFill>
              <a:latin typeface="Open Sans"/>
              <a:ea typeface="Open Sans"/>
              <a:cs typeface="Open Sans"/>
              <a:sym typeface="Open Sans"/>
            </a:endParaRPr>
          </a:p>
        </p:txBody>
      </p:sp>
      <p:sp>
        <p:nvSpPr>
          <p:cNvPr id="237" name="Google Shape;237;p38"/>
          <p:cNvSpPr txBox="1"/>
          <p:nvPr/>
        </p:nvSpPr>
        <p:spPr>
          <a:xfrm>
            <a:off x="6370450" y="2996325"/>
            <a:ext cx="25215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D7537B"/>
                </a:solidFill>
                <a:latin typeface="Open Sans"/>
                <a:ea typeface="Open Sans"/>
                <a:cs typeface="Open Sans"/>
                <a:sym typeface="Open Sans"/>
              </a:rPr>
              <a:t>← Oxidized and decarboxylated</a:t>
            </a:r>
            <a:endParaRPr b="1" sz="1000">
              <a:solidFill>
                <a:schemeClr val="lt1"/>
              </a:solidFill>
              <a:latin typeface="Open Sans"/>
              <a:ea typeface="Open Sans"/>
              <a:cs typeface="Open Sans"/>
              <a:sym typeface="Open Sans"/>
            </a:endParaRPr>
          </a:p>
        </p:txBody>
      </p:sp>
      <p:sp>
        <p:nvSpPr>
          <p:cNvPr id="238" name="Google Shape;238;p38"/>
          <p:cNvSpPr txBox="1"/>
          <p:nvPr/>
        </p:nvSpPr>
        <p:spPr>
          <a:xfrm>
            <a:off x="5568125" y="861550"/>
            <a:ext cx="34653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D7537B"/>
                </a:solidFill>
                <a:latin typeface="Open Sans"/>
                <a:ea typeface="Open Sans"/>
                <a:cs typeface="Open Sans"/>
                <a:sym typeface="Open Sans"/>
              </a:rPr>
              <a:t>← CoA removed and combines with </a:t>
            </a:r>
            <a:r>
              <a:rPr b="1" lang="en" sz="1000">
                <a:solidFill>
                  <a:srgbClr val="D7537B"/>
                </a:solidFill>
                <a:latin typeface="Open Sans"/>
                <a:ea typeface="Open Sans"/>
                <a:cs typeface="Open Sans"/>
                <a:sym typeface="Open Sans"/>
              </a:rPr>
              <a:t>Oxaloacetate</a:t>
            </a:r>
            <a:endParaRPr b="1" sz="1000">
              <a:solidFill>
                <a:schemeClr val="lt1"/>
              </a:solidFill>
              <a:latin typeface="Open Sans"/>
              <a:ea typeface="Open Sans"/>
              <a:cs typeface="Open Sans"/>
              <a:sym typeface="Open Sans"/>
            </a:endParaRPr>
          </a:p>
        </p:txBody>
      </p:sp>
      <p:sp>
        <p:nvSpPr>
          <p:cNvPr id="239" name="Google Shape;239;p38"/>
          <p:cNvSpPr/>
          <p:nvPr/>
        </p:nvSpPr>
        <p:spPr>
          <a:xfrm>
            <a:off x="4018800" y="1532975"/>
            <a:ext cx="1038900" cy="19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latin typeface="Open Sans"/>
                <a:ea typeface="Open Sans"/>
                <a:cs typeface="Open Sans"/>
                <a:sym typeface="Open Sans"/>
              </a:rPr>
              <a:t>Oxaloacetate</a:t>
            </a:r>
            <a:endParaRPr sz="900">
              <a:latin typeface="Open Sans"/>
              <a:ea typeface="Open Sans"/>
              <a:cs typeface="Open Sans"/>
              <a:sym typeface="Open Sans"/>
            </a:endParaRPr>
          </a:p>
        </p:txBody>
      </p:sp>
      <p:sp>
        <p:nvSpPr>
          <p:cNvPr id="240" name="Google Shape;240;p38"/>
          <p:cNvSpPr txBox="1"/>
          <p:nvPr/>
        </p:nvSpPr>
        <p:spPr>
          <a:xfrm>
            <a:off x="286550" y="257900"/>
            <a:ext cx="1440000" cy="113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5"/>
                </a:solidFill>
                <a:latin typeface="Open Sans"/>
                <a:ea typeface="Open Sans"/>
                <a:cs typeface="Open Sans"/>
                <a:sym typeface="Open Sans"/>
              </a:rPr>
              <a:t>Per 1 glucose Krebs cycle spins 2x!</a:t>
            </a:r>
            <a:endParaRPr b="1" sz="1800">
              <a:solidFill>
                <a:schemeClr val="accent5"/>
              </a:solidFill>
              <a:latin typeface="Open Sans"/>
              <a:ea typeface="Open Sans"/>
              <a:cs typeface="Open Sans"/>
              <a:sym typeface="Open Sans"/>
            </a:endParaRPr>
          </a:p>
        </p:txBody>
      </p:sp>
      <p:sp>
        <p:nvSpPr>
          <p:cNvPr id="241" name="Google Shape;241;p38"/>
          <p:cNvSpPr txBox="1"/>
          <p:nvPr/>
        </p:nvSpPr>
        <p:spPr>
          <a:xfrm>
            <a:off x="3335050" y="4423825"/>
            <a:ext cx="11637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D7537B"/>
                </a:solidFill>
                <a:latin typeface="Open Sans"/>
                <a:ea typeface="Open Sans"/>
                <a:cs typeface="Open Sans"/>
                <a:sym typeface="Open Sans"/>
              </a:rPr>
              <a:t>ATP formation</a:t>
            </a:r>
            <a:endParaRPr b="1" sz="1000">
              <a:solidFill>
                <a:schemeClr val="lt1"/>
              </a:solidFill>
              <a:latin typeface="Open Sans"/>
              <a:ea typeface="Open Sans"/>
              <a:cs typeface="Open Sans"/>
              <a:sym typeface="Open Sans"/>
            </a:endParaRPr>
          </a:p>
        </p:txBody>
      </p:sp>
      <p:sp>
        <p:nvSpPr>
          <p:cNvPr id="242" name="Google Shape;242;p38"/>
          <p:cNvSpPr txBox="1"/>
          <p:nvPr/>
        </p:nvSpPr>
        <p:spPr>
          <a:xfrm>
            <a:off x="2022443" y="2888852"/>
            <a:ext cx="13110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D7537B"/>
                </a:solidFill>
                <a:latin typeface="Open Sans"/>
                <a:ea typeface="Open Sans"/>
                <a:cs typeface="Open Sans"/>
                <a:sym typeface="Open Sans"/>
              </a:rPr>
              <a:t>Oxidized again →</a:t>
            </a:r>
            <a:endParaRPr b="1" sz="1000">
              <a:solidFill>
                <a:schemeClr val="lt1"/>
              </a:solidFill>
              <a:latin typeface="Open Sans"/>
              <a:ea typeface="Open Sans"/>
              <a:cs typeface="Open Sans"/>
              <a:sym typeface="Open Sans"/>
            </a:endParaRPr>
          </a:p>
        </p:txBody>
      </p:sp>
      <p:sp>
        <p:nvSpPr>
          <p:cNvPr id="243" name="Google Shape;243;p38"/>
          <p:cNvSpPr txBox="1"/>
          <p:nvPr/>
        </p:nvSpPr>
        <p:spPr>
          <a:xfrm>
            <a:off x="608903" y="2110000"/>
            <a:ext cx="20847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6AA84F"/>
                </a:solidFill>
                <a:latin typeface="Open Sans"/>
                <a:ea typeface="Open Sans"/>
                <a:cs typeface="Open Sans"/>
                <a:sym typeface="Open Sans"/>
              </a:rPr>
              <a:t>Reduction of electron carriers →</a:t>
            </a:r>
            <a:endParaRPr b="1" sz="900">
              <a:solidFill>
                <a:srgbClr val="6AA84F"/>
              </a:solidFill>
              <a:latin typeface="Open Sans"/>
              <a:ea typeface="Open Sans"/>
              <a:cs typeface="Open Sans"/>
              <a:sym typeface="Open Sans"/>
            </a:endParaRPr>
          </a:p>
        </p:txBody>
      </p:sp>
      <p:sp>
        <p:nvSpPr>
          <p:cNvPr id="244" name="Google Shape;244;p38"/>
          <p:cNvSpPr txBox="1"/>
          <p:nvPr/>
        </p:nvSpPr>
        <p:spPr>
          <a:xfrm>
            <a:off x="6948728" y="2298200"/>
            <a:ext cx="20847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6AA84F"/>
                </a:solidFill>
                <a:latin typeface="Open Sans"/>
                <a:ea typeface="Open Sans"/>
                <a:cs typeface="Open Sans"/>
                <a:sym typeface="Open Sans"/>
              </a:rPr>
              <a:t>← </a:t>
            </a:r>
            <a:r>
              <a:rPr b="1" lang="en" sz="900">
                <a:solidFill>
                  <a:srgbClr val="6AA84F"/>
                </a:solidFill>
                <a:latin typeface="Open Sans"/>
                <a:ea typeface="Open Sans"/>
                <a:cs typeface="Open Sans"/>
                <a:sym typeface="Open Sans"/>
              </a:rPr>
              <a:t>Reduction of electron carriers</a:t>
            </a:r>
            <a:endParaRPr b="1" sz="900">
              <a:solidFill>
                <a:srgbClr val="6AA84F"/>
              </a:solidFill>
              <a:latin typeface="Open Sans"/>
              <a:ea typeface="Open Sans"/>
              <a:cs typeface="Open Sans"/>
              <a:sym typeface="Open Sans"/>
            </a:endParaRPr>
          </a:p>
        </p:txBody>
      </p:sp>
      <p:sp>
        <p:nvSpPr>
          <p:cNvPr id="245" name="Google Shape;245;p38"/>
          <p:cNvSpPr txBox="1"/>
          <p:nvPr/>
        </p:nvSpPr>
        <p:spPr>
          <a:xfrm>
            <a:off x="6413403" y="4012625"/>
            <a:ext cx="20847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6AA84F"/>
                </a:solidFill>
                <a:latin typeface="Open Sans"/>
                <a:ea typeface="Open Sans"/>
                <a:cs typeface="Open Sans"/>
                <a:sym typeface="Open Sans"/>
              </a:rPr>
              <a:t>← Reduction of electron carriers</a:t>
            </a:r>
            <a:endParaRPr b="1" sz="900">
              <a:solidFill>
                <a:srgbClr val="6AA84F"/>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the Krebs Cycle</a:t>
            </a:r>
            <a:endParaRPr/>
          </a:p>
        </p:txBody>
      </p:sp>
      <p:sp>
        <p:nvSpPr>
          <p:cNvPr id="251" name="Google Shape;251;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Spins </a:t>
            </a:r>
            <a:r>
              <a:rPr b="1" lang="en" u="sng">
                <a:solidFill>
                  <a:schemeClr val="accent1"/>
                </a:solidFill>
              </a:rPr>
              <a:t>2x</a:t>
            </a:r>
            <a:r>
              <a:rPr lang="en"/>
              <a:t> per 1 glucose</a:t>
            </a:r>
            <a:endParaRPr/>
          </a:p>
          <a:p>
            <a:pPr indent="-342900" lvl="0" marL="457200" rtl="0" algn="l">
              <a:spcBef>
                <a:spcPts val="0"/>
              </a:spcBef>
              <a:spcAft>
                <a:spcPts val="0"/>
              </a:spcAft>
              <a:buSzPts val="1800"/>
              <a:buChar char="●"/>
            </a:pPr>
            <a:r>
              <a:rPr lang="en"/>
              <a:t>Input: 2 Acetyl CoA</a:t>
            </a:r>
            <a:endParaRPr/>
          </a:p>
          <a:p>
            <a:pPr indent="-342900" lvl="0" marL="457200" rtl="0" algn="l">
              <a:spcBef>
                <a:spcPts val="0"/>
              </a:spcBef>
              <a:spcAft>
                <a:spcPts val="0"/>
              </a:spcAft>
              <a:buSzPts val="1800"/>
              <a:buChar char="●"/>
            </a:pPr>
            <a:r>
              <a:rPr lang="en"/>
              <a:t>Outputs: </a:t>
            </a:r>
            <a:endParaRPr/>
          </a:p>
          <a:p>
            <a:pPr indent="-317500" lvl="1" marL="914400" rtl="0" algn="l">
              <a:spcBef>
                <a:spcPts val="0"/>
              </a:spcBef>
              <a:spcAft>
                <a:spcPts val="0"/>
              </a:spcAft>
              <a:buSzPts val="1400"/>
              <a:buChar char="○"/>
            </a:pPr>
            <a:r>
              <a:rPr lang="en"/>
              <a:t>2 ATP</a:t>
            </a:r>
            <a:endParaRPr/>
          </a:p>
          <a:p>
            <a:pPr indent="-317500" lvl="1" marL="914400" rtl="0" algn="l">
              <a:spcBef>
                <a:spcPts val="0"/>
              </a:spcBef>
              <a:spcAft>
                <a:spcPts val="0"/>
              </a:spcAft>
              <a:buSzPts val="1400"/>
              <a:buChar char="○"/>
            </a:pPr>
            <a:r>
              <a:rPr lang="en"/>
              <a:t>6 NADH</a:t>
            </a:r>
            <a:endParaRPr/>
          </a:p>
          <a:p>
            <a:pPr indent="-317500" lvl="1" marL="914400" rtl="0" algn="l">
              <a:spcBef>
                <a:spcPts val="0"/>
              </a:spcBef>
              <a:spcAft>
                <a:spcPts val="0"/>
              </a:spcAft>
              <a:buSzPts val="1400"/>
              <a:buChar char="○"/>
            </a:pPr>
            <a:r>
              <a:rPr lang="en"/>
              <a:t>2 FADH</a:t>
            </a:r>
            <a:r>
              <a:rPr baseline="-25000" lang="en"/>
              <a:t>2</a:t>
            </a:r>
            <a:endParaRPr baseline="-25000"/>
          </a:p>
          <a:p>
            <a:pPr indent="0" lvl="0" marL="914400" rtl="0" algn="l">
              <a:spcBef>
                <a:spcPts val="1200"/>
              </a:spcBef>
              <a:spcAft>
                <a:spcPts val="0"/>
              </a:spcAft>
              <a:buNone/>
            </a:pPr>
            <a:r>
              <a:t/>
            </a:r>
            <a:endParaRPr baseline="-25000"/>
          </a:p>
          <a:p>
            <a:pPr indent="0" lvl="0" marL="0" rtl="0" algn="l">
              <a:spcBef>
                <a:spcPts val="1200"/>
              </a:spcBef>
              <a:spcAft>
                <a:spcPts val="1200"/>
              </a:spcAft>
              <a:buNone/>
            </a:pPr>
            <a:r>
              <a:rPr b="1" lang="en">
                <a:solidFill>
                  <a:srgbClr val="00FFFF"/>
                </a:solidFill>
              </a:rPr>
              <a:t>Where will NADH and </a:t>
            </a:r>
            <a:r>
              <a:rPr b="1" lang="en">
                <a:solidFill>
                  <a:srgbClr val="00FFFF"/>
                </a:solidFill>
              </a:rPr>
              <a:t>FADH</a:t>
            </a:r>
            <a:r>
              <a:rPr b="1" baseline="-25000" lang="en">
                <a:solidFill>
                  <a:srgbClr val="00FFFF"/>
                </a:solidFill>
              </a:rPr>
              <a:t>2</a:t>
            </a:r>
            <a:r>
              <a:rPr b="1" lang="en">
                <a:solidFill>
                  <a:srgbClr val="00FFFF"/>
                </a:solidFill>
              </a:rPr>
              <a:t> go? To the ETC to be used</a:t>
            </a:r>
            <a:r>
              <a:rPr b="1" lang="en" sz="1400">
                <a:solidFill>
                  <a:srgbClr val="00FFFF"/>
                </a:solidFill>
              </a:rPr>
              <a:t> </a:t>
            </a:r>
            <a:r>
              <a:rPr b="1" lang="en">
                <a:solidFill>
                  <a:srgbClr val="00FFFF"/>
                </a:solidFill>
              </a:rPr>
              <a:t>to make A LOT of ATP</a:t>
            </a:r>
            <a:endParaRPr b="1">
              <a:solidFill>
                <a:srgbClr val="00FFFF"/>
              </a:solidFill>
            </a:endParaRPr>
          </a:p>
        </p:txBody>
      </p:sp>
      <p:pic>
        <p:nvPicPr>
          <p:cNvPr descr="2. Amoeba Sisters Cellular Respiration (Modified) - Quizizz" id="252" name="Google Shape;252;p39"/>
          <p:cNvPicPr preferRelativeResize="0"/>
          <p:nvPr/>
        </p:nvPicPr>
        <p:blipFill rotWithShape="1">
          <a:blip r:embed="rId3">
            <a:alphaModFix/>
          </a:blip>
          <a:srcRect b="19179" l="1179" r="54515" t="57847"/>
          <a:stretch/>
        </p:blipFill>
        <p:spPr>
          <a:xfrm>
            <a:off x="6137250" y="3976675"/>
            <a:ext cx="2853125" cy="11095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0"/>
          <p:cNvSpPr txBox="1"/>
          <p:nvPr>
            <p:ph type="title"/>
          </p:nvPr>
        </p:nvSpPr>
        <p:spPr>
          <a:xfrm>
            <a:off x="2044800" y="50150"/>
            <a:ext cx="5054400" cy="13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3900">
                <a:latin typeface="Oswald"/>
                <a:ea typeface="Oswald"/>
                <a:cs typeface="Oswald"/>
                <a:sym typeface="Oswald"/>
              </a:rPr>
              <a:t>Stage 4: The ETC</a:t>
            </a:r>
            <a:endParaRPr b="1" sz="3900">
              <a:latin typeface="Oswald"/>
              <a:ea typeface="Oswald"/>
              <a:cs typeface="Oswald"/>
              <a:sym typeface="Oswald"/>
            </a:endParaRPr>
          </a:p>
        </p:txBody>
      </p:sp>
      <p:pic>
        <p:nvPicPr>
          <p:cNvPr id="258" name="Google Shape;258;p40"/>
          <p:cNvPicPr preferRelativeResize="0"/>
          <p:nvPr/>
        </p:nvPicPr>
        <p:blipFill>
          <a:blip r:embed="rId3">
            <a:alphaModFix/>
          </a:blip>
          <a:stretch>
            <a:fillRect/>
          </a:stretch>
        </p:blipFill>
        <p:spPr>
          <a:xfrm>
            <a:off x="962525" y="1295673"/>
            <a:ext cx="7218950" cy="3582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Reactions So Far</a:t>
            </a:r>
            <a:endParaRPr/>
          </a:p>
        </p:txBody>
      </p:sp>
      <p:sp>
        <p:nvSpPr>
          <p:cNvPr id="264" name="Google Shape;264;p41"/>
          <p:cNvSpPr txBox="1"/>
          <p:nvPr>
            <p:ph idx="1" type="body"/>
          </p:nvPr>
        </p:nvSpPr>
        <p:spPr>
          <a:xfrm>
            <a:off x="311700" y="1152475"/>
            <a:ext cx="8160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Outputs of Steps 1-3</a:t>
            </a:r>
            <a:endParaRPr b="1"/>
          </a:p>
          <a:p>
            <a:pPr indent="-317500" lvl="1" marL="914400" rtl="0" algn="l">
              <a:spcBef>
                <a:spcPts val="0"/>
              </a:spcBef>
              <a:spcAft>
                <a:spcPts val="0"/>
              </a:spcAft>
              <a:buSzPts val="1400"/>
              <a:buChar char="○"/>
            </a:pPr>
            <a:r>
              <a:rPr b="1" lang="en">
                <a:solidFill>
                  <a:schemeClr val="accent6"/>
                </a:solidFill>
              </a:rPr>
              <a:t>ONLY 4 ATP</a:t>
            </a:r>
            <a:r>
              <a:rPr lang="en"/>
              <a:t> → we need MUCH more to support multicellular organisms</a:t>
            </a:r>
            <a:endParaRPr/>
          </a:p>
          <a:p>
            <a:pPr indent="-317500" lvl="1" marL="914400" rtl="0" algn="l">
              <a:spcBef>
                <a:spcPts val="0"/>
              </a:spcBef>
              <a:spcAft>
                <a:spcPts val="0"/>
              </a:spcAft>
              <a:buSzPts val="1400"/>
              <a:buChar char="○"/>
            </a:pPr>
            <a:r>
              <a:rPr lang="en"/>
              <a:t>10 NADH</a:t>
            </a:r>
            <a:endParaRPr/>
          </a:p>
          <a:p>
            <a:pPr indent="-317500" lvl="1" marL="914400" rtl="0" algn="l">
              <a:spcBef>
                <a:spcPts val="0"/>
              </a:spcBef>
              <a:spcAft>
                <a:spcPts val="0"/>
              </a:spcAft>
              <a:buSzPts val="1400"/>
              <a:buChar char="○"/>
            </a:pPr>
            <a:r>
              <a:rPr lang="en"/>
              <a:t>2 FADH</a:t>
            </a:r>
            <a:r>
              <a:rPr baseline="-25000" lang="en"/>
              <a:t>2</a:t>
            </a:r>
            <a:endParaRPr/>
          </a:p>
          <a:p>
            <a:pPr indent="-342900" lvl="0" marL="457200" rtl="0" algn="l">
              <a:spcBef>
                <a:spcPts val="0"/>
              </a:spcBef>
              <a:spcAft>
                <a:spcPts val="0"/>
              </a:spcAft>
              <a:buSzPts val="1800"/>
              <a:buChar char="●"/>
            </a:pPr>
            <a:r>
              <a:rPr lang="en"/>
              <a:t>We now have many stored electrons and H+ ions (protons) that we will use to power the last step!</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Structures</a:t>
            </a:r>
            <a:r>
              <a:rPr lang="en"/>
              <a:t> of the ETC</a:t>
            </a:r>
            <a:endParaRPr/>
          </a:p>
        </p:txBody>
      </p:sp>
      <p:sp>
        <p:nvSpPr>
          <p:cNvPr id="270" name="Google Shape;270;p42"/>
          <p:cNvSpPr txBox="1"/>
          <p:nvPr>
            <p:ph idx="1" type="body"/>
          </p:nvPr>
        </p:nvSpPr>
        <p:spPr>
          <a:xfrm>
            <a:off x="232725" y="1059325"/>
            <a:ext cx="84780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Location of the ETC: </a:t>
            </a:r>
            <a:r>
              <a:rPr b="1" lang="en" sz="1600">
                <a:solidFill>
                  <a:srgbClr val="D7537B"/>
                </a:solidFill>
              </a:rPr>
              <a:t>Cristae</a:t>
            </a:r>
            <a:r>
              <a:rPr lang="en" sz="1600"/>
              <a:t> (folds of inner membrane)</a:t>
            </a:r>
            <a:endParaRPr sz="1600"/>
          </a:p>
          <a:p>
            <a:pPr indent="-330200" lvl="0" marL="457200" rtl="0" algn="l">
              <a:spcBef>
                <a:spcPts val="0"/>
              </a:spcBef>
              <a:spcAft>
                <a:spcPts val="0"/>
              </a:spcAft>
              <a:buSzPts val="1600"/>
              <a:buChar char="●"/>
            </a:pPr>
            <a:r>
              <a:rPr lang="en" sz="1600">
                <a:solidFill>
                  <a:schemeClr val="accent1"/>
                </a:solidFill>
              </a:rPr>
              <a:t>Electron transport chain</a:t>
            </a:r>
            <a:r>
              <a:rPr lang="en" sz="1600"/>
              <a:t>: series of protein complexes that move electrons and pump H+ ions from the matrix to the intermembrane space</a:t>
            </a:r>
            <a:endParaRPr sz="1600"/>
          </a:p>
          <a:p>
            <a:pPr indent="-330200" lvl="0" marL="457200" rtl="0" algn="l">
              <a:spcBef>
                <a:spcPts val="0"/>
              </a:spcBef>
              <a:spcAft>
                <a:spcPts val="0"/>
              </a:spcAft>
              <a:buSzPts val="1600"/>
              <a:buChar char="●"/>
            </a:pPr>
            <a:r>
              <a:rPr lang="en" sz="1600">
                <a:solidFill>
                  <a:schemeClr val="accent6"/>
                </a:solidFill>
              </a:rPr>
              <a:t>ATP Synthase</a:t>
            </a:r>
            <a:r>
              <a:rPr lang="en" sz="1600"/>
              <a:t>: an enzyme that </a:t>
            </a:r>
            <a:r>
              <a:rPr lang="en" sz="1600"/>
              <a:t>generates ATP</a:t>
            </a:r>
            <a:endParaRPr sz="1600"/>
          </a:p>
        </p:txBody>
      </p:sp>
      <p:pic>
        <p:nvPicPr>
          <p:cNvPr id="271" name="Google Shape;271;p42"/>
          <p:cNvPicPr preferRelativeResize="0"/>
          <p:nvPr/>
        </p:nvPicPr>
        <p:blipFill>
          <a:blip r:embed="rId3">
            <a:alphaModFix/>
          </a:blip>
          <a:stretch>
            <a:fillRect/>
          </a:stretch>
        </p:blipFill>
        <p:spPr>
          <a:xfrm>
            <a:off x="1673174" y="2471475"/>
            <a:ext cx="5797650" cy="25525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Stage 1: Building a Proton Gradient</a:t>
            </a:r>
            <a:endParaRPr/>
          </a:p>
        </p:txBody>
      </p:sp>
      <p:sp>
        <p:nvSpPr>
          <p:cNvPr id="277" name="Google Shape;277;p43"/>
          <p:cNvSpPr txBox="1"/>
          <p:nvPr>
            <p:ph idx="1" type="body"/>
          </p:nvPr>
        </p:nvSpPr>
        <p:spPr>
          <a:xfrm>
            <a:off x="311700" y="1152475"/>
            <a:ext cx="4144200" cy="3675900"/>
          </a:xfrm>
          <a:prstGeom prst="rect">
            <a:avLst/>
          </a:prstGeom>
        </p:spPr>
        <p:txBody>
          <a:bodyPr anchorCtr="0" anchor="t" bIns="91425" lIns="91425" spcFirstLastPara="1" rIns="91425" wrap="square" tIns="91425">
            <a:normAutofit/>
          </a:bodyPr>
          <a:lstStyle/>
          <a:p>
            <a:pPr indent="-327978" lvl="0" marL="457200" rtl="0" algn="l">
              <a:lnSpc>
                <a:spcPct val="115000"/>
              </a:lnSpc>
              <a:spcBef>
                <a:spcPts val="0"/>
              </a:spcBef>
              <a:spcAft>
                <a:spcPts val="0"/>
              </a:spcAft>
              <a:buSzPts val="1565"/>
              <a:buAutoNum type="arabicPeriod"/>
            </a:pPr>
            <a:r>
              <a:rPr b="1" lang="en" sz="1565"/>
              <a:t>H atoms</a:t>
            </a:r>
            <a:r>
              <a:rPr lang="en" sz="1565"/>
              <a:t> are removed from the electron carriers NADH and FADH2 </a:t>
            </a:r>
            <a:r>
              <a:rPr b="1" lang="en" sz="1565">
                <a:solidFill>
                  <a:schemeClr val="accent1"/>
                </a:solidFill>
              </a:rPr>
              <a:t>(oxidation)</a:t>
            </a:r>
            <a:endParaRPr b="1" sz="1565">
              <a:solidFill>
                <a:schemeClr val="accent1"/>
              </a:solidFill>
            </a:endParaRPr>
          </a:p>
          <a:p>
            <a:pPr indent="-304482" lvl="1" marL="914400" rtl="0" algn="l">
              <a:lnSpc>
                <a:spcPct val="115000"/>
              </a:lnSpc>
              <a:spcBef>
                <a:spcPts val="0"/>
              </a:spcBef>
              <a:spcAft>
                <a:spcPts val="0"/>
              </a:spcAft>
              <a:buSzPts val="1195"/>
              <a:buChar char="○"/>
            </a:pPr>
            <a:r>
              <a:rPr lang="en" sz="1195"/>
              <a:t>NAD+ and FAD can be </a:t>
            </a:r>
            <a:r>
              <a:rPr lang="en" sz="1195">
                <a:solidFill>
                  <a:srgbClr val="6AA84F"/>
                </a:solidFill>
              </a:rPr>
              <a:t>recycled</a:t>
            </a:r>
            <a:r>
              <a:rPr lang="en" sz="1195"/>
              <a:t> into previous steps!</a:t>
            </a:r>
            <a:endParaRPr sz="1195"/>
          </a:p>
          <a:p>
            <a:pPr indent="-327978" lvl="0" marL="457200" rtl="0" algn="l">
              <a:lnSpc>
                <a:spcPct val="115000"/>
              </a:lnSpc>
              <a:spcBef>
                <a:spcPts val="0"/>
              </a:spcBef>
              <a:spcAft>
                <a:spcPts val="0"/>
              </a:spcAft>
              <a:buSzPts val="1565"/>
              <a:buAutoNum type="arabicPeriod"/>
            </a:pPr>
            <a:r>
              <a:rPr lang="en" sz="1565"/>
              <a:t>Electrons delivered to the first protein in the ETC</a:t>
            </a:r>
            <a:endParaRPr sz="1565"/>
          </a:p>
          <a:p>
            <a:pPr indent="-327978" lvl="0" marL="457200" rtl="0" algn="l">
              <a:lnSpc>
                <a:spcPct val="115000"/>
              </a:lnSpc>
              <a:spcBef>
                <a:spcPts val="0"/>
              </a:spcBef>
              <a:spcAft>
                <a:spcPts val="0"/>
              </a:spcAft>
              <a:buSzPts val="1565"/>
              <a:buAutoNum type="arabicPeriod"/>
            </a:pPr>
            <a:r>
              <a:rPr lang="en" sz="1565"/>
              <a:t>Electrons move from one protein to the next along the inner membrane and energy is released. These proteins pump H+ (</a:t>
            </a:r>
            <a:r>
              <a:rPr lang="en" sz="1565">
                <a:solidFill>
                  <a:srgbClr val="D7537B"/>
                </a:solidFill>
              </a:rPr>
              <a:t>protons</a:t>
            </a:r>
            <a:r>
              <a:rPr lang="en" sz="1565"/>
              <a:t>) from matrix into intermembrane space to create a </a:t>
            </a:r>
            <a:r>
              <a:rPr lang="en" sz="1565">
                <a:solidFill>
                  <a:schemeClr val="accent1"/>
                </a:solidFill>
              </a:rPr>
              <a:t>H+ gradient</a:t>
            </a:r>
            <a:endParaRPr sz="1565">
              <a:solidFill>
                <a:schemeClr val="accent1"/>
              </a:solidFill>
            </a:endParaRPr>
          </a:p>
        </p:txBody>
      </p:sp>
      <p:pic>
        <p:nvPicPr>
          <p:cNvPr id="278" name="Google Shape;278;p43"/>
          <p:cNvPicPr preferRelativeResize="0"/>
          <p:nvPr/>
        </p:nvPicPr>
        <p:blipFill>
          <a:blip r:embed="rId3">
            <a:alphaModFix/>
          </a:blip>
          <a:stretch>
            <a:fillRect/>
          </a:stretch>
        </p:blipFill>
        <p:spPr>
          <a:xfrm>
            <a:off x="5021725" y="1170125"/>
            <a:ext cx="3969876" cy="29679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Stage 2: </a:t>
            </a:r>
            <a:r>
              <a:rPr lang="en">
                <a:solidFill>
                  <a:srgbClr val="D7537B"/>
                </a:solidFill>
              </a:rPr>
              <a:t>Oxidative</a:t>
            </a:r>
            <a:r>
              <a:rPr lang="en"/>
              <a:t> </a:t>
            </a:r>
            <a:r>
              <a:rPr lang="en">
                <a:solidFill>
                  <a:schemeClr val="accent1"/>
                </a:solidFill>
              </a:rPr>
              <a:t>Phosphorylation</a:t>
            </a:r>
            <a:endParaRPr>
              <a:solidFill>
                <a:schemeClr val="accent1"/>
              </a:solidFill>
            </a:endParaRPr>
          </a:p>
        </p:txBody>
      </p:sp>
      <p:sp>
        <p:nvSpPr>
          <p:cNvPr id="284" name="Google Shape;284;p44"/>
          <p:cNvSpPr txBox="1"/>
          <p:nvPr>
            <p:ph idx="1" type="body"/>
          </p:nvPr>
        </p:nvSpPr>
        <p:spPr>
          <a:xfrm>
            <a:off x="311700" y="1152475"/>
            <a:ext cx="4881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H+ diffuses back into the matrix through ATP synthase which spins like a turbine to </a:t>
            </a:r>
            <a:r>
              <a:rPr lang="en">
                <a:solidFill>
                  <a:schemeClr val="accent1"/>
                </a:solidFill>
              </a:rPr>
              <a:t>phosphorylate </a:t>
            </a:r>
            <a:r>
              <a:rPr lang="en"/>
              <a:t>ADP to ATP</a:t>
            </a:r>
            <a:endParaRPr/>
          </a:p>
          <a:p>
            <a:pPr indent="-342900" lvl="0" marL="457200" rtl="0" algn="l">
              <a:spcBef>
                <a:spcPts val="0"/>
              </a:spcBef>
              <a:spcAft>
                <a:spcPts val="0"/>
              </a:spcAft>
              <a:buSzPts val="1800"/>
              <a:buAutoNum type="arabicPeriod"/>
            </a:pPr>
            <a:r>
              <a:rPr lang="en">
                <a:solidFill>
                  <a:srgbClr val="D7537B"/>
                </a:solidFill>
              </a:rPr>
              <a:t>H+ and e- are reunited and combine with O</a:t>
            </a:r>
            <a:r>
              <a:rPr baseline="-25000" lang="en">
                <a:solidFill>
                  <a:srgbClr val="D7537B"/>
                </a:solidFill>
              </a:rPr>
              <a:t>2</a:t>
            </a:r>
            <a:r>
              <a:rPr lang="en">
                <a:solidFill>
                  <a:srgbClr val="D7537B"/>
                </a:solidFill>
              </a:rPr>
              <a:t> </a:t>
            </a:r>
            <a:r>
              <a:rPr lang="en"/>
              <a:t>to make H2O (O</a:t>
            </a:r>
            <a:r>
              <a:rPr baseline="-25000" lang="en"/>
              <a:t>2</a:t>
            </a:r>
            <a:r>
              <a:rPr lang="en"/>
              <a:t> is the “final electron acceptor”)</a:t>
            </a:r>
            <a:endParaRPr/>
          </a:p>
          <a:p>
            <a:pPr indent="-317500" lvl="1" marL="914400" rtl="0" algn="l">
              <a:spcBef>
                <a:spcPts val="0"/>
              </a:spcBef>
              <a:spcAft>
                <a:spcPts val="0"/>
              </a:spcAft>
              <a:buSzPts val="1400"/>
              <a:buChar char="○"/>
            </a:pPr>
            <a:r>
              <a:rPr lang="en"/>
              <a:t>Electrons (e-) are “pulled” down the ETC because O2 is highly electronegative and strongly attracts electrons!</a:t>
            </a:r>
            <a:endParaRPr/>
          </a:p>
        </p:txBody>
      </p:sp>
      <p:pic>
        <p:nvPicPr>
          <p:cNvPr id="285" name="Google Shape;285;p44"/>
          <p:cNvPicPr preferRelativeResize="0"/>
          <p:nvPr/>
        </p:nvPicPr>
        <p:blipFill>
          <a:blip r:embed="rId3">
            <a:alphaModFix/>
          </a:blip>
          <a:stretch>
            <a:fillRect/>
          </a:stretch>
        </p:blipFill>
        <p:spPr>
          <a:xfrm>
            <a:off x="5824950" y="1152475"/>
            <a:ext cx="3065190" cy="3416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45"/>
          <p:cNvPicPr preferRelativeResize="0"/>
          <p:nvPr/>
        </p:nvPicPr>
        <p:blipFill rotWithShape="1">
          <a:blip r:embed="rId3">
            <a:alphaModFix/>
          </a:blip>
          <a:srcRect b="0" l="0" r="1633" t="0"/>
          <a:stretch/>
        </p:blipFill>
        <p:spPr>
          <a:xfrm>
            <a:off x="152400" y="152400"/>
            <a:ext cx="8694700" cy="4669926"/>
          </a:xfrm>
          <a:prstGeom prst="rect">
            <a:avLst/>
          </a:prstGeom>
          <a:noFill/>
          <a:ln>
            <a:noFill/>
          </a:ln>
        </p:spPr>
      </p:pic>
      <p:sp>
        <p:nvSpPr>
          <p:cNvPr id="291" name="Google Shape;291;p45"/>
          <p:cNvSpPr/>
          <p:nvPr/>
        </p:nvSpPr>
        <p:spPr>
          <a:xfrm>
            <a:off x="5759575" y="207750"/>
            <a:ext cx="508500" cy="967200"/>
          </a:xfrm>
          <a:prstGeom prst="rect">
            <a:avLst/>
          </a:prstGeom>
          <a:solidFill>
            <a:srgbClr val="CC8A2B"/>
          </a:solidFill>
          <a:ln cap="flat" cmpd="sng" w="9525">
            <a:solidFill>
              <a:srgbClr val="CC8A2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2" name="Google Shape;292;p45"/>
          <p:cNvSpPr/>
          <p:nvPr/>
        </p:nvSpPr>
        <p:spPr>
          <a:xfrm>
            <a:off x="5953000" y="2428700"/>
            <a:ext cx="694800" cy="396000"/>
          </a:xfrm>
          <a:prstGeom prst="rect">
            <a:avLst/>
          </a:prstGeom>
          <a:solidFill>
            <a:srgbClr val="EDCA9D"/>
          </a:solidFill>
          <a:ln cap="flat" cmpd="sng" w="9525">
            <a:solidFill>
              <a:srgbClr val="EDCA9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3" name="Google Shape;293;p45"/>
          <p:cNvSpPr/>
          <p:nvPr/>
        </p:nvSpPr>
        <p:spPr>
          <a:xfrm>
            <a:off x="1697775" y="1934175"/>
            <a:ext cx="164700" cy="143400"/>
          </a:xfrm>
          <a:prstGeom prst="ellipse">
            <a:avLst/>
          </a:prstGeom>
          <a:solidFill>
            <a:schemeClr val="accent6"/>
          </a:solidFill>
          <a:ln cap="flat" cmpd="sng" w="9525">
            <a:solidFill>
              <a:srgbClr val="CC8A2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t>
            </a:r>
            <a:endParaRPr>
              <a:latin typeface="Open Sans"/>
              <a:ea typeface="Open Sans"/>
              <a:cs typeface="Open Sans"/>
              <a:sym typeface="Open Sans"/>
            </a:endParaRPr>
          </a:p>
        </p:txBody>
      </p:sp>
      <p:sp>
        <p:nvSpPr>
          <p:cNvPr id="294" name="Google Shape;294;p45"/>
          <p:cNvSpPr/>
          <p:nvPr/>
        </p:nvSpPr>
        <p:spPr>
          <a:xfrm>
            <a:off x="1862475" y="1606600"/>
            <a:ext cx="164700" cy="143400"/>
          </a:xfrm>
          <a:prstGeom prst="ellipse">
            <a:avLst/>
          </a:prstGeom>
          <a:solidFill>
            <a:schemeClr val="accent6"/>
          </a:solidFill>
          <a:ln cap="flat" cmpd="sng" w="9525">
            <a:solidFill>
              <a:srgbClr val="CC8A2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t>
            </a:r>
            <a:endParaRPr>
              <a:latin typeface="Open Sans"/>
              <a:ea typeface="Open Sans"/>
              <a:cs typeface="Open Sans"/>
              <a:sym typeface="Open Sans"/>
            </a:endParaRPr>
          </a:p>
        </p:txBody>
      </p:sp>
      <p:sp>
        <p:nvSpPr>
          <p:cNvPr id="295" name="Google Shape;295;p45"/>
          <p:cNvSpPr/>
          <p:nvPr/>
        </p:nvSpPr>
        <p:spPr>
          <a:xfrm>
            <a:off x="2609450" y="1606600"/>
            <a:ext cx="164700" cy="143400"/>
          </a:xfrm>
          <a:prstGeom prst="ellipse">
            <a:avLst/>
          </a:prstGeom>
          <a:solidFill>
            <a:schemeClr val="accent6"/>
          </a:solidFill>
          <a:ln cap="flat" cmpd="sng" w="9525">
            <a:solidFill>
              <a:srgbClr val="CC8A2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t>
            </a:r>
            <a:endParaRPr>
              <a:latin typeface="Open Sans"/>
              <a:ea typeface="Open Sans"/>
              <a:cs typeface="Open Sans"/>
              <a:sym typeface="Open Sans"/>
            </a:endParaRPr>
          </a:p>
        </p:txBody>
      </p:sp>
      <p:sp>
        <p:nvSpPr>
          <p:cNvPr id="296" name="Google Shape;296;p45"/>
          <p:cNvSpPr/>
          <p:nvPr/>
        </p:nvSpPr>
        <p:spPr>
          <a:xfrm>
            <a:off x="2647225" y="2077575"/>
            <a:ext cx="164700" cy="143400"/>
          </a:xfrm>
          <a:prstGeom prst="ellipse">
            <a:avLst/>
          </a:prstGeom>
          <a:solidFill>
            <a:schemeClr val="accent6"/>
          </a:solidFill>
          <a:ln cap="flat" cmpd="sng" w="9525">
            <a:solidFill>
              <a:srgbClr val="CC8A2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t>
            </a:r>
            <a:endParaRPr>
              <a:latin typeface="Open Sans"/>
              <a:ea typeface="Open Sans"/>
              <a:cs typeface="Open Sans"/>
              <a:sym typeface="Open Sans"/>
            </a:endParaRPr>
          </a:p>
        </p:txBody>
      </p:sp>
      <p:sp>
        <p:nvSpPr>
          <p:cNvPr id="297" name="Google Shape;297;p45"/>
          <p:cNvSpPr/>
          <p:nvPr/>
        </p:nvSpPr>
        <p:spPr>
          <a:xfrm>
            <a:off x="3336900" y="1750000"/>
            <a:ext cx="164700" cy="143400"/>
          </a:xfrm>
          <a:prstGeom prst="ellipse">
            <a:avLst/>
          </a:prstGeom>
          <a:solidFill>
            <a:schemeClr val="accent6"/>
          </a:solidFill>
          <a:ln cap="flat" cmpd="sng" w="9525">
            <a:solidFill>
              <a:srgbClr val="CC8A2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t>
            </a:r>
            <a:endParaRPr>
              <a:latin typeface="Open Sans"/>
              <a:ea typeface="Open Sans"/>
              <a:cs typeface="Open Sans"/>
              <a:sym typeface="Open Sans"/>
            </a:endParaRPr>
          </a:p>
        </p:txBody>
      </p:sp>
      <p:sp>
        <p:nvSpPr>
          <p:cNvPr id="298" name="Google Shape;298;p45"/>
          <p:cNvSpPr/>
          <p:nvPr/>
        </p:nvSpPr>
        <p:spPr>
          <a:xfrm>
            <a:off x="4212825" y="1852275"/>
            <a:ext cx="164700" cy="143400"/>
          </a:xfrm>
          <a:prstGeom prst="ellipse">
            <a:avLst/>
          </a:prstGeom>
          <a:solidFill>
            <a:schemeClr val="accent6"/>
          </a:solidFill>
          <a:ln cap="flat" cmpd="sng" w="9525">
            <a:solidFill>
              <a:srgbClr val="CC8A2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t>
            </a:r>
            <a:endParaRPr>
              <a:latin typeface="Open Sans"/>
              <a:ea typeface="Open Sans"/>
              <a:cs typeface="Open Sans"/>
              <a:sym typeface="Open Sans"/>
            </a:endParaRPr>
          </a:p>
        </p:txBody>
      </p:sp>
      <p:sp>
        <p:nvSpPr>
          <p:cNvPr id="299" name="Google Shape;299;p45"/>
          <p:cNvSpPr/>
          <p:nvPr/>
        </p:nvSpPr>
        <p:spPr>
          <a:xfrm>
            <a:off x="5346625" y="2077575"/>
            <a:ext cx="164700" cy="143400"/>
          </a:xfrm>
          <a:prstGeom prst="ellipse">
            <a:avLst/>
          </a:prstGeom>
          <a:solidFill>
            <a:schemeClr val="accent6"/>
          </a:solidFill>
          <a:ln cap="flat" cmpd="sng" w="9525">
            <a:solidFill>
              <a:srgbClr val="CC8A2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t>
            </a:r>
            <a:endParaRPr>
              <a:latin typeface="Open Sans"/>
              <a:ea typeface="Open Sans"/>
              <a:cs typeface="Open Sans"/>
              <a:sym typeface="Open Sans"/>
            </a:endParaRPr>
          </a:p>
        </p:txBody>
      </p:sp>
      <p:sp>
        <p:nvSpPr>
          <p:cNvPr id="300" name="Google Shape;300;p45"/>
          <p:cNvSpPr/>
          <p:nvPr/>
        </p:nvSpPr>
        <p:spPr>
          <a:xfrm>
            <a:off x="5759575" y="2681300"/>
            <a:ext cx="164700" cy="143400"/>
          </a:xfrm>
          <a:prstGeom prst="ellipse">
            <a:avLst/>
          </a:prstGeom>
          <a:solidFill>
            <a:schemeClr val="accent6"/>
          </a:solidFill>
          <a:ln cap="flat" cmpd="sng" w="9525">
            <a:solidFill>
              <a:srgbClr val="CC8A2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ETC Video</a:t>
            </a:r>
            <a:endParaRPr/>
          </a:p>
        </p:txBody>
      </p:sp>
      <p:pic>
        <p:nvPicPr>
          <p:cNvPr descr="In this fourth video of our series on aerobic respiration, we will learn about the electron transport chain (ETC).   This is quite a remarkable stage in cellular respiration and is the reason why you need to breathe in oxygen.  Explore how mitochondria generate and use a hydrogen ion gradient to power ATP synthase and generate a lot of ATP, the energy that powers cells.  This goes along with the Respiration Interactive activity at BioMan Biology, so you might want to start there: https://biomanbio.com/HTML5GamesandLabs/PhotoRespgames/respiration-interactive-page.html &#10;Credits: music from https://www.bensound.com/&#10;Traffic picture: The Los Angeles Times" id="306" name="Google Shape;306;p46" title="The Electron Transport Chain Explained (Aerobic Respiration)">
            <a:hlinkClick r:id="rId3"/>
          </p:cNvPr>
          <p:cNvPicPr preferRelativeResize="0"/>
          <p:nvPr/>
        </p:nvPicPr>
        <p:blipFill>
          <a:blip r:embed="rId4">
            <a:alphaModFix/>
          </a:blip>
          <a:stretch>
            <a:fillRect/>
          </a:stretch>
        </p:blipFill>
        <p:spPr>
          <a:xfrm>
            <a:off x="1034450" y="1214225"/>
            <a:ext cx="6352700" cy="3573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Happens Without Oxygen?</a:t>
            </a:r>
            <a:endParaRPr/>
          </a:p>
        </p:txBody>
      </p:sp>
      <p:sp>
        <p:nvSpPr>
          <p:cNvPr id="312" name="Google Shape;312;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Electrons have nowhere to go → oxygen isn’t there to accept them.</a:t>
            </a:r>
            <a:endParaRPr/>
          </a:p>
          <a:p>
            <a:pPr indent="-342900" lvl="0" marL="457200" rtl="0" algn="l">
              <a:spcBef>
                <a:spcPts val="0"/>
              </a:spcBef>
              <a:spcAft>
                <a:spcPts val="0"/>
              </a:spcAft>
              <a:buSzPts val="1800"/>
              <a:buChar char="●"/>
            </a:pPr>
            <a:r>
              <a:rPr lang="en"/>
              <a:t>The ETC backs up with electrons.</a:t>
            </a:r>
            <a:endParaRPr/>
          </a:p>
          <a:p>
            <a:pPr indent="-342900" lvl="0" marL="457200" rtl="0" algn="l">
              <a:spcBef>
                <a:spcPts val="0"/>
              </a:spcBef>
              <a:spcAft>
                <a:spcPts val="0"/>
              </a:spcAft>
              <a:buSzPts val="1800"/>
              <a:buChar char="●"/>
            </a:pPr>
            <a:r>
              <a:rPr lang="en"/>
              <a:t>NADH and FADH₂ can’t drop off their electrons</a:t>
            </a:r>
            <a:endParaRPr/>
          </a:p>
          <a:p>
            <a:pPr indent="-317500" lvl="1" marL="914400" rtl="0" algn="l">
              <a:spcBef>
                <a:spcPts val="0"/>
              </a:spcBef>
              <a:spcAft>
                <a:spcPts val="0"/>
              </a:spcAft>
              <a:buSzPts val="1400"/>
              <a:buChar char="○"/>
            </a:pPr>
            <a:r>
              <a:rPr lang="en"/>
              <a:t>The cell runs out of </a:t>
            </a:r>
            <a:r>
              <a:rPr lang="en">
                <a:solidFill>
                  <a:schemeClr val="accent1"/>
                </a:solidFill>
              </a:rPr>
              <a:t>NAD⁺ and FAD</a:t>
            </a:r>
            <a:r>
              <a:rPr lang="en"/>
              <a:t>, which are needed for glycolysis and the Krebs cycle to continue.</a:t>
            </a:r>
            <a:endParaRPr/>
          </a:p>
          <a:p>
            <a:pPr indent="-342900" lvl="0" marL="457200" rtl="0" algn="l">
              <a:spcBef>
                <a:spcPts val="0"/>
              </a:spcBef>
              <a:spcAft>
                <a:spcPts val="0"/>
              </a:spcAft>
              <a:buSzPts val="1800"/>
              <a:buChar char="●"/>
            </a:pPr>
            <a:r>
              <a:rPr lang="en"/>
              <a:t>As a result, ATP production from the ETC stops.</a:t>
            </a:r>
            <a:endParaRPr/>
          </a:p>
          <a:p>
            <a:pPr indent="0" lvl="0" marL="457200" rtl="0" algn="l">
              <a:spcBef>
                <a:spcPts val="1200"/>
              </a:spcBef>
              <a:spcAft>
                <a:spcPts val="0"/>
              </a:spcAft>
              <a:buNone/>
            </a:pPr>
            <a:r>
              <a:t/>
            </a:r>
            <a:endParaRPr b="1"/>
          </a:p>
          <a:p>
            <a:pPr indent="0" lvl="0" marL="457200" rtl="0" algn="l">
              <a:spcBef>
                <a:spcPts val="1200"/>
              </a:spcBef>
              <a:spcAft>
                <a:spcPts val="1200"/>
              </a:spcAft>
              <a:buNone/>
            </a:pPr>
            <a:r>
              <a:rPr b="1" i="1" lang="en">
                <a:solidFill>
                  <a:srgbClr val="D7537B"/>
                </a:solidFill>
              </a:rPr>
              <a:t>What process does the cell revert to as a back to in the absence of oxygen? What is the goal of this process?</a:t>
            </a:r>
            <a:endParaRPr b="1" i="1">
              <a:solidFill>
                <a:srgbClr val="D7537B"/>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Cell Respiration</a:t>
            </a:r>
            <a:endParaRPr/>
          </a:p>
        </p:txBody>
      </p:sp>
      <p:sp>
        <p:nvSpPr>
          <p:cNvPr id="318" name="Google Shape;318;p48"/>
          <p:cNvSpPr txBox="1"/>
          <p:nvPr>
            <p:ph idx="1" type="body"/>
          </p:nvPr>
        </p:nvSpPr>
        <p:spPr>
          <a:xfrm>
            <a:off x="311700" y="1152475"/>
            <a:ext cx="5612700" cy="3210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Where did the glucose come from?</a:t>
            </a:r>
            <a:endParaRPr sz="1600"/>
          </a:p>
          <a:p>
            <a:pPr indent="-330200" lvl="0" marL="457200" rtl="0" algn="l">
              <a:spcBef>
                <a:spcPts val="0"/>
              </a:spcBef>
              <a:spcAft>
                <a:spcPts val="0"/>
              </a:spcAft>
              <a:buSzPts val="1600"/>
              <a:buChar char="●"/>
            </a:pPr>
            <a:r>
              <a:rPr lang="en" sz="1600"/>
              <a:t>Where did the O2 come from?</a:t>
            </a:r>
            <a:endParaRPr sz="1600"/>
          </a:p>
          <a:p>
            <a:pPr indent="-330200" lvl="0" marL="457200" rtl="0" algn="l">
              <a:spcBef>
                <a:spcPts val="0"/>
              </a:spcBef>
              <a:spcAft>
                <a:spcPts val="0"/>
              </a:spcAft>
              <a:buSzPts val="1600"/>
              <a:buChar char="●"/>
            </a:pPr>
            <a:r>
              <a:rPr lang="en" sz="1600"/>
              <a:t>Where did the CO2 come from?</a:t>
            </a:r>
            <a:endParaRPr sz="1600"/>
          </a:p>
          <a:p>
            <a:pPr indent="-330200" lvl="0" marL="457200" rtl="0" algn="l">
              <a:spcBef>
                <a:spcPts val="0"/>
              </a:spcBef>
              <a:spcAft>
                <a:spcPts val="0"/>
              </a:spcAft>
              <a:buSzPts val="1600"/>
              <a:buChar char="●"/>
            </a:pPr>
            <a:r>
              <a:rPr lang="en" sz="1600"/>
              <a:t>Where did the CO2 go?</a:t>
            </a:r>
            <a:endParaRPr sz="1600"/>
          </a:p>
          <a:p>
            <a:pPr indent="-330200" lvl="0" marL="457200" rtl="0" algn="l">
              <a:spcBef>
                <a:spcPts val="0"/>
              </a:spcBef>
              <a:spcAft>
                <a:spcPts val="0"/>
              </a:spcAft>
              <a:buSzPts val="1600"/>
              <a:buChar char="●"/>
            </a:pPr>
            <a:r>
              <a:rPr lang="en" sz="1600"/>
              <a:t>Where did the H2O come from?</a:t>
            </a:r>
            <a:endParaRPr sz="1600"/>
          </a:p>
          <a:p>
            <a:pPr indent="-330200" lvl="0" marL="457200" rtl="0" algn="l">
              <a:spcBef>
                <a:spcPts val="0"/>
              </a:spcBef>
              <a:spcAft>
                <a:spcPts val="0"/>
              </a:spcAft>
              <a:buSzPts val="1600"/>
              <a:buChar char="●"/>
            </a:pPr>
            <a:r>
              <a:rPr lang="en" sz="1600"/>
              <a:t>Where did the ATP come from?</a:t>
            </a:r>
            <a:endParaRPr sz="1600"/>
          </a:p>
          <a:p>
            <a:pPr indent="-330200" lvl="0" marL="457200" rtl="0" algn="l">
              <a:spcBef>
                <a:spcPts val="0"/>
              </a:spcBef>
              <a:spcAft>
                <a:spcPts val="0"/>
              </a:spcAft>
              <a:buSzPts val="1600"/>
              <a:buChar char="●"/>
            </a:pPr>
            <a:r>
              <a:rPr lang="en" sz="1600"/>
              <a:t>What else is produced that is not listed </a:t>
            </a:r>
            <a:endParaRPr sz="1600"/>
          </a:p>
          <a:p>
            <a:pPr indent="-330200" lvl="0" marL="457200" rtl="0" algn="l">
              <a:spcBef>
                <a:spcPts val="0"/>
              </a:spcBef>
              <a:spcAft>
                <a:spcPts val="0"/>
              </a:spcAft>
              <a:buSzPts val="1600"/>
              <a:buChar char="●"/>
            </a:pPr>
            <a:r>
              <a:rPr lang="en" sz="1600"/>
              <a:t>in this equation?</a:t>
            </a:r>
            <a:endParaRPr sz="1600"/>
          </a:p>
          <a:p>
            <a:pPr indent="-330200" lvl="0" marL="457200" rtl="0" algn="l">
              <a:spcBef>
                <a:spcPts val="0"/>
              </a:spcBef>
              <a:spcAft>
                <a:spcPts val="0"/>
              </a:spcAft>
              <a:buSzPts val="1600"/>
              <a:buChar char="●"/>
            </a:pPr>
            <a:r>
              <a:rPr lang="en" sz="1600"/>
              <a:t>Why do we breathe?</a:t>
            </a:r>
            <a:endParaRPr sz="1600"/>
          </a:p>
          <a:p>
            <a:pPr indent="0" lvl="0" marL="0" rtl="0" algn="l">
              <a:spcBef>
                <a:spcPts val="1200"/>
              </a:spcBef>
              <a:spcAft>
                <a:spcPts val="1200"/>
              </a:spcAft>
              <a:buNone/>
            </a:pPr>
            <a:r>
              <a:t/>
            </a:r>
            <a:endParaRPr/>
          </a:p>
        </p:txBody>
      </p:sp>
      <p:pic>
        <p:nvPicPr>
          <p:cNvPr id="319" name="Google Shape;319;p48"/>
          <p:cNvPicPr preferRelativeResize="0"/>
          <p:nvPr/>
        </p:nvPicPr>
        <p:blipFill rotWithShape="1">
          <a:blip r:embed="rId3">
            <a:alphaModFix/>
          </a:blip>
          <a:srcRect b="0" l="8917" r="0" t="16332"/>
          <a:stretch/>
        </p:blipFill>
        <p:spPr>
          <a:xfrm>
            <a:off x="5100525" y="1886375"/>
            <a:ext cx="3565600" cy="13707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9"/>
          <p:cNvSpPr txBox="1"/>
          <p:nvPr>
            <p:ph type="title"/>
          </p:nvPr>
        </p:nvSpPr>
        <p:spPr>
          <a:xfrm>
            <a:off x="311700" y="1624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Let’s summarize the outputs below!</a:t>
            </a:r>
            <a:endParaRPr/>
          </a:p>
        </p:txBody>
      </p:sp>
      <p:pic>
        <p:nvPicPr>
          <p:cNvPr id="325" name="Google Shape;325;p49"/>
          <p:cNvPicPr preferRelativeResize="0"/>
          <p:nvPr/>
        </p:nvPicPr>
        <p:blipFill>
          <a:blip r:embed="rId3">
            <a:alphaModFix/>
          </a:blip>
          <a:stretch>
            <a:fillRect/>
          </a:stretch>
        </p:blipFill>
        <p:spPr>
          <a:xfrm>
            <a:off x="1834601" y="735150"/>
            <a:ext cx="5918851" cy="42720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31" name="Google Shape;331;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32" name="Google Shape;332;p50" title="Cellular Respiration.png"/>
          <p:cNvPicPr preferRelativeResize="0"/>
          <p:nvPr/>
        </p:nvPicPr>
        <p:blipFill>
          <a:blip r:embed="rId3">
            <a:alphaModFix/>
          </a:blip>
          <a:stretch>
            <a:fillRect/>
          </a:stretch>
        </p:blipFill>
        <p:spPr>
          <a:xfrm>
            <a:off x="2429" y="0"/>
            <a:ext cx="9139139"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