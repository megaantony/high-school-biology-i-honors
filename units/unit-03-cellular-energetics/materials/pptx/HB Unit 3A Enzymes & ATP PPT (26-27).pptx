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0dab56cf7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0dab56cf7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0d78ffd6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0d78ffd6d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0d78ffd6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0d78ffd6dd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0d78ffd6dd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0d78ffd6dd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516ca99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516ca99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7516ca995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4e1db146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4e1db146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84e1db146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Play amoeba sisters at 3:01 on ATP</a:t>
            </a:r>
            <a:endParaRPr/>
          </a:p>
        </p:txBody>
      </p:sp>
      <p:sp>
        <p:nvSpPr>
          <p:cNvPr id="483" name="Google Shape;4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7" name="Google Shape;57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9" name="Google Shape;59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6" name="Google Shape;66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9" name="Google Shape;69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2" name="Google Shape;72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4" name="Google Shape;74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7" name="Google Shape;77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4" name="Google Shape;84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1" name="Google Shape;91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3" name="Google Shape;93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8" name="Google Shape;98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2" name="Google Shape;112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2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5" name="Google Shape;115;p2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1" name="Google Shape;121;p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3" name="Google Shape;133;p5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4" name="Google Shape;134;p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0" name="Google Shape;140;p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1" name="Google Shape;141;p6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2" name="Google Shape;142;p6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3" name="Google Shape;143;p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8" name="Google Shape;158;p9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9" name="Google Shape;159;p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6" name="Google Shape;166;p1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3" name="Google Shape;173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2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9" name="Google Shape;179;p1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5" name="Google Shape;185;p13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6" name="Google Shape;186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n-US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n-US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4" name="Google Shape;194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2" name="Google Shape;202;p15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3" name="Google Shape;203;p15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4" name="Google Shape;204;p15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5" name="Google Shape;205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1" name="Google Shape;211;p16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2" name="Google Shape;212;p16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3" name="Google Shape;213;p16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4" name="Google Shape;214;p16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5" name="Google Shape;215;p16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6" name="Google Shape;216;p16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7" name="Google Shape;217;p16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8" name="Google Shape;218;p16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9" name="Google Shape;219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7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5" name="Google Shape;225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1" name="Google Shape;231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10" name="Google Shape;10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oogle Shape;12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3" name="Google Shape;13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7" name="Google Shape;17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" name="Google Shape;20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" name="Google Shape;24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" name="Google Shape;25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" name="Google Shape;26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8" name="Google Shape;28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3" name="Google Shape;33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6" name="Google Shape;36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9" name="Google Shape;39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" name="Google Shape;40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41" name="Google Shape;41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2" name="Google Shape;42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7" name="Google Shape;47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9" name="Google Shape;49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4" name="Google Shape;54;p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5" name="Google Shape;55;p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8.jp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Relationship Id="rId4" Type="http://schemas.openxmlformats.org/officeDocument/2006/relationships/image" Target="../media/image2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9"/>
          <p:cNvGrpSpPr/>
          <p:nvPr/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>
          <p:nvSpPr>
            <p:cNvPr id="239" name="Google Shape;239;p19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40" name="Google Shape;240;p19"/>
            <p:cNvPicPr preferRelativeResize="0"/>
            <p:nvPr/>
          </p:nvPicPr>
          <p:blipFill rotWithShape="1">
            <a:blip r:embed="rId4">
              <a:alphaModFix amt="30000"/>
            </a:blip>
            <a:srcRect b="0" l="0" r="0" t="0"/>
            <a:stretch/>
          </p:blipFill>
          <p:spPr>
            <a:xfrm>
              <a:off x="0" y="-1"/>
              <a:ext cx="12192003" cy="68580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Types of Chemical Reactions Quiz | Britannica" id="241" name="Google Shape;241;p19"/>
          <p:cNvPicPr preferRelativeResize="0"/>
          <p:nvPr/>
        </p:nvPicPr>
        <p:blipFill rotWithShape="1">
          <a:blip r:embed="rId5">
            <a:alphaModFix/>
          </a:blip>
          <a:srcRect b="2571" l="0" r="0" t="22407"/>
          <a:stretch/>
        </p:blipFill>
        <p:spPr>
          <a:xfrm>
            <a:off x="3611" y="10"/>
            <a:ext cx="12188389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19"/>
          <p:cNvGrpSpPr/>
          <p:nvPr/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243" name="Google Shape;243;p19"/>
            <p:cNvSpPr/>
            <p:nvPr/>
          </p:nvSpPr>
          <p:spPr>
            <a:xfrm>
              <a:off x="2582333" y="2235200"/>
              <a:ext cx="7027334" cy="2396067"/>
            </a:xfrm>
            <a:prstGeom prst="round2DiagRect">
              <a:avLst>
                <a:gd fmla="val 9246" name="adj1"/>
                <a:gd fmla="val 0" name="adj2"/>
              </a:avLst>
            </a:prstGeom>
            <a:solidFill>
              <a:schemeClr val="dk1">
                <a:alpha val="80000"/>
              </a:schemeClr>
            </a:solidFill>
            <a:ln cap="sq" cmpd="sng" w="19050">
              <a:solidFill>
                <a:schemeClr val="lt2">
                  <a:alpha val="6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889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244" name="Google Shape;244;p19"/>
            <p:cNvGrpSpPr/>
            <p:nvPr/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245" name="Google Shape;245;p19"/>
              <p:cNvSpPr/>
              <p:nvPr/>
            </p:nvSpPr>
            <p:spPr>
              <a:xfrm flipH="1" rot="-5400000">
                <a:off x="9653587" y="3379784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46" name="Google Shape;246;p19"/>
              <p:cNvSpPr/>
              <p:nvPr/>
            </p:nvSpPr>
            <p:spPr>
              <a:xfrm flipH="1" rot="-5400000">
                <a:off x="10078244" y="3310728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 flipH="1" rot="-5400000">
                <a:off x="11146631" y="3574253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 flipH="1" rot="-5400000">
                <a:off x="10230644" y="3034502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49" name="Google Shape;249;p19"/>
              <p:cNvSpPr/>
              <p:nvPr/>
            </p:nvSpPr>
            <p:spPr>
              <a:xfrm rot="5400000">
                <a:off x="10034587" y="256275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50" name="Google Shape;250;p19"/>
              <p:cNvSpPr/>
              <p:nvPr/>
            </p:nvSpPr>
            <p:spPr>
              <a:xfrm rot="5400000">
                <a:off x="10747375" y="3232679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 rot="5400000">
                <a:off x="11399044" y="3095360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 rot="5400000">
                <a:off x="10353675" y="2153178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53" name="Google Shape;253;p19"/>
              <p:cNvSpPr/>
              <p:nvPr/>
            </p:nvSpPr>
            <p:spPr>
              <a:xfrm rot="5400000">
                <a:off x="9848850" y="330887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 rot="5400000">
                <a:off x="2122751" y="3532184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56" name="Google Shape;256;p19"/>
              <p:cNvSpPr/>
              <p:nvPr/>
            </p:nvSpPr>
            <p:spPr>
              <a:xfrm rot="5400000">
                <a:off x="1958445" y="3463128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 rot="5400000">
                <a:off x="858308" y="3726653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 rot="5400000">
                <a:off x="1658407" y="3186902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59" name="Google Shape;259;p19"/>
              <p:cNvSpPr/>
              <p:nvPr/>
            </p:nvSpPr>
            <p:spPr>
              <a:xfrm flipH="1" rot="-5400000">
                <a:off x="1860814" y="271515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60" name="Google Shape;260;p19"/>
              <p:cNvSpPr/>
              <p:nvPr/>
            </p:nvSpPr>
            <p:spPr>
              <a:xfrm flipH="1" rot="-5400000">
                <a:off x="1289314" y="3385079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 flipH="1" rot="-5400000">
                <a:off x="605895" y="3247760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 flipH="1" rot="-5400000">
                <a:off x="1532202" y="2305578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263" name="Google Shape;263;p19"/>
              <p:cNvSpPr/>
              <p:nvPr/>
            </p:nvSpPr>
            <p:spPr>
              <a:xfrm flipH="1" rot="-5400000">
                <a:off x="2154501" y="346127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 flipH="1" rot="-5400000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5" name="Google Shape;265;p19"/>
          <p:cNvSpPr txBox="1"/>
          <p:nvPr>
            <p:ph type="ctrTitle"/>
          </p:nvPr>
        </p:nvSpPr>
        <p:spPr>
          <a:xfrm>
            <a:off x="2667000" y="2328334"/>
            <a:ext cx="6858000" cy="1367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wentieth Century"/>
              <a:buNone/>
            </a:pPr>
            <a:r>
              <a:rPr lang="en-US" sz="4400"/>
              <a:t>METABOLISM, ENZYME, AND ATP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 txBox="1"/>
          <p:nvPr>
            <p:ph type="title"/>
          </p:nvPr>
        </p:nvSpPr>
        <p:spPr>
          <a:xfrm>
            <a:off x="1141413" y="618518"/>
            <a:ext cx="4459286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</a:pPr>
            <a:r>
              <a:rPr lang="en-US" sz="3200"/>
              <a:t>METABOLISM VS. CATABOLISM</a:t>
            </a:r>
            <a:endParaRPr/>
          </a:p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>
            <a:off x="1141412" y="2249487"/>
            <a:ext cx="4459287" cy="3965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349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en-US" sz="3200">
                <a:solidFill>
                  <a:srgbClr val="00FFFF"/>
                </a:solidFill>
              </a:rPr>
              <a:t>Metabolism</a:t>
            </a:r>
            <a:r>
              <a:rPr lang="en-US" sz="3200"/>
              <a:t>= a sum of all chemical reactions that occur within an organism </a:t>
            </a:r>
            <a:endParaRPr/>
          </a:p>
          <a:p>
            <a:pPr indent="-2349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en-US" sz="3200">
                <a:solidFill>
                  <a:srgbClr val="00FFFF"/>
                </a:solidFill>
              </a:rPr>
              <a:t>Catabolism</a:t>
            </a:r>
            <a:r>
              <a:rPr lang="en-US" sz="3200"/>
              <a:t>= the process of breaking down complex molecules into simpler compounds </a:t>
            </a:r>
            <a:endParaRPr/>
          </a:p>
        </p:txBody>
      </p:sp>
      <p:pic>
        <p:nvPicPr>
          <p:cNvPr descr="How much does a slow metabolism affect weight gain? - Chicago Tribune" id="273" name="Google Shape;2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0022" y="618518"/>
            <a:ext cx="5288234" cy="5596015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CHEMICAL REACTIONS</a:t>
            </a:r>
            <a:endParaRPr/>
          </a:p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>
            <a:off x="1141425" y="1837912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Process that changes one set of chemicals into another set of chemicals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Law of Conservation of Matter: matter cannot be created or destroyed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965600" y="5538200"/>
            <a:ext cx="76101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1281700" y="4915000"/>
            <a:ext cx="8021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happens to atoms during a chemical reaction?</a:t>
            </a:r>
            <a:endParaRPr sz="2400">
              <a:solidFill>
                <a:srgbClr val="00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82" name="Google Shape;2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375" y="2471550"/>
            <a:ext cx="42862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CHEMICAL REACTIONS</a:t>
            </a:r>
            <a:endParaRPr/>
          </a:p>
        </p:txBody>
      </p:sp>
      <p:sp>
        <p:nvSpPr>
          <p:cNvPr id="288" name="Google Shape;288;p22"/>
          <p:cNvSpPr txBox="1"/>
          <p:nvPr>
            <p:ph idx="1" type="body"/>
          </p:nvPr>
        </p:nvSpPr>
        <p:spPr>
          <a:xfrm>
            <a:off x="1141425" y="1837912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Process that changes one set of chemicals into another set of chemicals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Law of Conservation of Matter: matter cannot be created or destroyed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1965600" y="5538200"/>
            <a:ext cx="76101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281700" y="4915000"/>
            <a:ext cx="8021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happens to atoms during a chemical reaction? </a:t>
            </a:r>
            <a:r>
              <a:rPr lang="en-US" sz="2400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Atoms are rearranged </a:t>
            </a:r>
            <a:endParaRPr sz="2400">
              <a:solidFill>
                <a:srgbClr val="FF00D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91" name="Google Shape;2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375" y="2471550"/>
            <a:ext cx="42862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Energy in Reactions</a:t>
            </a:r>
            <a:endParaRPr/>
          </a:p>
        </p:txBody>
      </p:sp>
      <p:sp>
        <p:nvSpPr>
          <p:cNvPr id="298" name="Google Shape;298;p23"/>
          <p:cNvSpPr txBox="1"/>
          <p:nvPr>
            <p:ph idx="1" type="body"/>
          </p:nvPr>
        </p:nvSpPr>
        <p:spPr>
          <a:xfrm>
            <a:off x="1141400" y="1874150"/>
            <a:ext cx="9906000" cy="431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71475" lvl="0" marL="457200" rtl="0" algn="l">
              <a:spcBef>
                <a:spcPts val="1000"/>
              </a:spcBef>
              <a:spcAft>
                <a:spcPts val="0"/>
              </a:spcAft>
              <a:buSzPts val="2250"/>
              <a:buChar char="•"/>
            </a:pPr>
            <a:r>
              <a:rPr lang="en-US"/>
              <a:t>Chemical reactions </a:t>
            </a:r>
            <a:r>
              <a:rPr lang="en-US" u="sng"/>
              <a:t>store</a:t>
            </a:r>
            <a:r>
              <a:rPr lang="en-US"/>
              <a:t> or </a:t>
            </a:r>
            <a:r>
              <a:rPr lang="en-US" u="sng"/>
              <a:t>release</a:t>
            </a:r>
            <a:r>
              <a:rPr lang="en-US"/>
              <a:t> energy depending on the type of reaction </a:t>
            </a:r>
            <a:endParaRPr/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SzPts val="2250"/>
              <a:buChar char="•"/>
            </a:pPr>
            <a:r>
              <a:rPr lang="en-US">
                <a:solidFill>
                  <a:srgbClr val="00FFFF"/>
                </a:solidFill>
              </a:rPr>
              <a:t>Exergonic Reaction</a:t>
            </a:r>
            <a:r>
              <a:rPr lang="en-US"/>
              <a:t>: a release of energy occurs → the reactants will have more energy than the products </a:t>
            </a:r>
            <a:endParaRPr/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SzPts val="2250"/>
              <a:buChar char="•"/>
            </a:pPr>
            <a:r>
              <a:rPr lang="en-US">
                <a:solidFill>
                  <a:srgbClr val="00FFFF"/>
                </a:solidFill>
              </a:rPr>
              <a:t>Endergonic Reaction</a:t>
            </a:r>
            <a:r>
              <a:rPr lang="en-US"/>
              <a:t>: require the input of energy to occur → the products will have more energy than the reactants.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/>
          <p:nvPr>
            <p:ph type="title"/>
          </p:nvPr>
        </p:nvSpPr>
        <p:spPr>
          <a:xfrm>
            <a:off x="1198563" y="242493"/>
            <a:ext cx="9906000" cy="147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Energy Graphs</a:t>
            </a:r>
            <a:endParaRPr/>
          </a:p>
        </p:txBody>
      </p:sp>
      <p:pic>
        <p:nvPicPr>
          <p:cNvPr id="305" name="Google Shape;3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1363068"/>
            <a:ext cx="97917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1420550" y="5365825"/>
            <a:ext cx="93468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Which reaction would be anabolic and which reaction would be catabolic?</a:t>
            </a:r>
            <a:endParaRPr sz="2400">
              <a:solidFill>
                <a:srgbClr val="00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/>
          <p:nvPr>
            <p:ph type="title"/>
          </p:nvPr>
        </p:nvSpPr>
        <p:spPr>
          <a:xfrm>
            <a:off x="6569957" y="618518"/>
            <a:ext cx="474708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ENZYMES</a:t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798950" y="808057"/>
            <a:ext cx="5286376" cy="5234394"/>
          </a:xfrm>
          <a:prstGeom prst="round2DiagRect">
            <a:avLst>
              <a:gd fmla="val 7418" name="adj1"/>
              <a:gd fmla="val 0" name="adj2"/>
            </a:avLst>
          </a:prstGeom>
          <a:solidFill>
            <a:srgbClr val="FFFFFF"/>
          </a:solidFill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What are activation energies? | Socratic" id="313" name="Google Shape;3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988" y="1617360"/>
            <a:ext cx="4635583" cy="362734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>
            <p:ph idx="1" type="body"/>
          </p:nvPr>
        </p:nvSpPr>
        <p:spPr>
          <a:xfrm>
            <a:off x="6569957" y="1888760"/>
            <a:ext cx="4747087" cy="379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•"/>
            </a:pPr>
            <a:r>
              <a:rPr lang="en-US" sz="2300"/>
              <a:t>Some chemical reactions are too slow or have too high an activation energy </a:t>
            </a:r>
            <a:endParaRPr sz="2300"/>
          </a:p>
          <a:p>
            <a:pPr indent="-231775" lvl="0" marL="228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300"/>
              <a:buChar char="•"/>
            </a:pPr>
            <a:r>
              <a:rPr b="1" lang="en-US" sz="2300" u="sng">
                <a:solidFill>
                  <a:srgbClr val="00FFFF"/>
                </a:solidFill>
              </a:rPr>
              <a:t>Activation energy</a:t>
            </a:r>
            <a:r>
              <a:rPr lang="en-US" sz="2300"/>
              <a:t>: </a:t>
            </a:r>
            <a:r>
              <a:rPr lang="en-US" sz="2300"/>
              <a:t>energy needed to start a reaction</a:t>
            </a:r>
            <a:endParaRPr sz="2300"/>
          </a:p>
          <a:p>
            <a:pPr indent="-2159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300"/>
              <a:buChar char="•"/>
            </a:pPr>
            <a:r>
              <a:rPr b="1" lang="en-US" sz="2300" u="sng">
                <a:solidFill>
                  <a:srgbClr val="00FFFF"/>
                </a:solidFill>
              </a:rPr>
              <a:t>Catalyst</a:t>
            </a:r>
            <a:r>
              <a:rPr lang="en-US" sz="2300"/>
              <a:t>: </a:t>
            </a:r>
            <a:r>
              <a:rPr lang="en-US" sz="2300"/>
              <a:t>substance that speeds up the rate of the reaction by </a:t>
            </a:r>
            <a:r>
              <a:rPr lang="en-US" sz="2300" u="sng"/>
              <a:t>lowering</a:t>
            </a:r>
            <a:r>
              <a:rPr lang="en-US" sz="2300"/>
              <a:t> activation energy required </a:t>
            </a:r>
            <a:endParaRPr sz="2300"/>
          </a:p>
          <a:p>
            <a:pPr indent="-2159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300"/>
              <a:buChar char="•"/>
            </a:pPr>
            <a:r>
              <a:rPr b="1" lang="en-US" sz="2300" u="sng">
                <a:solidFill>
                  <a:srgbClr val="00FFFF"/>
                </a:solidFill>
              </a:rPr>
              <a:t>Enzymes</a:t>
            </a:r>
            <a:r>
              <a:rPr lang="en-US" sz="2300"/>
              <a:t>: proteins that are catalysts- speed up chemical reactions by lowering activation energy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/>
          <p:nvPr>
            <p:ph idx="1" type="body"/>
          </p:nvPr>
        </p:nvSpPr>
        <p:spPr>
          <a:xfrm>
            <a:off x="6924475" y="1658100"/>
            <a:ext cx="4771500" cy="354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A study done by the UNC school of Medicine concluded that the synthesis of hemoglobin and chlorophyll would </a:t>
            </a:r>
            <a:r>
              <a:rPr lang="en-US" sz="3000"/>
              <a:t>take</a:t>
            </a:r>
            <a:r>
              <a:rPr lang="en-US" sz="3000"/>
              <a:t> approximately</a:t>
            </a:r>
            <a:r>
              <a:rPr lang="en-US" sz="3000">
                <a:solidFill>
                  <a:schemeClr val="accent1"/>
                </a:solidFill>
              </a:rPr>
              <a:t> </a:t>
            </a:r>
            <a:r>
              <a:rPr b="1" lang="en-US" sz="3000" u="sng">
                <a:solidFill>
                  <a:schemeClr val="accent1"/>
                </a:solidFill>
              </a:rPr>
              <a:t>2.3 BILLION years</a:t>
            </a:r>
            <a:r>
              <a:rPr b="1" lang="en-US" sz="3000" u="sng"/>
              <a:t> </a:t>
            </a:r>
            <a:r>
              <a:rPr lang="en-US" sz="3000"/>
              <a:t>without the presence of an enzyme. </a:t>
            </a:r>
            <a:endParaRPr sz="3000"/>
          </a:p>
        </p:txBody>
      </p:sp>
      <p:pic>
        <p:nvPicPr>
          <p:cNvPr id="321" name="Google Shape;3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00" y="842825"/>
            <a:ext cx="57150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025" y="3707725"/>
            <a:ext cx="2890500" cy="28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 txBox="1"/>
          <p:nvPr>
            <p:ph type="title"/>
          </p:nvPr>
        </p:nvSpPr>
        <p:spPr>
          <a:xfrm>
            <a:off x="1141413" y="618518"/>
            <a:ext cx="4459286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</a:pPr>
            <a:r>
              <a:rPr lang="en-US" sz="3200"/>
              <a:t>ENZYME SUBSTRATE COMPLEX</a:t>
            </a:r>
            <a:endParaRPr/>
          </a:p>
        </p:txBody>
      </p:sp>
      <p:sp>
        <p:nvSpPr>
          <p:cNvPr id="328" name="Google Shape;328;p27"/>
          <p:cNvSpPr txBox="1"/>
          <p:nvPr>
            <p:ph idx="1" type="body"/>
          </p:nvPr>
        </p:nvSpPr>
        <p:spPr>
          <a:xfrm>
            <a:off x="1141412" y="2249487"/>
            <a:ext cx="4459287" cy="3965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rgbClr val="00FFFF"/>
                </a:solidFill>
              </a:rPr>
              <a:t>Substrate</a:t>
            </a:r>
            <a:r>
              <a:rPr lang="en-US"/>
              <a:t>: reactants</a:t>
            </a:r>
            <a:endParaRPr/>
          </a:p>
          <a:p>
            <a:pPr indent="-1587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rgbClr val="00FFFF"/>
                </a:solidFill>
              </a:rPr>
              <a:t>Active site</a:t>
            </a:r>
            <a:r>
              <a:rPr lang="en-US"/>
              <a:t>: place where the substrates bind to the enzyme</a:t>
            </a:r>
            <a:endParaRPr/>
          </a:p>
          <a:p>
            <a:pPr indent="-1587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Enzyme + bonded substrates= </a:t>
            </a:r>
            <a:r>
              <a:rPr lang="en-US">
                <a:solidFill>
                  <a:srgbClr val="00FFFF"/>
                </a:solidFill>
              </a:rPr>
              <a:t>Enzyme substrate complex </a:t>
            </a:r>
            <a:endParaRPr>
              <a:solidFill>
                <a:srgbClr val="00FFFF"/>
              </a:solidFill>
            </a:endParaRPr>
          </a:p>
        </p:txBody>
      </p:sp>
      <p:pic>
        <p:nvPicPr>
          <p:cNvPr descr="Enzyme Kinetic Assays – How Does It Work? - Eppendorf Handling Solutions" id="329" name="Google Shape;329;p27"/>
          <p:cNvPicPr preferRelativeResize="0"/>
          <p:nvPr/>
        </p:nvPicPr>
        <p:blipFill rotWithShape="1">
          <a:blip r:embed="rId4">
            <a:alphaModFix/>
          </a:blip>
          <a:srcRect b="0" l="0" r="37964" t="0"/>
          <a:stretch/>
        </p:blipFill>
        <p:spPr>
          <a:xfrm>
            <a:off x="6096000" y="1492544"/>
            <a:ext cx="5456279" cy="3847963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LOCK AND KEY MECHANISM</a:t>
            </a:r>
            <a:endParaRPr/>
          </a:p>
        </p:txBody>
      </p:sp>
      <p:sp>
        <p:nvSpPr>
          <p:cNvPr id="335" name="Google Shape;335;p28"/>
          <p:cNvSpPr txBox="1"/>
          <p:nvPr>
            <p:ph idx="1" type="body"/>
          </p:nvPr>
        </p:nvSpPr>
        <p:spPr>
          <a:xfrm>
            <a:off x="1141412" y="2249487"/>
            <a:ext cx="484452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Enzymes can only bind to certain substrates based on their </a:t>
            </a:r>
            <a:r>
              <a:rPr lang="en-US">
                <a:solidFill>
                  <a:srgbClr val="00FFFF"/>
                </a:solidFill>
              </a:rPr>
              <a:t>shape</a:t>
            </a:r>
            <a:endParaRPr>
              <a:solidFill>
                <a:srgbClr val="00FFFF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When the reaction is over, the enzyme is left as it was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/>
              <a:t>Enzymes are NOT permanently changed or used up</a:t>
            </a:r>
            <a:endParaRPr/>
          </a:p>
        </p:txBody>
      </p:sp>
      <p:pic>
        <p:nvPicPr>
          <p:cNvPr descr="Enzyme Action" id="336" name="Google Shape;336;p28"/>
          <p:cNvPicPr preferRelativeResize="0"/>
          <p:nvPr/>
        </p:nvPicPr>
        <p:blipFill rotWithShape="1">
          <a:blip r:embed="rId4">
            <a:alphaModFix/>
          </a:blip>
          <a:srcRect b="3" l="0" r="3" t="4417"/>
          <a:stretch/>
        </p:blipFill>
        <p:spPr>
          <a:xfrm>
            <a:off x="6392335" y="2497720"/>
            <a:ext cx="4655075" cy="3047892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ENZYMES CAN CATALYZE CATABOLIC OR ANABOLIC REACTIONS</a:t>
            </a:r>
            <a:endParaRPr/>
          </a:p>
        </p:txBody>
      </p:sp>
      <p:pic>
        <p:nvPicPr>
          <p:cNvPr descr="Enzyme Activity In Lock And Key Model Vector Illustration Stock  Illustration - Download Image Now - iStock" id="342" name="Google Shape;342;p29"/>
          <p:cNvPicPr preferRelativeResize="0"/>
          <p:nvPr/>
        </p:nvPicPr>
        <p:blipFill rotWithShape="1">
          <a:blip r:embed="rId3">
            <a:alphaModFix/>
          </a:blip>
          <a:srcRect b="-513" l="0" r="0" t="-1"/>
          <a:stretch/>
        </p:blipFill>
        <p:spPr>
          <a:xfrm>
            <a:off x="6119706" y="2198400"/>
            <a:ext cx="5114925" cy="3082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zymes are Proteins: A Definitive Guide of 4000+ Words (Updated)" id="343" name="Google Shape;3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444" y="2198400"/>
            <a:ext cx="5456279" cy="3082797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344" name="Google Shape;344;p29"/>
          <p:cNvSpPr txBox="1"/>
          <p:nvPr/>
        </p:nvSpPr>
        <p:spPr>
          <a:xfrm>
            <a:off x="1674324" y="5422527"/>
            <a:ext cx="2733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Catabolic 🡪 </a:t>
            </a:r>
            <a:endParaRPr sz="2000">
              <a:solidFill>
                <a:srgbClr val="FF00D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-Breakdown</a:t>
            </a:r>
            <a:endParaRPr sz="2000">
              <a:solidFill>
                <a:srgbClr val="FF00D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-Release energy</a:t>
            </a:r>
            <a:endParaRPr sz="2400">
              <a:solidFill>
                <a:srgbClr val="FF00D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8006619" y="5382502"/>
            <a:ext cx="2733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Anabolic 🡪 </a:t>
            </a:r>
            <a:endParaRPr sz="2000">
              <a:solidFill>
                <a:srgbClr val="FF00D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-Build up</a:t>
            </a:r>
            <a:endParaRPr sz="2000">
              <a:solidFill>
                <a:srgbClr val="FF00D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D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-Store energy</a:t>
            </a:r>
            <a:endParaRPr sz="2400">
              <a:solidFill>
                <a:srgbClr val="FF00D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>
            <p:ph type="title"/>
          </p:nvPr>
        </p:nvSpPr>
        <p:spPr>
          <a:xfrm>
            <a:off x="1239887" y="210555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ALLOSTERIC ACTIVATION</a:t>
            </a:r>
            <a:endParaRPr/>
          </a:p>
        </p:txBody>
      </p:sp>
      <p:sp>
        <p:nvSpPr>
          <p:cNvPr id="351" name="Google Shape;351;p30"/>
          <p:cNvSpPr txBox="1"/>
          <p:nvPr>
            <p:ph idx="1" type="body"/>
          </p:nvPr>
        </p:nvSpPr>
        <p:spPr>
          <a:xfrm>
            <a:off x="1143000" y="1658150"/>
            <a:ext cx="103797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>
                <a:solidFill>
                  <a:srgbClr val="00FFFF"/>
                </a:solidFill>
              </a:rPr>
              <a:t>Allosteric enzymes</a:t>
            </a:r>
            <a:r>
              <a:rPr lang="en-US"/>
              <a:t> will have an allosteric (secondary) site necessary for binding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>
                <a:solidFill>
                  <a:srgbClr val="00FFFF"/>
                </a:solidFill>
              </a:rPr>
              <a:t>Effector molecules</a:t>
            </a:r>
            <a:r>
              <a:rPr lang="en-US"/>
              <a:t> bind to this site and modify the shape of the enzyme to allow the substrate to bind</a:t>
            </a:r>
            <a:endParaRPr/>
          </a:p>
        </p:txBody>
      </p:sp>
      <p:pic>
        <p:nvPicPr>
          <p:cNvPr descr="Enzymes are Proteins: A Definitive Guide of 4000+ Words (Updated)" id="352" name="Google Shape;35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1951" y="3559974"/>
            <a:ext cx="7711650" cy="28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>
            <p:ph type="title"/>
          </p:nvPr>
        </p:nvSpPr>
        <p:spPr>
          <a:xfrm>
            <a:off x="668975" y="618525"/>
            <a:ext cx="55893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</a:pPr>
            <a:r>
              <a:rPr lang="en-US" sz="3200"/>
              <a:t>CHANGES TO ENZYME ACTIVITY</a:t>
            </a:r>
            <a:endParaRPr/>
          </a:p>
        </p:txBody>
      </p:sp>
      <p:sp>
        <p:nvSpPr>
          <p:cNvPr id="358" name="Google Shape;358;p31"/>
          <p:cNvSpPr txBox="1"/>
          <p:nvPr>
            <p:ph idx="1" type="body"/>
          </p:nvPr>
        </p:nvSpPr>
        <p:spPr>
          <a:xfrm>
            <a:off x="668975" y="1720775"/>
            <a:ext cx="5030400" cy="3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n-US"/>
              <a:t>Some factors may affect the enzyme’s ability to function by changing the </a:t>
            </a:r>
            <a:r>
              <a:rPr b="1" lang="en-US" u="sng">
                <a:solidFill>
                  <a:srgbClr val="00FFFF"/>
                </a:solidFill>
              </a:rPr>
              <a:t>shape</a:t>
            </a:r>
            <a:r>
              <a:rPr lang="en-US">
                <a:solidFill>
                  <a:srgbClr val="00FFFF"/>
                </a:solidFill>
              </a:rPr>
              <a:t> </a:t>
            </a:r>
            <a:r>
              <a:rPr lang="en-US"/>
              <a:t>of the enzyme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n-US"/>
              <a:t>Enzymes are sensitive to changes in </a:t>
            </a:r>
            <a:r>
              <a:rPr lang="en-US">
                <a:solidFill>
                  <a:srgbClr val="00FFFF"/>
                </a:solidFill>
              </a:rPr>
              <a:t>temperature </a:t>
            </a:r>
            <a:r>
              <a:rPr lang="en-US"/>
              <a:t>and </a:t>
            </a:r>
            <a:r>
              <a:rPr lang="en-US">
                <a:solidFill>
                  <a:srgbClr val="00FFFF"/>
                </a:solidFill>
              </a:rPr>
              <a:t>pH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n-US"/>
              <a:t>Too much change results in </a:t>
            </a:r>
            <a:r>
              <a:rPr b="1" lang="en-US" u="sng">
                <a:solidFill>
                  <a:srgbClr val="00FFFF"/>
                </a:solidFill>
              </a:rPr>
              <a:t>denaturation</a:t>
            </a:r>
            <a:r>
              <a:rPr lang="en-US"/>
              <a:t>-</a:t>
            </a:r>
            <a:r>
              <a:rPr lang="en-US"/>
              <a:t> destruction of protein structure </a:t>
            </a:r>
            <a:endParaRPr/>
          </a:p>
          <a:p>
            <a:pPr indent="-217884" lvl="0" marL="228600" rtl="0" algn="l">
              <a:spcBef>
                <a:spcPts val="1000"/>
              </a:spcBef>
              <a:spcAft>
                <a:spcPts val="0"/>
              </a:spcAft>
              <a:buSzPct val="93750"/>
              <a:buChar char="•"/>
            </a:pPr>
            <a:r>
              <a:rPr lang="en-US"/>
              <a:t>Amount of substrate available will also affect how active an enzyme is* →</a:t>
            </a:r>
            <a:endParaRPr/>
          </a:p>
        </p:txBody>
      </p:sp>
      <p:pic>
        <p:nvPicPr>
          <p:cNvPr descr="Deactivation of Enzymes — Overview &amp;amp; Examples - Expii" id="359" name="Google Shape;35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3850" y="720200"/>
            <a:ext cx="4046400" cy="2053500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360" name="Google Shape;360;p31"/>
          <p:cNvSpPr txBox="1"/>
          <p:nvPr/>
        </p:nvSpPr>
        <p:spPr>
          <a:xfrm>
            <a:off x="6351625" y="5206625"/>
            <a:ext cx="5253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*Increasing substrate concentration increases the rate of reaction to a point. At some point the enzyme is considered “</a:t>
            </a:r>
            <a:r>
              <a:rPr b="1" lang="en-US" sz="1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saturated</a:t>
            </a:r>
            <a:r>
              <a:rPr lang="en-US" sz="1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 with substrate and the reaction rate will plateau.</a:t>
            </a:r>
            <a:endParaRPr sz="19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5099" y="3331825"/>
            <a:ext cx="1840375" cy="181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1"/>
          <p:cNvPicPr preferRelativeResize="0"/>
          <p:nvPr/>
        </p:nvPicPr>
        <p:blipFill rotWithShape="1">
          <a:blip r:embed="rId6">
            <a:alphaModFix/>
          </a:blip>
          <a:srcRect b="8526" l="11121" r="16620" t="17591"/>
          <a:stretch/>
        </p:blipFill>
        <p:spPr>
          <a:xfrm>
            <a:off x="8569000" y="3331826"/>
            <a:ext cx="3153117" cy="181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pH scale</a:t>
            </a:r>
            <a:endParaRPr/>
          </a:p>
        </p:txBody>
      </p:sp>
      <p:sp>
        <p:nvSpPr>
          <p:cNvPr id="369" name="Google Shape;369;p32"/>
          <p:cNvSpPr txBox="1"/>
          <p:nvPr>
            <p:ph idx="1" type="body"/>
          </p:nvPr>
        </p:nvSpPr>
        <p:spPr>
          <a:xfrm>
            <a:off x="543050" y="2218800"/>
            <a:ext cx="6013200" cy="412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1475" lvl="0" marL="457200" rtl="0" algn="l">
              <a:spcBef>
                <a:spcPts val="1000"/>
              </a:spcBef>
              <a:spcAft>
                <a:spcPts val="0"/>
              </a:spcAft>
              <a:buSzPts val="2250"/>
              <a:buChar char="•"/>
            </a:pPr>
            <a:r>
              <a:rPr lang="en-US"/>
              <a:t>Used to rank solutions in terms of </a:t>
            </a:r>
            <a:r>
              <a:rPr lang="en-US">
                <a:solidFill>
                  <a:srgbClr val="FF9900"/>
                </a:solidFill>
              </a:rPr>
              <a:t>acidity</a:t>
            </a:r>
            <a:r>
              <a:rPr lang="en-US"/>
              <a:t> or </a:t>
            </a:r>
            <a:r>
              <a:rPr lang="en-US">
                <a:solidFill>
                  <a:srgbClr val="FF00FF"/>
                </a:solidFill>
              </a:rPr>
              <a:t>alkalinity</a:t>
            </a:r>
            <a:r>
              <a:rPr lang="en-US"/>
              <a:t> (how basic it is) </a:t>
            </a:r>
            <a:endParaRPr/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SzPts val="2250"/>
              <a:buChar char="•"/>
            </a:pPr>
            <a:r>
              <a:rPr lang="en-US"/>
              <a:t>Measures concentration of H+ ions</a:t>
            </a:r>
            <a:endParaRPr/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SzPts val="2250"/>
              <a:buChar char="•"/>
            </a:pPr>
            <a:r>
              <a:rPr lang="en-US"/>
              <a:t>MOST solutions fall on this scale but it is possible for solutions to be less than zero or more than 14</a:t>
            </a:r>
            <a:endParaRPr/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SzPts val="2250"/>
              <a:buChar char="•"/>
            </a:pPr>
            <a:r>
              <a:rPr lang="en-US"/>
              <a:t>Most cells exist within a</a:t>
            </a:r>
            <a:r>
              <a:rPr lang="en-US">
                <a:solidFill>
                  <a:srgbClr val="00FF00"/>
                </a:solidFill>
              </a:rPr>
              <a:t> pH of 7</a:t>
            </a:r>
            <a:r>
              <a:rPr lang="en-US"/>
              <a:t> and exposure to more acidic or basic conditions can cause denaturation of proteins</a:t>
            </a:r>
            <a:endParaRPr/>
          </a:p>
        </p:txBody>
      </p:sp>
      <p:pic>
        <p:nvPicPr>
          <p:cNvPr id="370" name="Google Shape;3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4605" y="2541118"/>
            <a:ext cx="4732595" cy="255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1143001" y="405116"/>
            <a:ext cx="9905998" cy="1323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NON-COMPETITIVE INHIBITION</a:t>
            </a:r>
            <a:endParaRPr/>
          </a:p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1143001" y="1636556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An </a:t>
            </a:r>
            <a:r>
              <a:rPr lang="en-US">
                <a:solidFill>
                  <a:srgbClr val="00FFFF"/>
                </a:solidFill>
              </a:rPr>
              <a:t>inhibitor molecule</a:t>
            </a:r>
            <a:r>
              <a:rPr lang="en-US"/>
              <a:t> changes the shape of the enzyme by binding to the allosteric site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Substrate is unable to  bind due to shape change</a:t>
            </a:r>
            <a:endParaRPr/>
          </a:p>
        </p:txBody>
      </p:sp>
      <p:pic>
        <p:nvPicPr>
          <p:cNvPr descr="Enzyme Inhibition | BioNinja" id="377" name="Google Shape;3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269" y="3429000"/>
            <a:ext cx="8851462" cy="298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COMPETITIVE INHIBITION</a:t>
            </a:r>
            <a:endParaRPr/>
          </a:p>
        </p:txBody>
      </p:sp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An </a:t>
            </a:r>
            <a:r>
              <a:rPr lang="en-US">
                <a:solidFill>
                  <a:srgbClr val="00FFFF"/>
                </a:solidFill>
              </a:rPr>
              <a:t>inhibitor molecule</a:t>
            </a:r>
            <a:r>
              <a:rPr lang="en-US"/>
              <a:t> binds to the active site and prevents the substrate from binding at all → directly blocking the active site</a:t>
            </a:r>
            <a:endParaRPr/>
          </a:p>
        </p:txBody>
      </p:sp>
      <p:pic>
        <p:nvPicPr>
          <p:cNvPr descr="Enzyme Inhibition | BioNinja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186" y="3286126"/>
            <a:ext cx="7439025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5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3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391" name="Google Shape;391;p35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5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5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5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5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5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97" name="Google Shape;397;p35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98" name="Google Shape;398;p35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00" name="Google Shape;400;p35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01" name="Google Shape;401;p35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04" name="Google Shape;404;p35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06" name="Google Shape;406;p35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09" name="Google Shape;409;p35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2" name="Google Shape;412;p35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4" name="Google Shape;414;p35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6" name="Google Shape;416;p35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8" name="Google Shape;418;p35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2" name="Google Shape;422;p35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3" name="Google Shape;423;p35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5" name="Google Shape;425;p35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6" name="Google Shape;426;p35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8" name="Google Shape;428;p35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30" name="Google Shape;430;p35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33" name="Google Shape;433;p35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35" name="Google Shape;435;p35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38" name="Google Shape;438;p35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39" name="Google Shape;439;p35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42" name="Google Shape;442;p35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44" name="Google Shape;444;p35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" name="Google Shape;445;p35"/>
          <p:cNvGrpSpPr/>
          <p:nvPr/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>
          <p:nvSpPr>
            <p:cNvPr id="446" name="Google Shape;446;p35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47" name="Google Shape;447;p35"/>
            <p:cNvPicPr preferRelativeResize="0"/>
            <p:nvPr/>
          </p:nvPicPr>
          <p:blipFill rotWithShape="1">
            <a:blip r:embed="rId4">
              <a:alphaModFix amt="30000"/>
            </a:blip>
            <a:srcRect b="0" l="0" r="0" t="0"/>
            <a:stretch/>
          </p:blipFill>
          <p:spPr>
            <a:xfrm>
              <a:off x="0" y="-1"/>
              <a:ext cx="12192003" cy="68580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Fostering Effective Energy Transition | World Economic Forum" id="448" name="Google Shape;448;p35"/>
          <p:cNvPicPr preferRelativeResize="0"/>
          <p:nvPr/>
        </p:nvPicPr>
        <p:blipFill rotWithShape="1">
          <a:blip r:embed="rId5">
            <a:alphaModFix/>
          </a:blip>
          <a:srcRect b="-1" l="10249" r="-1" t="0"/>
          <a:stretch/>
        </p:blipFill>
        <p:spPr>
          <a:xfrm>
            <a:off x="3611" y="10"/>
            <a:ext cx="12188389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35"/>
          <p:cNvGrpSpPr/>
          <p:nvPr/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450" name="Google Shape;450;p35"/>
            <p:cNvSpPr/>
            <p:nvPr/>
          </p:nvSpPr>
          <p:spPr>
            <a:xfrm>
              <a:off x="2582333" y="2235200"/>
              <a:ext cx="7027334" cy="2396067"/>
            </a:xfrm>
            <a:prstGeom prst="round2DiagRect">
              <a:avLst>
                <a:gd fmla="val 9246" name="adj1"/>
                <a:gd fmla="val 0" name="adj2"/>
              </a:avLst>
            </a:prstGeom>
            <a:solidFill>
              <a:schemeClr val="dk1">
                <a:alpha val="80000"/>
              </a:schemeClr>
            </a:solidFill>
            <a:ln cap="sq" cmpd="sng" w="19050">
              <a:solidFill>
                <a:schemeClr val="lt2">
                  <a:alpha val="6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889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451" name="Google Shape;451;p35"/>
            <p:cNvGrpSpPr/>
            <p:nvPr/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452" name="Google Shape;452;p35"/>
              <p:cNvSpPr/>
              <p:nvPr/>
            </p:nvSpPr>
            <p:spPr>
              <a:xfrm flipH="1" rot="-5400000">
                <a:off x="9653587" y="3379784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53" name="Google Shape;453;p35"/>
              <p:cNvSpPr/>
              <p:nvPr/>
            </p:nvSpPr>
            <p:spPr>
              <a:xfrm flipH="1" rot="-5400000">
                <a:off x="10078244" y="3310728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35"/>
              <p:cNvSpPr/>
              <p:nvPr/>
            </p:nvSpPr>
            <p:spPr>
              <a:xfrm flipH="1" rot="-5400000">
                <a:off x="11146631" y="3574253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35"/>
              <p:cNvSpPr/>
              <p:nvPr/>
            </p:nvSpPr>
            <p:spPr>
              <a:xfrm flipH="1" rot="-5400000">
                <a:off x="10230644" y="3034502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56" name="Google Shape;456;p35"/>
              <p:cNvSpPr/>
              <p:nvPr/>
            </p:nvSpPr>
            <p:spPr>
              <a:xfrm rot="5400000">
                <a:off x="10034587" y="256275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57" name="Google Shape;457;p35"/>
              <p:cNvSpPr/>
              <p:nvPr/>
            </p:nvSpPr>
            <p:spPr>
              <a:xfrm rot="5400000">
                <a:off x="10747375" y="3232679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35"/>
              <p:cNvSpPr/>
              <p:nvPr/>
            </p:nvSpPr>
            <p:spPr>
              <a:xfrm rot="5400000">
                <a:off x="11399044" y="3095360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5"/>
              <p:cNvSpPr/>
              <p:nvPr/>
            </p:nvSpPr>
            <p:spPr>
              <a:xfrm rot="5400000">
                <a:off x="10353675" y="2153178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60" name="Google Shape;460;p35"/>
              <p:cNvSpPr/>
              <p:nvPr/>
            </p:nvSpPr>
            <p:spPr>
              <a:xfrm rot="5400000">
                <a:off x="9848850" y="330887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35"/>
              <p:cNvSpPr/>
              <p:nvPr/>
            </p:nvSpPr>
            <p:spPr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35"/>
              <p:cNvSpPr/>
              <p:nvPr/>
            </p:nvSpPr>
            <p:spPr>
              <a:xfrm rot="5400000">
                <a:off x="2122751" y="3532184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63" name="Google Shape;463;p35"/>
              <p:cNvSpPr/>
              <p:nvPr/>
            </p:nvSpPr>
            <p:spPr>
              <a:xfrm rot="5400000">
                <a:off x="1958445" y="3463128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35"/>
              <p:cNvSpPr/>
              <p:nvPr/>
            </p:nvSpPr>
            <p:spPr>
              <a:xfrm rot="5400000">
                <a:off x="858308" y="3726653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5"/>
              <p:cNvSpPr/>
              <p:nvPr/>
            </p:nvSpPr>
            <p:spPr>
              <a:xfrm rot="5400000">
                <a:off x="1658407" y="3186902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66" name="Google Shape;466;p35"/>
              <p:cNvSpPr/>
              <p:nvPr/>
            </p:nvSpPr>
            <p:spPr>
              <a:xfrm flipH="1" rot="-5400000">
                <a:off x="1860814" y="271515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67" name="Google Shape;467;p35"/>
              <p:cNvSpPr/>
              <p:nvPr/>
            </p:nvSpPr>
            <p:spPr>
              <a:xfrm flipH="1" rot="-5400000">
                <a:off x="1289314" y="3385079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35"/>
              <p:cNvSpPr/>
              <p:nvPr/>
            </p:nvSpPr>
            <p:spPr>
              <a:xfrm flipH="1" rot="-5400000">
                <a:off x="605895" y="3247760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35"/>
              <p:cNvSpPr/>
              <p:nvPr/>
            </p:nvSpPr>
            <p:spPr>
              <a:xfrm flipH="1" rot="-5400000">
                <a:off x="1532202" y="2305578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</p:sp>
          <p:sp>
            <p:nvSpPr>
              <p:cNvPr id="470" name="Google Shape;470;p35"/>
              <p:cNvSpPr/>
              <p:nvPr/>
            </p:nvSpPr>
            <p:spPr>
              <a:xfrm flipH="1" rot="-5400000">
                <a:off x="2154501" y="346127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35"/>
              <p:cNvSpPr/>
              <p:nvPr/>
            </p:nvSpPr>
            <p:spPr>
              <a:xfrm flipH="1" rot="-5400000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5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2" name="Google Shape;472;p35"/>
          <p:cNvSpPr txBox="1"/>
          <p:nvPr>
            <p:ph type="title"/>
          </p:nvPr>
        </p:nvSpPr>
        <p:spPr>
          <a:xfrm>
            <a:off x="2667000" y="2328334"/>
            <a:ext cx="6858000" cy="1367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 sz="4800"/>
              <a:t>ATP AND ENERGY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6"/>
          <p:cNvSpPr txBox="1"/>
          <p:nvPr>
            <p:ph type="title"/>
          </p:nvPr>
        </p:nvSpPr>
        <p:spPr>
          <a:xfrm>
            <a:off x="6569900" y="661123"/>
            <a:ext cx="47472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ATP</a:t>
            </a:r>
            <a:endParaRPr/>
          </a:p>
        </p:txBody>
      </p:sp>
      <p:sp>
        <p:nvSpPr>
          <p:cNvPr id="478" name="Google Shape;478;p36"/>
          <p:cNvSpPr txBox="1"/>
          <p:nvPr>
            <p:ph idx="1" type="body"/>
          </p:nvPr>
        </p:nvSpPr>
        <p:spPr>
          <a:xfrm>
            <a:off x="6047650" y="1850925"/>
            <a:ext cx="5556600" cy="4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>
                <a:solidFill>
                  <a:srgbClr val="00FFFF"/>
                </a:solidFill>
              </a:rPr>
              <a:t>Adenosine Triphosphate</a:t>
            </a:r>
            <a:r>
              <a:rPr lang="en-US" sz="3700"/>
              <a:t>= cell’s energy shuttle</a:t>
            </a:r>
            <a:endParaRPr sz="3700"/>
          </a:p>
          <a:p>
            <a:pPr indent="-2730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/>
              <a:t>Composed of: </a:t>
            </a:r>
            <a:endParaRPr sz="3700"/>
          </a:p>
          <a:p>
            <a:pPr indent="-3048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/>
              <a:t>A ribose sugar</a:t>
            </a:r>
            <a:endParaRPr sz="3700"/>
          </a:p>
          <a:p>
            <a:pPr indent="-3048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/>
              <a:t>Adenine </a:t>
            </a:r>
            <a:endParaRPr sz="3700"/>
          </a:p>
          <a:p>
            <a:pPr indent="-3048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/>
              <a:t>3 phosphate groups</a:t>
            </a:r>
            <a:endParaRPr sz="3700"/>
          </a:p>
        </p:txBody>
      </p:sp>
      <p:pic>
        <p:nvPicPr>
          <p:cNvPr descr="What is ATP and what does it do? | Socratic" id="479" name="Google Shape;479;p36"/>
          <p:cNvPicPr preferRelativeResize="0"/>
          <p:nvPr/>
        </p:nvPicPr>
        <p:blipFill rotWithShape="1">
          <a:blip r:embed="rId3">
            <a:alphaModFix/>
          </a:blip>
          <a:srcRect b="0" l="0" r="0" t="16122"/>
          <a:stretch/>
        </p:blipFill>
        <p:spPr>
          <a:xfrm>
            <a:off x="1118988" y="2099883"/>
            <a:ext cx="4635583" cy="266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"/>
          <p:cNvSpPr txBox="1"/>
          <p:nvPr>
            <p:ph type="title"/>
          </p:nvPr>
        </p:nvSpPr>
        <p:spPr>
          <a:xfrm>
            <a:off x="6569957" y="618518"/>
            <a:ext cx="474708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ENERGY FOR THE CELL</a:t>
            </a:r>
            <a:endParaRPr/>
          </a:p>
        </p:txBody>
      </p:sp>
      <p:sp>
        <p:nvSpPr>
          <p:cNvPr id="486" name="Google Shape;486;p37"/>
          <p:cNvSpPr txBox="1"/>
          <p:nvPr>
            <p:ph idx="1" type="body"/>
          </p:nvPr>
        </p:nvSpPr>
        <p:spPr>
          <a:xfrm>
            <a:off x="6569950" y="1635025"/>
            <a:ext cx="4747200" cy="4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4319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Char char="•"/>
            </a:pPr>
            <a:r>
              <a:rPr lang="en-US" sz="3100"/>
              <a:t>ATP is chemical fuel that powers the activities of the cell. </a:t>
            </a:r>
            <a:endParaRPr sz="2700"/>
          </a:p>
          <a:p>
            <a:pPr indent="-264319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800"/>
              <a:buChar char="•"/>
            </a:pPr>
            <a:r>
              <a:rPr lang="en-US" sz="3100"/>
              <a:t>Energy is stored in the phosphate bonds</a:t>
            </a:r>
            <a:endParaRPr sz="2700"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FFFF"/>
                </a:solidFill>
              </a:rPr>
              <a:t>**Most energy in the bond between the second and third phosphate</a:t>
            </a:r>
            <a:endParaRPr sz="2700">
              <a:solidFill>
                <a:srgbClr val="00FFFF"/>
              </a:solidFill>
            </a:endParaRPr>
          </a:p>
        </p:txBody>
      </p:sp>
      <p:pic>
        <p:nvPicPr>
          <p:cNvPr id="487" name="Google Shape;4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88" y="2254752"/>
            <a:ext cx="4635583" cy="2352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8"/>
          <p:cNvSpPr txBox="1"/>
          <p:nvPr>
            <p:ph type="title"/>
          </p:nvPr>
        </p:nvSpPr>
        <p:spPr>
          <a:xfrm>
            <a:off x="6569957" y="618518"/>
            <a:ext cx="474708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ATP HYDROLYSIS</a:t>
            </a:r>
            <a:endParaRPr/>
          </a:p>
        </p:txBody>
      </p:sp>
      <p:sp>
        <p:nvSpPr>
          <p:cNvPr id="493" name="Google Shape;493;p38"/>
          <p:cNvSpPr txBox="1"/>
          <p:nvPr>
            <p:ph idx="1" type="body"/>
          </p:nvPr>
        </p:nvSpPr>
        <p:spPr>
          <a:xfrm>
            <a:off x="6569950" y="1793975"/>
            <a:ext cx="4747200" cy="4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</a:pPr>
            <a:r>
              <a:rPr lang="en-US" sz="3000"/>
              <a:t>B</a:t>
            </a:r>
            <a:r>
              <a:rPr lang="en-US" sz="3500"/>
              <a:t>onds between the last two phosphate groups in the tail of ATP are broken </a:t>
            </a:r>
            <a:endParaRPr sz="3100"/>
          </a:p>
          <a:p>
            <a:pPr indent="-2730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Char char="•"/>
            </a:pPr>
            <a:r>
              <a:rPr lang="en-US" sz="3500"/>
              <a:t>Energy is released as a result</a:t>
            </a:r>
            <a:endParaRPr sz="3100"/>
          </a:p>
        </p:txBody>
      </p:sp>
      <p:pic>
        <p:nvPicPr>
          <p:cNvPr id="494" name="Google Shape;4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989" y="1223428"/>
            <a:ext cx="5307011" cy="456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9"/>
          <p:cNvSpPr txBox="1"/>
          <p:nvPr>
            <p:ph type="title"/>
          </p:nvPr>
        </p:nvSpPr>
        <p:spPr>
          <a:xfrm>
            <a:off x="6569957" y="618518"/>
            <a:ext cx="474708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WHAT HAPPENS TO THE PHOSPHATE GROUP?</a:t>
            </a:r>
            <a:endParaRPr/>
          </a:p>
        </p:txBody>
      </p:sp>
      <p:sp>
        <p:nvSpPr>
          <p:cNvPr id="500" name="Google Shape;500;p39"/>
          <p:cNvSpPr txBox="1"/>
          <p:nvPr>
            <p:ph idx="1" type="body"/>
          </p:nvPr>
        </p:nvSpPr>
        <p:spPr>
          <a:xfrm>
            <a:off x="5949650" y="1927000"/>
            <a:ext cx="5836200" cy="4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Char char="•"/>
            </a:pPr>
            <a:r>
              <a:rPr lang="en-US" sz="3200"/>
              <a:t>ATP hydrolysis helps to drive reactions by </a:t>
            </a:r>
            <a:r>
              <a:rPr lang="en-US" sz="3200">
                <a:solidFill>
                  <a:srgbClr val="00FFFF"/>
                </a:solidFill>
              </a:rPr>
              <a:t>phosphorylation</a:t>
            </a:r>
            <a:r>
              <a:rPr lang="en-US" sz="3200"/>
              <a:t>:</a:t>
            </a:r>
            <a:endParaRPr sz="3200"/>
          </a:p>
          <a:p>
            <a:pPr indent="-2794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300"/>
              <a:buChar char="•"/>
            </a:pPr>
            <a:r>
              <a:rPr lang="en-US" sz="2800"/>
              <a:t>Transferring a phosphate group to some other molecule such as a reactant</a:t>
            </a:r>
            <a:endParaRPr sz="2800"/>
          </a:p>
          <a:p>
            <a:pPr indent="-2794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800"/>
              <a:buChar char="•"/>
            </a:pPr>
            <a:r>
              <a:rPr lang="en-US" sz="3200"/>
              <a:t>The recipient molecule is now phosphorylated 🡪 receives energy</a:t>
            </a:r>
            <a:endParaRPr sz="3200"/>
          </a:p>
        </p:txBody>
      </p:sp>
      <p:pic>
        <p:nvPicPr>
          <p:cNvPr id="501" name="Google Shape;50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893" y="1147145"/>
            <a:ext cx="4567773" cy="456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0"/>
          <p:cNvSpPr txBox="1"/>
          <p:nvPr>
            <p:ph type="title"/>
          </p:nvPr>
        </p:nvSpPr>
        <p:spPr>
          <a:xfrm>
            <a:off x="6569957" y="618518"/>
            <a:ext cx="474708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ATP ADP CYCLE</a:t>
            </a:r>
            <a:endParaRPr/>
          </a:p>
        </p:txBody>
      </p:sp>
      <p:sp>
        <p:nvSpPr>
          <p:cNvPr id="507" name="Google Shape;507;p40"/>
          <p:cNvSpPr txBox="1"/>
          <p:nvPr>
            <p:ph idx="1" type="body"/>
          </p:nvPr>
        </p:nvSpPr>
        <p:spPr>
          <a:xfrm>
            <a:off x="6085900" y="1680425"/>
            <a:ext cx="5231400" cy="4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03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50"/>
              <a:buChar char="•"/>
            </a:pPr>
            <a:r>
              <a:rPr lang="en-US" sz="2700"/>
              <a:t>ATP is renewable and regenerated by the addition of a phosphate group to adenosine diphosphate </a:t>
            </a:r>
            <a:endParaRPr sz="2900"/>
          </a:p>
          <a:p>
            <a:pPr indent="-2603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50"/>
              <a:buChar char="•"/>
            </a:pPr>
            <a:r>
              <a:rPr lang="en-US" sz="2700"/>
              <a:t>The energy to phosphorylate ADP comes from catabolic reactions in the cell</a:t>
            </a:r>
            <a:endParaRPr sz="2900"/>
          </a:p>
          <a:p>
            <a:pPr indent="-2603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50"/>
              <a:buChar char="•"/>
            </a:pPr>
            <a:r>
              <a:rPr lang="en-US" sz="2700"/>
              <a:t>Chemical energy stored in ATP is what powers most cellular work</a:t>
            </a:r>
            <a:endParaRPr sz="2900"/>
          </a:p>
        </p:txBody>
      </p:sp>
      <p:pic>
        <p:nvPicPr>
          <p:cNvPr descr="ATP cycle and reaction coupling | Energy (article) | Khan Academy" id="508" name="Google Shape;5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780" y="1141367"/>
            <a:ext cx="4487837" cy="456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"/>
          <p:cNvSpPr txBox="1"/>
          <p:nvPr>
            <p:ph type="title"/>
          </p:nvPr>
        </p:nvSpPr>
        <p:spPr>
          <a:xfrm>
            <a:off x="7914894" y="1122363"/>
            <a:ext cx="315622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 sz="4800"/>
              <a:t>ATP-ADP CYCLE</a:t>
            </a:r>
            <a:endParaRPr/>
          </a:p>
        </p:txBody>
      </p:sp>
      <p:pic>
        <p:nvPicPr>
          <p:cNvPr descr="Phosphorylation Basics" id="514" name="Google Shape;514;p41"/>
          <p:cNvPicPr preferRelativeResize="0"/>
          <p:nvPr/>
        </p:nvPicPr>
        <p:blipFill rotWithShape="1">
          <a:blip r:embed="rId3">
            <a:alphaModFix/>
          </a:blip>
          <a:srcRect b="9267" l="0" r="-2" t="0"/>
          <a:stretch/>
        </p:blipFill>
        <p:spPr>
          <a:xfrm>
            <a:off x="-5597" y="10"/>
            <a:ext cx="7558541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/>
          <p:nvPr>
            <p:ph type="title"/>
          </p:nvPr>
        </p:nvSpPr>
        <p:spPr>
          <a:xfrm>
            <a:off x="6945353" y="618518"/>
            <a:ext cx="4413736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HARVESTING STORED ENERGY </a:t>
            </a:r>
            <a:endParaRPr/>
          </a:p>
        </p:txBody>
      </p:sp>
      <p:sp>
        <p:nvSpPr>
          <p:cNvPr id="520" name="Google Shape;520;p42"/>
          <p:cNvSpPr txBox="1"/>
          <p:nvPr>
            <p:ph idx="1" type="body"/>
          </p:nvPr>
        </p:nvSpPr>
        <p:spPr>
          <a:xfrm>
            <a:off x="6290275" y="2249475"/>
            <a:ext cx="5563500" cy="4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Char char="•"/>
            </a:pPr>
            <a:r>
              <a:rPr lang="en-US" sz="3200"/>
              <a:t>Energy is stored in organic molecules </a:t>
            </a:r>
            <a:endParaRPr sz="3200"/>
          </a:p>
          <a:p>
            <a:pPr indent="-2794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800"/>
              <a:buChar char="•"/>
            </a:pPr>
            <a:r>
              <a:rPr lang="en-US" sz="3200"/>
              <a:t>Heterotrophs eat organic molecules and digest them for: </a:t>
            </a:r>
            <a:endParaRPr sz="3200"/>
          </a:p>
          <a:p>
            <a:pPr indent="-2794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300"/>
              <a:buChar char="•"/>
            </a:pPr>
            <a:r>
              <a:rPr lang="en-US" sz="2800"/>
              <a:t>Raw materials for synthesis </a:t>
            </a:r>
            <a:endParaRPr sz="2800"/>
          </a:p>
          <a:p>
            <a:pPr indent="-2794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300"/>
              <a:buChar char="•"/>
            </a:pPr>
            <a:r>
              <a:rPr lang="en-US" sz="2800"/>
              <a:t>Fuels for energy</a:t>
            </a:r>
            <a:endParaRPr sz="2800"/>
          </a:p>
        </p:txBody>
      </p:sp>
      <p:pic>
        <p:nvPicPr>
          <p:cNvPr descr="Eating the planet: what our diets and population growth mean for the  environment | Population Matters" id="521" name="Google Shape;521;p42"/>
          <p:cNvPicPr preferRelativeResize="0"/>
          <p:nvPr/>
        </p:nvPicPr>
        <p:blipFill rotWithShape="1">
          <a:blip r:embed="rId3">
            <a:alphaModFix/>
          </a:blip>
          <a:srcRect b="7831" l="0" r="0" t="7699"/>
          <a:stretch/>
        </p:blipFill>
        <p:spPr>
          <a:xfrm>
            <a:off x="-5597" y="1"/>
            <a:ext cx="6101597" cy="3427413"/>
          </a:xfrm>
          <a:custGeom>
            <a:rect b="b" l="l" r="r" t="t"/>
            <a:pathLst>
              <a:path extrusionOk="0" h="3427413" w="6101597">
                <a:moveTo>
                  <a:pt x="0" y="0"/>
                </a:moveTo>
                <a:lnTo>
                  <a:pt x="6101597" y="0"/>
                </a:lnTo>
                <a:lnTo>
                  <a:pt x="6101597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heterotroph - Students | Britannica Kids | Homework Help" id="522" name="Google Shape;522;p42"/>
          <p:cNvPicPr preferRelativeResize="0"/>
          <p:nvPr/>
        </p:nvPicPr>
        <p:blipFill rotWithShape="1">
          <a:blip r:embed="rId4">
            <a:alphaModFix/>
          </a:blip>
          <a:srcRect b="3293" l="0" r="0" t="12159"/>
          <a:stretch/>
        </p:blipFill>
        <p:spPr>
          <a:xfrm>
            <a:off x="-5597" y="3427414"/>
            <a:ext cx="6101597" cy="3430587"/>
          </a:xfrm>
          <a:custGeom>
            <a:rect b="b" l="l" r="r" t="t"/>
            <a:pathLst>
              <a:path extrusionOk="0" h="3430587" w="6101597">
                <a:moveTo>
                  <a:pt x="0" y="0"/>
                </a:moveTo>
                <a:lnTo>
                  <a:pt x="6101597" y="0"/>
                </a:lnTo>
                <a:lnTo>
                  <a:pt x="6101597" y="3430587"/>
                </a:lnTo>
                <a:lnTo>
                  <a:pt x="0" y="343058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HARVESTING STORED ENERGY</a:t>
            </a:r>
            <a:endParaRPr/>
          </a:p>
        </p:txBody>
      </p:sp>
      <p:sp>
        <p:nvSpPr>
          <p:cNvPr id="528" name="Google Shape;528;p4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W</a:t>
            </a:r>
            <a:r>
              <a:rPr lang="en-US" sz="3400"/>
              <a:t>e use catabolism of </a:t>
            </a:r>
            <a:r>
              <a:rPr lang="en-US" sz="3400">
                <a:solidFill>
                  <a:srgbClr val="00FFFF"/>
                </a:solidFill>
              </a:rPr>
              <a:t>glucose</a:t>
            </a:r>
            <a:r>
              <a:rPr lang="en-US" sz="3400"/>
              <a:t> as the model</a:t>
            </a:r>
            <a:endParaRPr sz="3400"/>
          </a:p>
          <a:p>
            <a:pPr indent="-292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</a:pPr>
            <a:r>
              <a:rPr lang="en-US" sz="3400">
                <a:solidFill>
                  <a:srgbClr val="00FFFF"/>
                </a:solidFill>
              </a:rPr>
              <a:t>Respiration</a:t>
            </a:r>
            <a:r>
              <a:rPr lang="en-US" sz="3400"/>
              <a:t>: making ATP (&amp; some heat by burning fuels in many small steps)</a:t>
            </a:r>
            <a:endParaRPr sz="3400"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 sz="3400"/>
          </a:p>
        </p:txBody>
      </p:sp>
      <p:pic>
        <p:nvPicPr>
          <p:cNvPr descr="cellular respiration | Process &amp;amp; Products | Britannica" id="529" name="Google Shape;529;p43"/>
          <p:cNvPicPr preferRelativeResize="0"/>
          <p:nvPr/>
        </p:nvPicPr>
        <p:blipFill rotWithShape="1">
          <a:blip r:embed="rId3">
            <a:alphaModFix/>
          </a:blip>
          <a:srcRect b="34254" l="0" r="0" t="1196"/>
          <a:stretch/>
        </p:blipFill>
        <p:spPr>
          <a:xfrm>
            <a:off x="3604692" y="4199138"/>
            <a:ext cx="4979437" cy="159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4"/>
          <p:cNvSpPr txBox="1"/>
          <p:nvPr>
            <p:ph type="title"/>
          </p:nvPr>
        </p:nvSpPr>
        <p:spPr>
          <a:xfrm>
            <a:off x="1143001" y="550506"/>
            <a:ext cx="9905998" cy="118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HOW DO WE HARVEST ENERGY FROM FUELS?</a:t>
            </a:r>
            <a:endParaRPr/>
          </a:p>
        </p:txBody>
      </p:sp>
      <p:sp>
        <p:nvSpPr>
          <p:cNvPr id="535" name="Google Shape;535;p44"/>
          <p:cNvSpPr txBox="1"/>
          <p:nvPr>
            <p:ph idx="1" type="body"/>
          </p:nvPr>
        </p:nvSpPr>
        <p:spPr>
          <a:xfrm>
            <a:off x="635850" y="1476050"/>
            <a:ext cx="5624100" cy="52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225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Di</a:t>
            </a:r>
            <a:r>
              <a:rPr lang="en-US" sz="3100"/>
              <a:t>gest large molecules into smaller ones</a:t>
            </a:r>
            <a:endParaRPr sz="3100"/>
          </a:p>
          <a:p>
            <a:pPr indent="-2667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100"/>
              <a:buChar char="•"/>
            </a:pPr>
            <a:r>
              <a:rPr lang="en-US" sz="3100"/>
              <a:t>Break bonds and </a:t>
            </a:r>
            <a:r>
              <a:rPr lang="en-US" sz="3100" u="sng">
                <a:solidFill>
                  <a:srgbClr val="00FFFF"/>
                </a:solidFill>
              </a:rPr>
              <a:t>move electrons and hydrogens</a:t>
            </a:r>
            <a:r>
              <a:rPr lang="en-US" sz="3100"/>
              <a:t> from one molecule to another</a:t>
            </a:r>
            <a:endParaRPr sz="3100"/>
          </a:p>
          <a:p>
            <a:pPr indent="-2667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100"/>
              <a:buChar char="•"/>
            </a:pPr>
            <a:r>
              <a:rPr lang="en-US" sz="3100"/>
              <a:t>As electrons move they carry energy 🡪 this can be stored in another bond</a:t>
            </a:r>
            <a:endParaRPr sz="3100"/>
          </a:p>
        </p:txBody>
      </p:sp>
      <p:pic>
        <p:nvPicPr>
          <p:cNvPr descr="Redox reactions - Labster Theory" id="536" name="Google Shape;53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131" y="2538412"/>
            <a:ext cx="48768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OXIDATION AND REDUCTION</a:t>
            </a:r>
            <a:endParaRPr/>
          </a:p>
        </p:txBody>
      </p:sp>
      <p:sp>
        <p:nvSpPr>
          <p:cNvPr id="542" name="Google Shape;542;p45"/>
          <p:cNvSpPr txBox="1"/>
          <p:nvPr>
            <p:ph idx="1" type="body"/>
          </p:nvPr>
        </p:nvSpPr>
        <p:spPr>
          <a:xfrm>
            <a:off x="1141425" y="1521475"/>
            <a:ext cx="4954500" cy="4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US" sz="3000">
                <a:solidFill>
                  <a:srgbClr val="00FFFF"/>
                </a:solidFill>
              </a:rPr>
              <a:t>Oxidation</a:t>
            </a:r>
            <a:r>
              <a:rPr lang="en-US" sz="3000"/>
              <a:t>: Electrons and hydrogen are lost </a:t>
            </a:r>
            <a:endParaRPr sz="3000"/>
          </a:p>
          <a:p>
            <a:pPr indent="-2667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</a:pPr>
            <a:r>
              <a:rPr lang="en-US" sz="3000">
                <a:solidFill>
                  <a:srgbClr val="00FFFF"/>
                </a:solidFill>
              </a:rPr>
              <a:t>Reduction</a:t>
            </a:r>
            <a:r>
              <a:rPr lang="en-US" sz="3000"/>
              <a:t>: Electrons and hydrogens are gained 🡪 energy is stored</a:t>
            </a:r>
            <a:endParaRPr sz="3000"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Oxidation-reduction (Redox) reactions - Tuition Tube" id="543" name="Google Shape;543;p45"/>
          <p:cNvPicPr preferRelativeResize="0"/>
          <p:nvPr/>
        </p:nvPicPr>
        <p:blipFill rotWithShape="1">
          <a:blip r:embed="rId3">
            <a:alphaModFix/>
          </a:blip>
          <a:srcRect b="-1" l="6887" r="7201" t="0"/>
          <a:stretch/>
        </p:blipFill>
        <p:spPr>
          <a:xfrm>
            <a:off x="6590377" y="1993866"/>
            <a:ext cx="4655075" cy="3047892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pic>
        <p:nvPicPr>
          <p:cNvPr descr="IGCSE Chemistry Help! - ADVoscience" id="544" name="Google Shape;54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7494" y="4668708"/>
            <a:ext cx="416242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