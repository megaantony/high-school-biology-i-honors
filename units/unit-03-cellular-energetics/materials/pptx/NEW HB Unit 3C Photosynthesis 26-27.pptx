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Outfit ExtraBold"/>
      <p:bold r:id="rId42"/>
    </p:embeddedFont>
    <p:embeddedFont>
      <p:font typeface="Average"/>
      <p:regular r:id="rId43"/>
    </p:embeddedFont>
    <p:embeddedFont>
      <p:font typeface="Oswald"/>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OutfitExtraBold-bold.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Oswald-regular.fntdata"/><Relationship Id="rId21" Type="http://schemas.openxmlformats.org/officeDocument/2006/relationships/slide" Target="slides/slide16.xml"/><Relationship Id="rId43" Type="http://schemas.openxmlformats.org/officeDocument/2006/relationships/font" Target="fonts/Average-regular.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Oswa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190314e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190314e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190314e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a190314e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190314eb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190314eb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190314eb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190314eb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190314eb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190314eb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25ae3ab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b25ae3ab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190314eb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190314eb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190314eb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190314eb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db25ae3ab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db25ae3ab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0bff305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0bff305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b25ae3ab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b25ae3ab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b25ae3ab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b25ae3ab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b25ae3ab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b25ae3ab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b25ae3ab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b25ae3ab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b25ae3abd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b25ae3abd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b50b4ed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b50b4ed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b25ae3abd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db25ae3abd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b25ae3abd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b25ae3abd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b25ae3abd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b25ae3abd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b25ae3abd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db25ae3abd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db25ae3abd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db25ae3abd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b25ae3abd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b25ae3abd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b25ae3abd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db25ae3abd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b25ae3abd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db25ae3abd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b25ae3abd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db25ae3abd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b25ae3abd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db25ae3abd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b50b4edd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b50b4edd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fb50b4edd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fb50b4edd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b25ae3abd_2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b25ae3abd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b25ae3abd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b25ae3abd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b25ae3abd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db25ae3abd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db25ae3abd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db25ae3abd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b25ae3abd_2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db25ae3abd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b25ae3abd_2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db25ae3abd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b25ae3abd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db25ae3abd_2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5DE82"/>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Oswald"/>
              <a:buNone/>
              <a:defRPr sz="5200">
                <a:latin typeface="Oswald"/>
                <a:ea typeface="Oswald"/>
                <a:cs typeface="Oswald"/>
                <a:sym typeface="Oswa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Oswald"/>
              <a:buNone/>
              <a:defRPr sz="2800">
                <a:latin typeface="Oswald"/>
                <a:ea typeface="Oswald"/>
                <a:cs typeface="Oswald"/>
                <a:sym typeface="Oswal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Font typeface="Oswald"/>
              <a:buNone/>
              <a:defRPr sz="3600">
                <a:latin typeface="Oswald"/>
                <a:ea typeface="Oswald"/>
                <a:cs typeface="Oswald"/>
                <a:sym typeface="Oswa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rgbClr val="FD8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5DE8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Average"/>
              <a:buNone/>
              <a:defRPr b="1" sz="2800">
                <a:solidFill>
                  <a:schemeClr val="dk1"/>
                </a:solidFill>
                <a:latin typeface="Average"/>
                <a:ea typeface="Average"/>
                <a:cs typeface="Average"/>
                <a:sym typeface="Averag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Average"/>
              <a:buChar char="●"/>
              <a:defRPr sz="1800">
                <a:solidFill>
                  <a:schemeClr val="dk1"/>
                </a:solidFill>
                <a:latin typeface="Average"/>
                <a:ea typeface="Average"/>
                <a:cs typeface="Average"/>
                <a:sym typeface="Average"/>
              </a:defRPr>
            </a:lvl1pPr>
            <a:lvl2pPr indent="-317500" lvl="1" marL="9144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2pPr>
            <a:lvl3pPr indent="-317500" lvl="2" marL="13716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3pPr>
            <a:lvl4pPr indent="-317500" lvl="3" marL="18288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4pPr>
            <a:lvl5pPr indent="-317500" lvl="4" marL="22860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5pPr>
            <a:lvl6pPr indent="-317500" lvl="5" marL="27432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6pPr>
            <a:lvl7pPr indent="-317500" lvl="6" marL="32004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7pPr>
            <a:lvl8pPr indent="-317500" lvl="7" marL="36576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8pPr>
            <a:lvl9pPr indent="-317500" lvl="8" marL="4114800">
              <a:lnSpc>
                <a:spcPct val="115000"/>
              </a:lnSpc>
              <a:spcBef>
                <a:spcPts val="0"/>
              </a:spcBef>
              <a:spcAft>
                <a:spcPts val="0"/>
              </a:spcAft>
              <a:buClr>
                <a:schemeClr val="dk1"/>
              </a:buClr>
              <a:buSzPts val="1400"/>
              <a:buFont typeface="Average"/>
              <a:buChar char="■"/>
              <a:defRPr>
                <a:solidFill>
                  <a:schemeClr val="dk1"/>
                </a:solidFill>
                <a:latin typeface="Average"/>
                <a:ea typeface="Average"/>
                <a:cs typeface="Average"/>
                <a:sym typeface="Average"/>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6.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www.youtube.com/watch?v=Le7KOX91w7U" TargetMode="External"/><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www.youtube.com/watch?v=SltE4zP8-9w" TargetMode="External"/><Relationship Id="rId4" Type="http://schemas.openxmlformats.org/officeDocument/2006/relationships/image" Target="../media/image2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www.youtube.com/watch?v=CvtbMdM4Wfo" TargetMode="External"/><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545450"/>
            <a:ext cx="8520600" cy="2052600"/>
          </a:xfrm>
          <a:prstGeom prst="rect">
            <a:avLst/>
          </a:prstGeom>
          <a:solidFill>
            <a:srgbClr val="000000">
              <a:alpha val="42770"/>
            </a:srgbClr>
          </a:solidFill>
          <a:effectLst>
            <a:outerShdw blurRad="57150" rotWithShape="0" algn="bl" dir="5400000" dist="19050">
              <a:srgbClr val="000000">
                <a:alpha val="54000"/>
              </a:srgbClr>
            </a:outerShdw>
          </a:effectLst>
        </p:spPr>
        <p:txBody>
          <a:bodyPr anchorCtr="0" anchor="ctr" bIns="91425" lIns="91425" spcFirstLastPara="1" rIns="91425" wrap="square" tIns="91425">
            <a:normAutofit/>
          </a:bodyPr>
          <a:lstStyle/>
          <a:p>
            <a:pPr indent="0" lvl="0" marL="457200" rtl="0" algn="ctr">
              <a:spcBef>
                <a:spcPts val="0"/>
              </a:spcBef>
              <a:spcAft>
                <a:spcPts val="0"/>
              </a:spcAft>
              <a:buNone/>
            </a:pPr>
            <a:r>
              <a:rPr lang="en">
                <a:solidFill>
                  <a:srgbClr val="FFFFFF"/>
                </a:solidFill>
              </a:rPr>
              <a:t>Photosynthesis</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Organisms Obtain Energy</a:t>
            </a:r>
            <a:endParaRPr/>
          </a:p>
        </p:txBody>
      </p:sp>
      <p:sp>
        <p:nvSpPr>
          <p:cNvPr id="60" name="Google Shape;60;p14"/>
          <p:cNvSpPr txBox="1"/>
          <p:nvPr>
            <p:ph idx="1" type="body"/>
          </p:nvPr>
        </p:nvSpPr>
        <p:spPr>
          <a:xfrm>
            <a:off x="311700" y="1152475"/>
            <a:ext cx="45771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b="1" lang="en" sz="2100"/>
              <a:t>Autotrophs</a:t>
            </a:r>
            <a:r>
              <a:rPr lang="en" sz="2100"/>
              <a:t> (AKA Producers): make their own food by building organic molecules</a:t>
            </a:r>
            <a:endParaRPr sz="2100"/>
          </a:p>
          <a:p>
            <a:pPr indent="-361950" lvl="0" marL="457200" rtl="0" algn="l">
              <a:spcBef>
                <a:spcPts val="0"/>
              </a:spcBef>
              <a:spcAft>
                <a:spcPts val="0"/>
              </a:spcAft>
              <a:buSzPts val="2100"/>
              <a:buChar char="●"/>
            </a:pPr>
            <a:r>
              <a:rPr b="1" lang="en" sz="2100"/>
              <a:t>Heterotrophs</a:t>
            </a:r>
            <a:r>
              <a:rPr lang="en" sz="2100"/>
              <a:t> (AKA Consumers): Obtain energy from foods they consume</a:t>
            </a:r>
            <a:endParaRPr sz="2100"/>
          </a:p>
        </p:txBody>
      </p:sp>
      <p:pic>
        <p:nvPicPr>
          <p:cNvPr id="61" name="Google Shape;61;p14"/>
          <p:cNvPicPr preferRelativeResize="0"/>
          <p:nvPr/>
        </p:nvPicPr>
        <p:blipFill>
          <a:blip r:embed="rId3">
            <a:alphaModFix/>
          </a:blip>
          <a:stretch>
            <a:fillRect/>
          </a:stretch>
        </p:blipFill>
        <p:spPr>
          <a:xfrm>
            <a:off x="5307462" y="2895875"/>
            <a:ext cx="3462651" cy="1947724"/>
          </a:xfrm>
          <a:prstGeom prst="rect">
            <a:avLst/>
          </a:prstGeom>
          <a:noFill/>
          <a:ln>
            <a:noFill/>
          </a:ln>
        </p:spPr>
      </p:pic>
      <p:pic>
        <p:nvPicPr>
          <p:cNvPr id="62" name="Google Shape;62;p14"/>
          <p:cNvPicPr preferRelativeResize="0"/>
          <p:nvPr/>
        </p:nvPicPr>
        <p:blipFill>
          <a:blip r:embed="rId4">
            <a:alphaModFix/>
          </a:blip>
          <a:stretch>
            <a:fillRect/>
          </a:stretch>
        </p:blipFill>
        <p:spPr>
          <a:xfrm>
            <a:off x="5344513" y="445025"/>
            <a:ext cx="3388551" cy="22590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Plant Anatomy Basics</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56031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R</a:t>
            </a:r>
            <a:r>
              <a:rPr b="1" lang="en">
                <a:solidFill>
                  <a:schemeClr val="dk1"/>
                </a:solidFill>
              </a:rPr>
              <a:t>oots:</a:t>
            </a:r>
            <a:r>
              <a:rPr lang="en">
                <a:solidFill>
                  <a:schemeClr val="dk1"/>
                </a:solidFill>
              </a:rPr>
              <a:t> soak up water and nutrients from the soil, may also serve to store extra sugars </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Stems</a:t>
            </a:r>
            <a:r>
              <a:rPr lang="en">
                <a:solidFill>
                  <a:schemeClr val="dk1"/>
                </a:solidFill>
              </a:rPr>
              <a:t>: bring water and nutrients to different parts of the plant via capillary action </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Leaves</a:t>
            </a:r>
            <a:r>
              <a:rPr lang="en">
                <a:solidFill>
                  <a:schemeClr val="dk1"/>
                </a:solidFill>
              </a:rPr>
              <a:t>: exchange gasses and water between the plant and air through the tiny openings called </a:t>
            </a:r>
            <a:r>
              <a:rPr b="1" lang="en">
                <a:solidFill>
                  <a:schemeClr val="dk1"/>
                </a:solidFill>
              </a:rPr>
              <a:t>stomata</a:t>
            </a:r>
            <a:endParaRPr b="1">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Transpiration</a:t>
            </a:r>
            <a:r>
              <a:rPr lang="en">
                <a:solidFill>
                  <a:schemeClr val="dk1"/>
                </a:solidFill>
              </a:rPr>
              <a:t>: evaporation through the stomata of a plant</a:t>
            </a:r>
            <a:endParaRPr>
              <a:solidFill>
                <a:schemeClr val="dk1"/>
              </a:solidFill>
            </a:endParaRPr>
          </a:p>
        </p:txBody>
      </p:sp>
      <p:pic>
        <p:nvPicPr>
          <p:cNvPr descr="Stomata feel the pressure | Nature Plants" id="69" name="Google Shape;69;p15"/>
          <p:cNvPicPr preferRelativeResize="0"/>
          <p:nvPr/>
        </p:nvPicPr>
        <p:blipFill rotWithShape="1">
          <a:blip r:embed="rId3">
            <a:alphaModFix/>
          </a:blip>
          <a:srcRect b="0" l="18153" r="23402" t="0"/>
          <a:stretch/>
        </p:blipFill>
        <p:spPr>
          <a:xfrm>
            <a:off x="6007451" y="939263"/>
            <a:ext cx="2902227" cy="3264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 plants need?</a:t>
            </a:r>
            <a:endParaRPr/>
          </a:p>
        </p:txBody>
      </p:sp>
      <p:sp>
        <p:nvSpPr>
          <p:cNvPr id="75" name="Google Shape;75;p16"/>
          <p:cNvSpPr txBox="1"/>
          <p:nvPr>
            <p:ph idx="1" type="body"/>
          </p:nvPr>
        </p:nvSpPr>
        <p:spPr>
          <a:xfrm>
            <a:off x="311700" y="1152475"/>
            <a:ext cx="5587500" cy="37365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Need to collect </a:t>
            </a:r>
            <a:r>
              <a:rPr b="1" lang="en" sz="2000"/>
              <a:t>light energy</a:t>
            </a:r>
            <a:r>
              <a:rPr lang="en" sz="2000"/>
              <a:t> →leaves</a:t>
            </a:r>
            <a:endParaRPr sz="2000"/>
          </a:p>
          <a:p>
            <a:pPr indent="-355600" lvl="0" marL="457200" rtl="0" algn="l">
              <a:spcBef>
                <a:spcPts val="0"/>
              </a:spcBef>
              <a:spcAft>
                <a:spcPts val="0"/>
              </a:spcAft>
              <a:buSzPts val="2000"/>
              <a:buChar char="●"/>
            </a:pPr>
            <a:r>
              <a:rPr lang="en" sz="2000"/>
              <a:t>Need to store light energy → chloroplasts</a:t>
            </a:r>
            <a:endParaRPr sz="2000"/>
          </a:p>
          <a:p>
            <a:pPr indent="-355600" lvl="0" marL="457200" rtl="0" algn="l">
              <a:spcBef>
                <a:spcPts val="0"/>
              </a:spcBef>
              <a:spcAft>
                <a:spcPts val="0"/>
              </a:spcAft>
              <a:buSzPts val="2000"/>
              <a:buChar char="●"/>
            </a:pPr>
            <a:r>
              <a:rPr lang="en" sz="2000"/>
              <a:t>Need to get the </a:t>
            </a:r>
            <a:r>
              <a:rPr b="1" lang="en" sz="2000"/>
              <a:t>building block</a:t>
            </a:r>
            <a:r>
              <a:rPr lang="en" sz="2000"/>
              <a:t> atoms from the environment (C, H, O, N, P, S, K, Mg) → stomata (CO2 and O2) and roots (water, nutrients)</a:t>
            </a:r>
            <a:endParaRPr sz="2000"/>
          </a:p>
          <a:p>
            <a:pPr indent="-355600" lvl="0" marL="457200" rtl="0" algn="l">
              <a:spcBef>
                <a:spcPts val="0"/>
              </a:spcBef>
              <a:spcAft>
                <a:spcPts val="0"/>
              </a:spcAft>
              <a:buSzPts val="2000"/>
              <a:buChar char="●"/>
            </a:pPr>
            <a:r>
              <a:rPr lang="en" sz="2000"/>
              <a:t>Need to produce the </a:t>
            </a:r>
            <a:r>
              <a:rPr b="1" lang="en" sz="2000"/>
              <a:t>organic molecules</a:t>
            </a:r>
            <a:r>
              <a:rPr lang="en" sz="2000"/>
              <a:t> necessary for growth </a:t>
            </a:r>
            <a:endParaRPr sz="2000"/>
          </a:p>
          <a:p>
            <a:pPr indent="-330200" lvl="1" marL="914400" rtl="0" algn="l">
              <a:spcBef>
                <a:spcPts val="0"/>
              </a:spcBef>
              <a:spcAft>
                <a:spcPts val="0"/>
              </a:spcAft>
              <a:buSzPts val="1600"/>
              <a:buChar char="○"/>
            </a:pPr>
            <a:r>
              <a:rPr lang="en" sz="1600"/>
              <a:t>Carbs, lipids, proteins, and nucleic acids!</a:t>
            </a:r>
            <a:endParaRPr sz="1600"/>
          </a:p>
          <a:p>
            <a:pPr indent="0" lvl="0" marL="0" rtl="0" algn="l">
              <a:spcBef>
                <a:spcPts val="1200"/>
              </a:spcBef>
              <a:spcAft>
                <a:spcPts val="1200"/>
              </a:spcAft>
              <a:buNone/>
            </a:pPr>
            <a:r>
              <a:t/>
            </a:r>
            <a:endParaRPr/>
          </a:p>
        </p:txBody>
      </p:sp>
      <p:pic>
        <p:nvPicPr>
          <p:cNvPr id="76" name="Google Shape;76;p16"/>
          <p:cNvPicPr preferRelativeResize="0"/>
          <p:nvPr/>
        </p:nvPicPr>
        <p:blipFill rotWithShape="1">
          <a:blip r:embed="rId3">
            <a:alphaModFix/>
          </a:blip>
          <a:srcRect b="4190" l="0" r="0" t="363"/>
          <a:stretch/>
        </p:blipFill>
        <p:spPr>
          <a:xfrm>
            <a:off x="5899179" y="155404"/>
            <a:ext cx="2983225" cy="44134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Photosynthesis Equation</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i="1" lang="en" sz="2400"/>
              <a:t>How is this equation similar to the equation for cellular respiration?</a:t>
            </a:r>
            <a:endParaRPr i="1" sz="2400"/>
          </a:p>
          <a:p>
            <a:pPr indent="0" lvl="0" marL="0" rtl="0" algn="l">
              <a:spcBef>
                <a:spcPts val="0"/>
              </a:spcBef>
              <a:spcAft>
                <a:spcPts val="1200"/>
              </a:spcAft>
              <a:buNone/>
            </a:pPr>
            <a:r>
              <a:t/>
            </a:r>
            <a:endParaRPr/>
          </a:p>
        </p:txBody>
      </p:sp>
      <p:pic>
        <p:nvPicPr>
          <p:cNvPr id="83" name="Google Shape;83;p17"/>
          <p:cNvPicPr preferRelativeResize="0"/>
          <p:nvPr/>
        </p:nvPicPr>
        <p:blipFill rotWithShape="1">
          <a:blip r:embed="rId3">
            <a:alphaModFix/>
          </a:blip>
          <a:srcRect b="0" l="0" r="0" t="20780"/>
          <a:stretch/>
        </p:blipFill>
        <p:spPr>
          <a:xfrm>
            <a:off x="523875" y="2301850"/>
            <a:ext cx="8096250" cy="2565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Chloroplast</a:t>
            </a:r>
            <a:endParaRPr/>
          </a:p>
        </p:txBody>
      </p:sp>
      <p:sp>
        <p:nvSpPr>
          <p:cNvPr id="89" name="Google Shape;89;p18"/>
          <p:cNvSpPr txBox="1"/>
          <p:nvPr>
            <p:ph idx="1" type="body"/>
          </p:nvPr>
        </p:nvSpPr>
        <p:spPr>
          <a:xfrm>
            <a:off x="311700" y="1152475"/>
            <a:ext cx="8520600" cy="37515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Photosynthesis occurs inside the </a:t>
            </a:r>
            <a:r>
              <a:rPr b="1" lang="en" sz="2100"/>
              <a:t>chloroplast</a:t>
            </a:r>
            <a:r>
              <a:rPr lang="en" sz="2100"/>
              <a:t> </a:t>
            </a:r>
            <a:endParaRPr sz="2100"/>
          </a:p>
          <a:p>
            <a:pPr indent="-361950" lvl="0" marL="457200" rtl="0" algn="l">
              <a:spcBef>
                <a:spcPts val="0"/>
              </a:spcBef>
              <a:spcAft>
                <a:spcPts val="0"/>
              </a:spcAft>
              <a:buSzPts val="2100"/>
              <a:buChar char="●"/>
            </a:pPr>
            <a:r>
              <a:rPr lang="en" sz="2100"/>
              <a:t>Two main parts: </a:t>
            </a:r>
            <a:endParaRPr sz="2100"/>
          </a:p>
          <a:p>
            <a:pPr indent="-336550" lvl="1" marL="914400" rtl="0" algn="l">
              <a:spcBef>
                <a:spcPts val="0"/>
              </a:spcBef>
              <a:spcAft>
                <a:spcPts val="0"/>
              </a:spcAft>
              <a:buSzPts val="1700"/>
              <a:buChar char="○"/>
            </a:pPr>
            <a:r>
              <a:rPr b="1" lang="en" sz="1700"/>
              <a:t>Grana:</a:t>
            </a:r>
            <a:r>
              <a:rPr lang="en" sz="1700"/>
              <a:t> Stacks of thylakoids </a:t>
            </a:r>
            <a:endParaRPr sz="1700"/>
          </a:p>
          <a:p>
            <a:pPr indent="-336550" lvl="1" marL="914400" rtl="0" algn="l">
              <a:spcBef>
                <a:spcPts val="0"/>
              </a:spcBef>
              <a:spcAft>
                <a:spcPts val="0"/>
              </a:spcAft>
              <a:buSzPts val="1700"/>
              <a:buChar char="○"/>
            </a:pPr>
            <a:r>
              <a:rPr b="1" lang="en" sz="1700"/>
              <a:t>Stroma</a:t>
            </a:r>
            <a:r>
              <a:rPr lang="en" sz="1700"/>
              <a:t>: Fluid inside of the chloroplast</a:t>
            </a:r>
            <a:endParaRPr sz="1700"/>
          </a:p>
          <a:p>
            <a:pPr indent="-361950" lvl="0" marL="457200" rtl="0" algn="l">
              <a:spcBef>
                <a:spcPts val="0"/>
              </a:spcBef>
              <a:spcAft>
                <a:spcPts val="0"/>
              </a:spcAft>
              <a:buSzPts val="2100"/>
              <a:buChar char="●"/>
            </a:pPr>
            <a:r>
              <a:rPr b="1" lang="en" sz="2100"/>
              <a:t>Thylakoid membrane</a:t>
            </a:r>
            <a:r>
              <a:rPr lang="en" sz="2100"/>
              <a:t> contains: </a:t>
            </a:r>
            <a:endParaRPr sz="2100"/>
          </a:p>
          <a:p>
            <a:pPr indent="-336550" lvl="1" marL="914400" rtl="0" algn="l">
              <a:spcBef>
                <a:spcPts val="0"/>
              </a:spcBef>
              <a:spcAft>
                <a:spcPts val="0"/>
              </a:spcAft>
              <a:buSzPts val="1700"/>
              <a:buChar char="○"/>
            </a:pPr>
            <a:r>
              <a:rPr lang="en" sz="1700"/>
              <a:t>Chlorophyll molecules </a:t>
            </a:r>
            <a:endParaRPr sz="1700"/>
          </a:p>
          <a:p>
            <a:pPr indent="-336550" lvl="1" marL="914400" rtl="0" algn="l">
              <a:spcBef>
                <a:spcPts val="0"/>
              </a:spcBef>
              <a:spcAft>
                <a:spcPts val="0"/>
              </a:spcAft>
              <a:buSzPts val="1700"/>
              <a:buChar char="○"/>
            </a:pPr>
            <a:r>
              <a:rPr lang="en" sz="1700"/>
              <a:t>Electron Transport Chain</a:t>
            </a:r>
            <a:endParaRPr sz="1700"/>
          </a:p>
          <a:p>
            <a:pPr indent="-336550" lvl="1" marL="914400" rtl="0" algn="l">
              <a:spcBef>
                <a:spcPts val="0"/>
              </a:spcBef>
              <a:spcAft>
                <a:spcPts val="0"/>
              </a:spcAft>
              <a:buSzPts val="1700"/>
              <a:buChar char="○"/>
            </a:pPr>
            <a:r>
              <a:rPr lang="en" sz="1700"/>
              <a:t>ATP Synthase</a:t>
            </a:r>
            <a:endParaRPr sz="1700"/>
          </a:p>
          <a:p>
            <a:pPr indent="-361950" lvl="0" marL="457200" rtl="0" algn="l">
              <a:spcBef>
                <a:spcPts val="0"/>
              </a:spcBef>
              <a:spcAft>
                <a:spcPts val="0"/>
              </a:spcAft>
              <a:buSzPts val="2100"/>
              <a:buChar char="●"/>
            </a:pPr>
            <a:r>
              <a:rPr lang="en" sz="2100"/>
              <a:t>Double membrane, ribosomes, and DNA just like mitochondria!</a:t>
            </a:r>
            <a:endParaRPr/>
          </a:p>
        </p:txBody>
      </p:sp>
      <p:pic>
        <p:nvPicPr>
          <p:cNvPr descr="Microbiology from A to Z explained - Micropia - Micropia" id="90" name="Google Shape;90;p18"/>
          <p:cNvPicPr preferRelativeResize="0"/>
          <p:nvPr/>
        </p:nvPicPr>
        <p:blipFill rotWithShape="1">
          <a:blip r:embed="rId3">
            <a:alphaModFix/>
          </a:blip>
          <a:srcRect b="0" l="0" r="0" t="0"/>
          <a:stretch/>
        </p:blipFill>
        <p:spPr>
          <a:xfrm>
            <a:off x="6111900" y="1613837"/>
            <a:ext cx="2554426" cy="19158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p:cNvPicPr preferRelativeResize="0"/>
          <p:nvPr/>
        </p:nvPicPr>
        <p:blipFill rotWithShape="1">
          <a:blip r:embed="rId3">
            <a:alphaModFix/>
          </a:blip>
          <a:srcRect b="3532" l="4221" r="4404" t="20509"/>
          <a:stretch/>
        </p:blipFill>
        <p:spPr>
          <a:xfrm>
            <a:off x="331950" y="954938"/>
            <a:ext cx="8275775" cy="3233625"/>
          </a:xfrm>
          <a:prstGeom prst="rect">
            <a:avLst/>
          </a:prstGeom>
          <a:solidFill>
            <a:schemeClr val="lt1"/>
          </a:solidFill>
          <a:ln cap="flat" cmpd="sng" w="9525">
            <a:solidFill>
              <a:schemeClr val="lt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Photosynthesis Overview</a:t>
            </a:r>
            <a:endParaRPr/>
          </a:p>
        </p:txBody>
      </p:sp>
      <p:sp>
        <p:nvSpPr>
          <p:cNvPr id="101" name="Google Shape;101;p20"/>
          <p:cNvSpPr txBox="1"/>
          <p:nvPr>
            <p:ph idx="1" type="body"/>
          </p:nvPr>
        </p:nvSpPr>
        <p:spPr>
          <a:xfrm>
            <a:off x="311700" y="1152475"/>
            <a:ext cx="3822600" cy="37818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Two sets of reactions happen inside the chloroplast</a:t>
            </a:r>
            <a:endParaRPr sz="2100"/>
          </a:p>
          <a:p>
            <a:pPr indent="-361950" lvl="0" marL="457200" rtl="0" algn="l">
              <a:spcBef>
                <a:spcPts val="0"/>
              </a:spcBef>
              <a:spcAft>
                <a:spcPts val="0"/>
              </a:spcAft>
              <a:buSzPts val="2100"/>
              <a:buChar char="●"/>
            </a:pPr>
            <a:r>
              <a:rPr b="1" lang="en" sz="2100"/>
              <a:t>Light reactions </a:t>
            </a:r>
            <a:r>
              <a:rPr lang="en" sz="2100"/>
              <a:t>(Light dependent)- sunlight to ATP</a:t>
            </a:r>
            <a:endParaRPr sz="2100"/>
          </a:p>
          <a:p>
            <a:pPr indent="-361950" lvl="0" marL="457200" rtl="0" algn="l">
              <a:spcBef>
                <a:spcPts val="0"/>
              </a:spcBef>
              <a:spcAft>
                <a:spcPts val="0"/>
              </a:spcAft>
              <a:buSzPts val="2100"/>
              <a:buChar char="●"/>
            </a:pPr>
            <a:r>
              <a:rPr b="1" lang="en" sz="2100"/>
              <a:t>Calvin Cycle</a:t>
            </a:r>
            <a:r>
              <a:rPr lang="en" sz="2100"/>
              <a:t>  (Light independent)- CO2 to glucose</a:t>
            </a:r>
            <a:endParaRPr sz="2100"/>
          </a:p>
        </p:txBody>
      </p:sp>
      <p:sp>
        <p:nvSpPr>
          <p:cNvPr id="102" name="Google Shape;102;p20"/>
          <p:cNvSpPr/>
          <p:nvPr/>
        </p:nvSpPr>
        <p:spPr>
          <a:xfrm>
            <a:off x="4315500" y="0"/>
            <a:ext cx="48285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pic>
        <p:nvPicPr>
          <p:cNvPr descr="Photosynthesis &amp;amp; Respiration - VHS 2015 Environmental Science" id="103" name="Google Shape;103;p20"/>
          <p:cNvPicPr preferRelativeResize="0"/>
          <p:nvPr/>
        </p:nvPicPr>
        <p:blipFill rotWithShape="1">
          <a:blip r:embed="rId3">
            <a:alphaModFix/>
          </a:blip>
          <a:srcRect b="0" l="0" r="0" t="0"/>
          <a:stretch/>
        </p:blipFill>
        <p:spPr>
          <a:xfrm>
            <a:off x="4362500" y="1237326"/>
            <a:ext cx="4734500" cy="3089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 Absorption</a:t>
            </a:r>
            <a:endParaRPr/>
          </a:p>
        </p:txBody>
      </p:sp>
      <p:sp>
        <p:nvSpPr>
          <p:cNvPr id="109" name="Google Shape;109;p21"/>
          <p:cNvSpPr txBox="1"/>
          <p:nvPr>
            <p:ph idx="1" type="body"/>
          </p:nvPr>
        </p:nvSpPr>
        <p:spPr>
          <a:xfrm>
            <a:off x="130625" y="1152475"/>
            <a:ext cx="4818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b="1" lang="en" sz="2100"/>
              <a:t>Visible light</a:t>
            </a:r>
            <a:r>
              <a:rPr lang="en" sz="2100"/>
              <a:t> is made of different wavelengths </a:t>
            </a:r>
            <a:endParaRPr sz="2100"/>
          </a:p>
          <a:p>
            <a:pPr indent="-361950" lvl="0" marL="457200" rtl="0" algn="l">
              <a:spcBef>
                <a:spcPts val="0"/>
              </a:spcBef>
              <a:spcAft>
                <a:spcPts val="0"/>
              </a:spcAft>
              <a:buSzPts val="2100"/>
              <a:buChar char="●"/>
            </a:pPr>
            <a:r>
              <a:rPr lang="en" sz="2100"/>
              <a:t>The wavelength determines the color of the light </a:t>
            </a:r>
            <a:endParaRPr sz="2100"/>
          </a:p>
          <a:p>
            <a:pPr indent="-361950" lvl="0" marL="457200" rtl="0" algn="l">
              <a:spcBef>
                <a:spcPts val="0"/>
              </a:spcBef>
              <a:spcAft>
                <a:spcPts val="0"/>
              </a:spcAft>
              <a:buSzPts val="2100"/>
              <a:buChar char="●"/>
            </a:pPr>
            <a:r>
              <a:rPr lang="en" sz="2100"/>
              <a:t>Sunlight is “white” light made up of a mixture of different wavelengths </a:t>
            </a:r>
            <a:endParaRPr sz="2100"/>
          </a:p>
          <a:p>
            <a:pPr indent="0" lvl="0" marL="0" rtl="0" algn="l">
              <a:spcBef>
                <a:spcPts val="1200"/>
              </a:spcBef>
              <a:spcAft>
                <a:spcPts val="1200"/>
              </a:spcAft>
              <a:buNone/>
            </a:pPr>
            <a:r>
              <a:t/>
            </a:r>
            <a:endParaRPr/>
          </a:p>
        </p:txBody>
      </p:sp>
      <p:pic>
        <p:nvPicPr>
          <p:cNvPr descr="Dispersion of sunlight through a prism | British Astronomical Association" id="110" name="Google Shape;110;p21"/>
          <p:cNvPicPr preferRelativeResize="0"/>
          <p:nvPr/>
        </p:nvPicPr>
        <p:blipFill rotWithShape="1">
          <a:blip r:embed="rId3">
            <a:alphaModFix/>
          </a:blip>
          <a:srcRect b="0" l="11231" r="24186" t="0"/>
          <a:stretch/>
        </p:blipFill>
        <p:spPr>
          <a:xfrm>
            <a:off x="5548915" y="559487"/>
            <a:ext cx="3056700" cy="3549600"/>
          </a:xfrm>
          <a:prstGeom prst="round2DiagRect">
            <a:avLst>
              <a:gd fmla="val 5608" name="adj1"/>
              <a:gd fmla="val 0" name="adj2"/>
            </a:avLst>
          </a:prstGeom>
          <a:noFill/>
          <a:ln cap="sq" cmpd="sng" w="19050">
            <a:solidFill>
              <a:srgbClr val="E7FDA3">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Spectrum of Color</a:t>
            </a:r>
            <a:endParaRPr/>
          </a:p>
        </p:txBody>
      </p:sp>
      <p:pic>
        <p:nvPicPr>
          <p:cNvPr id="116" name="Google Shape;116;p22"/>
          <p:cNvPicPr preferRelativeResize="0"/>
          <p:nvPr/>
        </p:nvPicPr>
        <p:blipFill>
          <a:blip r:embed="rId3">
            <a:alphaModFix/>
          </a:blip>
          <a:stretch>
            <a:fillRect/>
          </a:stretch>
        </p:blipFill>
        <p:spPr>
          <a:xfrm>
            <a:off x="1755688" y="1017725"/>
            <a:ext cx="5632622" cy="3933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Pigments of Photosynthesis</a:t>
            </a:r>
            <a:endParaRPr/>
          </a:p>
        </p:txBody>
      </p:sp>
      <p:sp>
        <p:nvSpPr>
          <p:cNvPr id="122" name="Google Shape;122;p23"/>
          <p:cNvSpPr txBox="1"/>
          <p:nvPr>
            <p:ph idx="1" type="body"/>
          </p:nvPr>
        </p:nvSpPr>
        <p:spPr>
          <a:xfrm>
            <a:off x="311700" y="1152475"/>
            <a:ext cx="4501800" cy="3416400"/>
          </a:xfrm>
          <a:prstGeom prst="rect">
            <a:avLst/>
          </a:prstGeom>
        </p:spPr>
        <p:txBody>
          <a:bodyPr anchorCtr="0" anchor="t" bIns="91425" lIns="91425" spcFirstLastPara="1" rIns="91425" wrap="square" tIns="91425">
            <a:normAutofit lnSpcReduction="10000"/>
          </a:bodyPr>
          <a:lstStyle/>
          <a:p>
            <a:pPr indent="-361950" lvl="0" marL="457200" rtl="0" algn="l">
              <a:spcBef>
                <a:spcPts val="0"/>
              </a:spcBef>
              <a:spcAft>
                <a:spcPts val="0"/>
              </a:spcAft>
              <a:buSzPts val="2100"/>
              <a:buChar char="●"/>
            </a:pPr>
            <a:r>
              <a:rPr b="1" lang="en" sz="2100"/>
              <a:t>Chlorophyll</a:t>
            </a:r>
            <a:r>
              <a:rPr lang="en" sz="2100"/>
              <a:t> and other pigments embedded in the thylakoid membrane are responsible for light absorption</a:t>
            </a:r>
            <a:endParaRPr sz="2100"/>
          </a:p>
          <a:p>
            <a:pPr indent="-361950" lvl="0" marL="457200" rtl="0" algn="l">
              <a:spcBef>
                <a:spcPts val="0"/>
              </a:spcBef>
              <a:spcAft>
                <a:spcPts val="0"/>
              </a:spcAft>
              <a:buSzPts val="2100"/>
              <a:buChar char="●"/>
            </a:pPr>
            <a:r>
              <a:rPr b="1" lang="en" sz="2100"/>
              <a:t>Chlorophyll a</a:t>
            </a:r>
            <a:r>
              <a:rPr lang="en" sz="2100"/>
              <a:t>: absorbs best in red and blue wavelengths of light</a:t>
            </a:r>
            <a:endParaRPr sz="2100"/>
          </a:p>
          <a:p>
            <a:pPr indent="-361950" lvl="0" marL="457200" rtl="0" algn="l">
              <a:spcBef>
                <a:spcPts val="0"/>
              </a:spcBef>
              <a:spcAft>
                <a:spcPts val="0"/>
              </a:spcAft>
              <a:buSzPts val="2100"/>
              <a:buChar char="●"/>
            </a:pPr>
            <a:r>
              <a:rPr b="1" lang="en" sz="2100"/>
              <a:t>Accessory pigments</a:t>
            </a:r>
            <a:r>
              <a:rPr lang="en" sz="2100"/>
              <a:t> help absorb other wavelengths (ex. chlorophyll b, carotenoids, and xanthophylls)</a:t>
            </a:r>
            <a:endParaRPr sz="2100"/>
          </a:p>
        </p:txBody>
      </p:sp>
      <p:pic>
        <p:nvPicPr>
          <p:cNvPr id="123" name="Google Shape;123;p23"/>
          <p:cNvPicPr preferRelativeResize="0"/>
          <p:nvPr/>
        </p:nvPicPr>
        <p:blipFill rotWithShape="1">
          <a:blip r:embed="rId3">
            <a:alphaModFix/>
          </a:blip>
          <a:srcRect b="4472" l="0" r="0" t="3328"/>
          <a:stretch/>
        </p:blipFill>
        <p:spPr>
          <a:xfrm>
            <a:off x="5284452" y="1152475"/>
            <a:ext cx="3668573"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4"/>
          <p:cNvPicPr preferRelativeResize="0"/>
          <p:nvPr/>
        </p:nvPicPr>
        <p:blipFill rotWithShape="1">
          <a:blip r:embed="rId3">
            <a:alphaModFix/>
          </a:blip>
          <a:srcRect b="66000" l="0" r="0" t="0"/>
          <a:stretch/>
        </p:blipFill>
        <p:spPr>
          <a:xfrm>
            <a:off x="1497522" y="417447"/>
            <a:ext cx="5992450" cy="3566075"/>
          </a:xfrm>
          <a:prstGeom prst="rect">
            <a:avLst/>
          </a:prstGeom>
          <a:noFill/>
          <a:ln>
            <a:noFill/>
          </a:ln>
        </p:spPr>
      </p:pic>
      <p:sp>
        <p:nvSpPr>
          <p:cNvPr id="129" name="Google Shape;129;p24"/>
          <p:cNvSpPr txBox="1"/>
          <p:nvPr/>
        </p:nvSpPr>
        <p:spPr>
          <a:xfrm>
            <a:off x="2414250" y="4194750"/>
            <a:ext cx="4315500" cy="42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1800">
                <a:solidFill>
                  <a:schemeClr val="dk1"/>
                </a:solidFill>
                <a:latin typeface="Average"/>
                <a:ea typeface="Average"/>
                <a:cs typeface="Average"/>
                <a:sym typeface="Average"/>
              </a:rPr>
              <a:t>Which color of light do plants </a:t>
            </a:r>
            <a:r>
              <a:rPr b="1" i="1" lang="en" sz="1800" u="sng">
                <a:solidFill>
                  <a:schemeClr val="dk1"/>
                </a:solidFill>
                <a:latin typeface="Average"/>
                <a:ea typeface="Average"/>
                <a:cs typeface="Average"/>
                <a:sym typeface="Average"/>
              </a:rPr>
              <a:t>not </a:t>
            </a:r>
            <a:r>
              <a:rPr b="1" i="1" lang="en" sz="1800">
                <a:solidFill>
                  <a:schemeClr val="dk1"/>
                </a:solidFill>
                <a:latin typeface="Average"/>
                <a:ea typeface="Average"/>
                <a:cs typeface="Average"/>
                <a:sym typeface="Average"/>
              </a:rPr>
              <a:t>absorb?</a:t>
            </a:r>
            <a:endParaRPr b="1" i="1" sz="1800">
              <a:solidFill>
                <a:schemeClr val="dk1"/>
              </a:solidFill>
              <a:latin typeface="Average"/>
              <a:ea typeface="Average"/>
              <a:cs typeface="Average"/>
              <a:sym typeface="Average"/>
            </a:endParaRPr>
          </a:p>
          <a:p>
            <a:pPr indent="0" lvl="0" marL="0" rtl="0" algn="l">
              <a:spcBef>
                <a:spcPts val="0"/>
              </a:spcBef>
              <a:spcAft>
                <a:spcPts val="0"/>
              </a:spcAft>
              <a:buNone/>
            </a:pPr>
            <a:r>
              <a:t/>
            </a:r>
            <a:endParaRPr sz="1800">
              <a:solidFill>
                <a:schemeClr val="dk1"/>
              </a:solidFill>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Pigments of Photosynthesis</a:t>
            </a:r>
            <a:endParaRPr/>
          </a:p>
        </p:txBody>
      </p:sp>
      <p:sp>
        <p:nvSpPr>
          <p:cNvPr id="135" name="Google Shape;135;p25"/>
          <p:cNvSpPr txBox="1"/>
          <p:nvPr>
            <p:ph idx="1" type="body"/>
          </p:nvPr>
        </p:nvSpPr>
        <p:spPr>
          <a:xfrm>
            <a:off x="311700" y="1152475"/>
            <a:ext cx="4622400" cy="37818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b="1" lang="en" sz="1900"/>
              <a:t>Accessory pigments </a:t>
            </a:r>
            <a:r>
              <a:rPr lang="en" sz="1900"/>
              <a:t>absorb light energy in other portions of the light spectrum</a:t>
            </a:r>
            <a:endParaRPr sz="1900"/>
          </a:p>
          <a:p>
            <a:pPr indent="-349250" lvl="0" marL="457200" rtl="0" algn="l">
              <a:spcBef>
                <a:spcPts val="0"/>
              </a:spcBef>
              <a:spcAft>
                <a:spcPts val="0"/>
              </a:spcAft>
              <a:buSzPts val="1900"/>
              <a:buChar char="●"/>
            </a:pPr>
            <a:r>
              <a:rPr lang="en" sz="1900"/>
              <a:t>Include: chlorophyll b, carotene (red/orange pigment), and xanthophylls</a:t>
            </a:r>
            <a:endParaRPr sz="1900"/>
          </a:p>
          <a:p>
            <a:pPr indent="-349250" lvl="0" marL="457200" rtl="0" algn="l">
              <a:spcBef>
                <a:spcPts val="0"/>
              </a:spcBef>
              <a:spcAft>
                <a:spcPts val="0"/>
              </a:spcAft>
              <a:buSzPts val="1900"/>
              <a:buChar char="●"/>
            </a:pPr>
            <a:r>
              <a:rPr lang="en" sz="1900"/>
              <a:t>Why do leaves change in the fall?</a:t>
            </a:r>
            <a:endParaRPr sz="1900"/>
          </a:p>
          <a:p>
            <a:pPr indent="-323850" lvl="1" marL="914400" rtl="0" algn="l">
              <a:spcBef>
                <a:spcPts val="0"/>
              </a:spcBef>
              <a:spcAft>
                <a:spcPts val="0"/>
              </a:spcAft>
              <a:buSzPts val="1500"/>
              <a:buChar char="○"/>
            </a:pPr>
            <a:r>
              <a:rPr lang="en" sz="1500"/>
              <a:t>Temperature drops cause a decrease in chlorophyll A and B production</a:t>
            </a:r>
            <a:endParaRPr sz="1500"/>
          </a:p>
          <a:p>
            <a:pPr indent="-323850" lvl="1" marL="914400" rtl="0" algn="l">
              <a:spcBef>
                <a:spcPts val="0"/>
              </a:spcBef>
              <a:spcAft>
                <a:spcPts val="0"/>
              </a:spcAft>
              <a:buSzPts val="1500"/>
              <a:buChar char="○"/>
            </a:pPr>
            <a:r>
              <a:rPr lang="en" sz="1500"/>
              <a:t>Allows accessory pigments (red, orange, and yellow) to show turning the leaf a different color</a:t>
            </a:r>
            <a:endParaRPr sz="1500"/>
          </a:p>
        </p:txBody>
      </p:sp>
      <p:pic>
        <p:nvPicPr>
          <p:cNvPr descr="Why Leaves Change Color in the Fall - Chemistry" id="136" name="Google Shape;136;p25"/>
          <p:cNvPicPr preferRelativeResize="0"/>
          <p:nvPr/>
        </p:nvPicPr>
        <p:blipFill rotWithShape="1">
          <a:blip r:embed="rId3">
            <a:alphaModFix/>
          </a:blip>
          <a:srcRect b="1824" l="0" r="0" t="108"/>
          <a:stretch/>
        </p:blipFill>
        <p:spPr>
          <a:xfrm>
            <a:off x="5115225" y="1389000"/>
            <a:ext cx="3618600" cy="2365500"/>
          </a:xfrm>
          <a:prstGeom prst="round2DiagRect">
            <a:avLst>
              <a:gd fmla="val 4860" name="adj1"/>
              <a:gd fmla="val 0" name="adj2"/>
            </a:avLst>
          </a:prstGeom>
          <a:noFill/>
          <a:ln cap="sq" cmpd="sng" w="19050">
            <a:solidFill>
              <a:srgbClr val="E7FDA3">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How Sunlight Can Help You Live Well with Parkinson&amp;#39;s - Davis Phinney  Foundation" id="141" name="Google Shape;141;p26"/>
          <p:cNvPicPr preferRelativeResize="0"/>
          <p:nvPr/>
        </p:nvPicPr>
        <p:blipFill rotWithShape="1">
          <a:blip r:embed="rId3">
            <a:alphaModFix/>
          </a:blip>
          <a:srcRect b="0" l="17804" r="0" t="0"/>
          <a:stretch/>
        </p:blipFill>
        <p:spPr>
          <a:xfrm>
            <a:off x="1" y="0"/>
            <a:ext cx="9144000" cy="5145019"/>
          </a:xfrm>
          <a:prstGeom prst="rect">
            <a:avLst/>
          </a:prstGeom>
          <a:noFill/>
          <a:ln>
            <a:noFill/>
          </a:ln>
        </p:spPr>
      </p:pic>
      <p:sp>
        <p:nvSpPr>
          <p:cNvPr id="142" name="Google Shape;142;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Light Dependent Reactions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 Reactions Overview</a:t>
            </a:r>
            <a:endParaRPr/>
          </a:p>
          <a:p>
            <a:pPr indent="0" lvl="0" marL="0" rtl="0" algn="l">
              <a:spcBef>
                <a:spcPts val="0"/>
              </a:spcBef>
              <a:spcAft>
                <a:spcPts val="0"/>
              </a:spcAft>
              <a:buNone/>
            </a:pPr>
            <a:r>
              <a:t/>
            </a:r>
            <a:endParaRPr/>
          </a:p>
        </p:txBody>
      </p:sp>
      <p:sp>
        <p:nvSpPr>
          <p:cNvPr id="148" name="Google Shape;148;p27"/>
          <p:cNvSpPr txBox="1"/>
          <p:nvPr>
            <p:ph idx="1" type="body"/>
          </p:nvPr>
        </p:nvSpPr>
        <p:spPr>
          <a:xfrm>
            <a:off x="311700" y="1152475"/>
            <a:ext cx="4018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Location: </a:t>
            </a:r>
            <a:r>
              <a:rPr b="1" lang="en"/>
              <a:t>Thylakoid membrane </a:t>
            </a:r>
            <a:endParaRPr b="1"/>
          </a:p>
          <a:p>
            <a:pPr indent="-342900" lvl="0" marL="457200" rtl="0" algn="l">
              <a:spcBef>
                <a:spcPts val="0"/>
              </a:spcBef>
              <a:spcAft>
                <a:spcPts val="0"/>
              </a:spcAft>
              <a:buSzPts val="1800"/>
              <a:buChar char="●"/>
            </a:pPr>
            <a:r>
              <a:rPr lang="en"/>
              <a:t>Summary: chlorophyll absorbs light and converts it into chemical energy (ATP and NADPH)</a:t>
            </a:r>
            <a:endParaRPr/>
          </a:p>
          <a:p>
            <a:pPr indent="-342900" lvl="0" marL="457200" rtl="0" algn="l">
              <a:spcBef>
                <a:spcPts val="0"/>
              </a:spcBef>
              <a:spcAft>
                <a:spcPts val="0"/>
              </a:spcAft>
              <a:buSzPts val="1800"/>
              <a:buChar char="●"/>
            </a:pPr>
            <a:r>
              <a:rPr lang="en"/>
              <a:t>Water goes in and oxygen comes out as a byproduct</a:t>
            </a:r>
            <a:endParaRPr/>
          </a:p>
          <a:p>
            <a:pPr indent="-342900" lvl="0" marL="457200" rtl="0" algn="l">
              <a:spcBef>
                <a:spcPts val="0"/>
              </a:spcBef>
              <a:spcAft>
                <a:spcPts val="0"/>
              </a:spcAft>
              <a:buSzPts val="1800"/>
              <a:buChar char="●"/>
            </a:pPr>
            <a:r>
              <a:rPr lang="en"/>
              <a:t>Two photosystems (I and II) play a part in light reactions </a:t>
            </a:r>
            <a:endParaRPr/>
          </a:p>
          <a:p>
            <a:pPr indent="-317500" lvl="1" marL="914400" rtl="0" algn="l">
              <a:spcBef>
                <a:spcPts val="0"/>
              </a:spcBef>
              <a:spcAft>
                <a:spcPts val="0"/>
              </a:spcAft>
              <a:buSzPts val="1400"/>
              <a:buChar char="○"/>
            </a:pPr>
            <a:r>
              <a:rPr b="1" lang="en"/>
              <a:t>Photosystems</a:t>
            </a:r>
            <a:r>
              <a:rPr lang="en"/>
              <a:t>= large complexes of proteins and pigments</a:t>
            </a:r>
            <a:endParaRPr/>
          </a:p>
        </p:txBody>
      </p:sp>
      <p:sp>
        <p:nvSpPr>
          <p:cNvPr id="149" name="Google Shape;149;p27"/>
          <p:cNvSpPr/>
          <p:nvPr/>
        </p:nvSpPr>
        <p:spPr>
          <a:xfrm>
            <a:off x="4315500" y="0"/>
            <a:ext cx="48285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pic>
        <p:nvPicPr>
          <p:cNvPr descr="Photosynthesis &amp;amp; Respiration - VHS 2015 Environmental Science" id="150" name="Google Shape;150;p27"/>
          <p:cNvPicPr preferRelativeResize="0"/>
          <p:nvPr/>
        </p:nvPicPr>
        <p:blipFill rotWithShape="1">
          <a:blip r:embed="rId3">
            <a:alphaModFix/>
          </a:blip>
          <a:srcRect b="0" l="0" r="0" t="0"/>
          <a:stretch/>
        </p:blipFill>
        <p:spPr>
          <a:xfrm>
            <a:off x="4362500" y="1027126"/>
            <a:ext cx="4734500" cy="3089250"/>
          </a:xfrm>
          <a:prstGeom prst="rect">
            <a:avLst/>
          </a:prstGeom>
          <a:noFill/>
          <a:ln>
            <a:noFill/>
          </a:ln>
        </p:spPr>
      </p:pic>
      <p:sp>
        <p:nvSpPr>
          <p:cNvPr id="151" name="Google Shape;151;p27"/>
          <p:cNvSpPr/>
          <p:nvPr/>
        </p:nvSpPr>
        <p:spPr>
          <a:xfrm>
            <a:off x="5145375" y="534750"/>
            <a:ext cx="2067300" cy="4074000"/>
          </a:xfrm>
          <a:prstGeom prst="rect">
            <a:avLst/>
          </a:prstGeom>
          <a:no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311700" y="309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 Reactions</a:t>
            </a:r>
            <a:endParaRPr/>
          </a:p>
        </p:txBody>
      </p:sp>
      <p:sp>
        <p:nvSpPr>
          <p:cNvPr id="157" name="Google Shape;157;p28"/>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Like cellular respiration there is an </a:t>
            </a:r>
            <a:r>
              <a:rPr b="1" lang="en"/>
              <a:t>ETC </a:t>
            </a:r>
            <a:r>
              <a:rPr lang="en"/>
              <a:t>to create a H+ gradient!</a:t>
            </a:r>
            <a:endParaRPr/>
          </a:p>
          <a:p>
            <a:pPr indent="-342900" lvl="0" marL="457200" rtl="0" algn="l">
              <a:spcBef>
                <a:spcPts val="0"/>
              </a:spcBef>
              <a:spcAft>
                <a:spcPts val="0"/>
              </a:spcAft>
              <a:buSzPts val="1800"/>
              <a:buChar char="●"/>
            </a:pPr>
            <a:r>
              <a:rPr lang="en"/>
              <a:t>ETC uses light energy to produce ATP and NADPH to </a:t>
            </a:r>
            <a:r>
              <a:rPr lang="en" u="sng"/>
              <a:t>power the Calvin cycle</a:t>
            </a:r>
            <a:endParaRPr u="sng"/>
          </a:p>
          <a:p>
            <a:pPr indent="-342900" lvl="0" marL="457200" rtl="0" algn="l">
              <a:spcBef>
                <a:spcPts val="0"/>
              </a:spcBef>
              <a:spcAft>
                <a:spcPts val="0"/>
              </a:spcAft>
              <a:buSzPts val="1800"/>
              <a:buChar char="●"/>
            </a:pPr>
            <a:r>
              <a:rPr b="1" lang="en">
                <a:solidFill>
                  <a:srgbClr val="FF00FF"/>
                </a:solidFill>
              </a:rPr>
              <a:t>ETC 1</a:t>
            </a:r>
            <a:r>
              <a:rPr lang="en">
                <a:solidFill>
                  <a:srgbClr val="0000FF"/>
                </a:solidFill>
              </a:rPr>
              <a:t> </a:t>
            </a:r>
            <a:r>
              <a:rPr lang="en"/>
              <a:t>pairs with </a:t>
            </a:r>
            <a:r>
              <a:rPr b="1" lang="en">
                <a:solidFill>
                  <a:srgbClr val="FF00FF"/>
                </a:solidFill>
              </a:rPr>
              <a:t>photosystem II </a:t>
            </a:r>
            <a:r>
              <a:rPr lang="en"/>
              <a:t>to make ATP</a:t>
            </a:r>
            <a:endParaRPr/>
          </a:p>
          <a:p>
            <a:pPr indent="-342900" lvl="0" marL="457200" rtl="0" algn="l">
              <a:spcBef>
                <a:spcPts val="0"/>
              </a:spcBef>
              <a:spcAft>
                <a:spcPts val="0"/>
              </a:spcAft>
              <a:buSzPts val="1800"/>
              <a:buChar char="●"/>
            </a:pPr>
            <a:r>
              <a:rPr b="1" lang="en">
                <a:solidFill>
                  <a:schemeClr val="accent5"/>
                </a:solidFill>
              </a:rPr>
              <a:t>ETC 2</a:t>
            </a:r>
            <a:r>
              <a:rPr lang="en"/>
              <a:t> pairs with </a:t>
            </a:r>
            <a:r>
              <a:rPr b="1" lang="en">
                <a:solidFill>
                  <a:schemeClr val="accent5"/>
                </a:solidFill>
              </a:rPr>
              <a:t>photosystem I</a:t>
            </a:r>
            <a:r>
              <a:rPr b="1" lang="en">
                <a:solidFill>
                  <a:srgbClr val="FF9900"/>
                </a:solidFill>
              </a:rPr>
              <a:t> </a:t>
            </a:r>
            <a:r>
              <a:rPr lang="en"/>
              <a:t>to make NADPH</a:t>
            </a:r>
            <a:endParaRPr/>
          </a:p>
        </p:txBody>
      </p:sp>
      <p:pic>
        <p:nvPicPr>
          <p:cNvPr id="158" name="Google Shape;158;p28"/>
          <p:cNvPicPr preferRelativeResize="0"/>
          <p:nvPr/>
        </p:nvPicPr>
        <p:blipFill>
          <a:blip r:embed="rId3">
            <a:alphaModFix/>
          </a:blip>
          <a:stretch>
            <a:fillRect/>
          </a:stretch>
        </p:blipFill>
        <p:spPr>
          <a:xfrm>
            <a:off x="1938950" y="2401425"/>
            <a:ext cx="5266099" cy="2665951"/>
          </a:xfrm>
          <a:prstGeom prst="rect">
            <a:avLst/>
          </a:prstGeom>
          <a:noFill/>
          <a:ln>
            <a:noFill/>
          </a:ln>
        </p:spPr>
      </p:pic>
      <p:sp>
        <p:nvSpPr>
          <p:cNvPr id="159" name="Google Shape;159;p28"/>
          <p:cNvSpPr txBox="1"/>
          <p:nvPr/>
        </p:nvSpPr>
        <p:spPr>
          <a:xfrm>
            <a:off x="3155600" y="2733275"/>
            <a:ext cx="6537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Outfit ExtraBold"/>
                <a:ea typeface="Outfit ExtraBold"/>
                <a:cs typeface="Outfit ExtraBold"/>
                <a:sym typeface="Outfit ExtraBold"/>
              </a:rPr>
              <a:t>ETC 1</a:t>
            </a:r>
            <a:endParaRPr sz="1200">
              <a:solidFill>
                <a:schemeClr val="dk1"/>
              </a:solidFill>
              <a:latin typeface="Outfit ExtraBold"/>
              <a:ea typeface="Outfit ExtraBold"/>
              <a:cs typeface="Outfit ExtraBold"/>
              <a:sym typeface="Outfit ExtraBold"/>
            </a:endParaRPr>
          </a:p>
        </p:txBody>
      </p:sp>
      <p:sp>
        <p:nvSpPr>
          <p:cNvPr id="160" name="Google Shape;160;p28"/>
          <p:cNvSpPr/>
          <p:nvPr/>
        </p:nvSpPr>
        <p:spPr>
          <a:xfrm>
            <a:off x="2571800" y="2700350"/>
            <a:ext cx="1237500" cy="352800"/>
          </a:xfrm>
          <a:prstGeom prst="roundRect">
            <a:avLst>
              <a:gd fmla="val 16667" name="adj"/>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61" name="Google Shape;161;p28"/>
          <p:cNvSpPr/>
          <p:nvPr/>
        </p:nvSpPr>
        <p:spPr>
          <a:xfrm>
            <a:off x="4805675" y="2603900"/>
            <a:ext cx="1438800" cy="4659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Average"/>
              <a:ea typeface="Average"/>
              <a:cs typeface="Average"/>
              <a:sym typeface="Average"/>
            </a:endParaRPr>
          </a:p>
        </p:txBody>
      </p:sp>
      <p:sp>
        <p:nvSpPr>
          <p:cNvPr id="162" name="Google Shape;162;p28"/>
          <p:cNvSpPr txBox="1"/>
          <p:nvPr/>
        </p:nvSpPr>
        <p:spPr>
          <a:xfrm>
            <a:off x="5317175" y="2549525"/>
            <a:ext cx="653700" cy="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Outfit ExtraBold"/>
                <a:ea typeface="Outfit ExtraBold"/>
                <a:cs typeface="Outfit ExtraBold"/>
                <a:sym typeface="Outfit ExtraBold"/>
              </a:rPr>
              <a:t>ETC 2</a:t>
            </a:r>
            <a:endParaRPr sz="1200">
              <a:solidFill>
                <a:schemeClr val="dk1"/>
              </a:solidFill>
              <a:latin typeface="Outfit ExtraBold"/>
              <a:ea typeface="Outfit ExtraBold"/>
              <a:cs typeface="Outfit ExtraBold"/>
              <a:sym typeface="Outfit Extra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 Reactions Video</a:t>
            </a:r>
            <a:endParaRPr/>
          </a:p>
        </p:txBody>
      </p:sp>
      <p:pic>
        <p:nvPicPr>
          <p:cNvPr descr="Learn about photosynthesis and the light-dependent reactions in this first animation of my photosynthesis animations series!  Then try the Photosynthesis Interactive to practice the process yourself! (https://biomanbio.com/HTML5GamesandLabs/PhotoRespgames/photointeractivehtml5page.html)&#10;&#10;Transcript: In photosynthesis, light is used to make organic compounds, especially sugars, in plants.  This is extremely important for virtually all life on earth because these organic compounds are what we, and our food are all made of!     &#10;So, how does this process work?&#10;In short, when light strikes a leaf, this light is absorbed and the light energy is used to drive a series of chemical reactions that ultimately make sugars and other organic molecules.  Overall carbon dioxide and water are taken in by the plant and used to make glucose and oxygen gas.  &#10;Photosynthesis can be divided into two sets of reactions:&#10;1. The light-dependent reactions and &#10;2. The Calvin Cycle             &#10;The light-dependent reactions, as you might have guessed, depend on light.   To understand how these work, let’s zoom in on a leaf so we can see them happen.  Leaves are made of plant cells, and inside of these cells are special organelles called chloroplasts that do photosynthesis.  Each chloroplast has many disks called thylakoids with pigments (like chlorophyll) that absorb light.   Think of thylakoids as solar panels in the chloroplast.  They absorb the light energy from the sun.  &#10;Now let’s zoom in on the thylakoid and focus on the thylakoid membrane.  This is where pigments such as chlorophyll are found and is where light gets absorbed.   The pigments are arranged in clusters called photosystems.    Let’s start with photosystem II.   &#10;When Photosystem II absorbs light, electrons in chlorophyll gain energy (or get excited) from the light.   These excited electrons leave chlorophyll and move to something called an electron transport chain.  But, since chlorophyll lost electrons, those electrons need to be replaced.  To replace them, water is split and its electrons go to chlorophyll.   When water is split, electrons, hydrogen ions, and oxygen are produced.   You probably know that plants make oxygen when they do photosynthesis.  This is where that oxygen comes from!&#10;Now, back to the electron transport chain.   The electron transport chain transports electrons.  As it does, the energy in the electrons is used to pump hydrogen ions (or protons) across the thylakoid membrane, into the thylakoid.   This creates a high concentration of hydrogen ions inside the thylakoid.  These ions would be trapped inside the thylakoid, but a special enzyme called ATP synthase allows them to passively diffuse from high to low concentration.   This flow of hydrogen ions through ATP synthase causes ATP synthase to spin and produce ATP, similar to how water flowing through a turbine produces power at a hydroelectric dam.   This ATP is a key product of the light-dependent reactions.  &#10;When the electrons reach the end of this first electron transport chain, they go to photosystem I where light excites them once again.   They travel down a second, shorter electron transport chain where they are accepted by a molecule called NADP+.  When it accepts the electrons, it also accepts hydrogen and becomes NADPH.   NADPH is an electron carrier and is another key product of the light-dependent reactions.  It carries electrons and hydrogens to the next set of reactions in photosynthesis, the Calvin Cycle.&#10;Both ATP and NADPH are critical products of the light-dependent reactions that are needed to make sugar in the Calvin cycle, which we will examine in our next video.   &#10;If you’d like to try the light dependent reactions yourself, check out the link for the Photosynthesis Interactive at BioMan Biology and don’t forget to subscribe if you’d like to be notified when I release new videos!&#10;&#10;Photosynthesis Interactive Game: https://biomanbio.com/HTML5GamesandLabs/PhotoRespgames/photointeractivehtml5page.html &#10;&#10;Photos: https://freephotos.cc/animals &#10;Music by Bensound.com/royalty-free-music" id="168" name="Google Shape;168;p29" title="Photosynthesis Intro and Light-Dependent Reactions">
            <a:hlinkClick r:id="rId3"/>
          </p:cNvPr>
          <p:cNvPicPr preferRelativeResize="0"/>
          <p:nvPr/>
        </p:nvPicPr>
        <p:blipFill>
          <a:blip r:embed="rId4">
            <a:alphaModFix/>
          </a:blip>
          <a:stretch>
            <a:fillRect/>
          </a:stretch>
        </p:blipFill>
        <p:spPr>
          <a:xfrm>
            <a:off x="1181500" y="1017725"/>
            <a:ext cx="6453200" cy="3629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Photosystem II/ETC 1</a:t>
            </a:r>
            <a:endParaRPr/>
          </a:p>
        </p:txBody>
      </p:sp>
      <p:sp>
        <p:nvSpPr>
          <p:cNvPr id="174" name="Google Shape;174;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Light is absorbed by pigments in PSII and </a:t>
            </a:r>
            <a:r>
              <a:rPr lang="en"/>
              <a:t>electrons</a:t>
            </a:r>
            <a:r>
              <a:rPr lang="en"/>
              <a:t> in chlorophyll become </a:t>
            </a:r>
            <a:r>
              <a:rPr lang="en" u="sng"/>
              <a:t>excited</a:t>
            </a:r>
            <a:r>
              <a:rPr lang="en"/>
              <a:t> (high energy)</a:t>
            </a:r>
            <a:endParaRPr/>
          </a:p>
          <a:p>
            <a:pPr indent="-342900" lvl="0" marL="457200" rtl="0" algn="l">
              <a:spcBef>
                <a:spcPts val="0"/>
              </a:spcBef>
              <a:spcAft>
                <a:spcPts val="0"/>
              </a:spcAft>
              <a:buSzPts val="1800"/>
              <a:buAutoNum type="arabicPeriod"/>
            </a:pPr>
            <a:r>
              <a:rPr lang="en"/>
              <a:t>Electrons leave chlorophyll and enter the </a:t>
            </a:r>
            <a:r>
              <a:rPr b="1" lang="en"/>
              <a:t>ETC</a:t>
            </a:r>
            <a:r>
              <a:rPr lang="en"/>
              <a:t> </a:t>
            </a:r>
            <a:endParaRPr/>
          </a:p>
          <a:p>
            <a:pPr indent="-342900" lvl="0" marL="457200" rtl="0" algn="l">
              <a:spcBef>
                <a:spcPts val="0"/>
              </a:spcBef>
              <a:spcAft>
                <a:spcPts val="0"/>
              </a:spcAft>
              <a:buSzPts val="1800"/>
              <a:buAutoNum type="arabicPeriod"/>
            </a:pPr>
            <a:r>
              <a:rPr lang="en"/>
              <a:t>Water is split into H+, e-, and </a:t>
            </a:r>
            <a:r>
              <a:rPr b="1" lang="en"/>
              <a:t>O</a:t>
            </a:r>
            <a:r>
              <a:rPr b="1" baseline="-25000" lang="en"/>
              <a:t>2</a:t>
            </a:r>
            <a:r>
              <a:rPr baseline="-25000" lang="en"/>
              <a:t> </a:t>
            </a:r>
            <a:r>
              <a:rPr lang="en"/>
              <a:t>(</a:t>
            </a:r>
            <a:r>
              <a:rPr lang="en"/>
              <a:t>replenishes</a:t>
            </a:r>
            <a:r>
              <a:rPr lang="en"/>
              <a:t> electrons)</a:t>
            </a:r>
            <a:endParaRPr/>
          </a:p>
          <a:p>
            <a:pPr indent="-342900" lvl="0" marL="457200" rtl="0" algn="l">
              <a:spcBef>
                <a:spcPts val="0"/>
              </a:spcBef>
              <a:spcAft>
                <a:spcPts val="0"/>
              </a:spcAft>
              <a:buSzPts val="1800"/>
              <a:buAutoNum type="arabicPeriod"/>
            </a:pPr>
            <a:r>
              <a:rPr lang="en"/>
              <a:t>Energy from electrons </a:t>
            </a:r>
            <a:r>
              <a:rPr lang="en"/>
              <a:t>power</a:t>
            </a:r>
            <a:r>
              <a:rPr lang="en"/>
              <a:t> the ETC and move H+ INTO the thylakoid </a:t>
            </a:r>
            <a:endParaRPr/>
          </a:p>
          <a:p>
            <a:pPr indent="-342900" lvl="0" marL="457200" rtl="0" algn="l">
              <a:spcBef>
                <a:spcPts val="0"/>
              </a:spcBef>
              <a:spcAft>
                <a:spcPts val="0"/>
              </a:spcAft>
              <a:buSzPts val="1800"/>
              <a:buAutoNum type="arabicPeriod"/>
            </a:pPr>
            <a:r>
              <a:rPr lang="en"/>
              <a:t>H+ diffuses back out to the stroma through </a:t>
            </a:r>
            <a:r>
              <a:rPr b="1" lang="en"/>
              <a:t>ATP synthase</a:t>
            </a:r>
            <a:r>
              <a:rPr lang="en"/>
              <a:t> to produce </a:t>
            </a:r>
            <a:r>
              <a:rPr b="1" lang="en">
                <a:solidFill>
                  <a:schemeClr val="accent1"/>
                </a:solidFill>
              </a:rPr>
              <a:t>ATP</a:t>
            </a:r>
            <a:endParaRPr b="1">
              <a:solidFill>
                <a:schemeClr val="accent1"/>
              </a:solidFill>
            </a:endParaRPr>
          </a:p>
        </p:txBody>
      </p:sp>
      <p:sp>
        <p:nvSpPr>
          <p:cNvPr id="175" name="Google Shape;175;p30"/>
          <p:cNvSpPr txBox="1"/>
          <p:nvPr/>
        </p:nvSpPr>
        <p:spPr>
          <a:xfrm>
            <a:off x="1116600" y="4209850"/>
            <a:ext cx="69108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2100">
                <a:solidFill>
                  <a:schemeClr val="dk1"/>
                </a:solidFill>
                <a:latin typeface="Average"/>
                <a:ea typeface="Average"/>
                <a:cs typeface="Average"/>
                <a:sym typeface="Average"/>
              </a:rPr>
              <a:t>Where does the oxygen go?</a:t>
            </a:r>
            <a:endParaRPr b="1" i="1" sz="2100">
              <a:solidFill>
                <a:schemeClr val="dk1"/>
              </a:solidFill>
              <a:latin typeface="Average"/>
              <a:ea typeface="Average"/>
              <a:cs typeface="Average"/>
              <a:sym typeface="Averag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99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Photosystem II/ETC 1 (Step 1)</a:t>
            </a:r>
            <a:endParaRPr/>
          </a:p>
          <a:p>
            <a:pPr indent="0" lvl="0" marL="0" rtl="0" algn="l">
              <a:spcBef>
                <a:spcPts val="0"/>
              </a:spcBef>
              <a:spcAft>
                <a:spcPts val="0"/>
              </a:spcAft>
              <a:buNone/>
            </a:pPr>
            <a:r>
              <a:t/>
            </a:r>
            <a:endParaRPr/>
          </a:p>
        </p:txBody>
      </p:sp>
      <p:pic>
        <p:nvPicPr>
          <p:cNvPr descr="Light-dependent reactions (photosynthesis reaction) (article) | Khan Academy" id="181" name="Google Shape;181;p31"/>
          <p:cNvPicPr preferRelativeResize="0"/>
          <p:nvPr/>
        </p:nvPicPr>
        <p:blipFill rotWithShape="1">
          <a:blip r:embed="rId3">
            <a:alphaModFix/>
          </a:blip>
          <a:srcRect b="0" l="0" r="0" t="0"/>
          <a:stretch/>
        </p:blipFill>
        <p:spPr>
          <a:xfrm>
            <a:off x="1176803" y="672153"/>
            <a:ext cx="6490626" cy="4373350"/>
          </a:xfrm>
          <a:prstGeom prst="rect">
            <a:avLst/>
          </a:prstGeom>
          <a:noFill/>
          <a:ln>
            <a:noFill/>
          </a:ln>
        </p:spPr>
      </p:pic>
      <p:sp>
        <p:nvSpPr>
          <p:cNvPr id="182" name="Google Shape;182;p31"/>
          <p:cNvSpPr/>
          <p:nvPr/>
        </p:nvSpPr>
        <p:spPr>
          <a:xfrm>
            <a:off x="1551075" y="715275"/>
            <a:ext cx="2973600" cy="21057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83" name="Google Shape;183;p31"/>
          <p:cNvSpPr/>
          <p:nvPr/>
        </p:nvSpPr>
        <p:spPr>
          <a:xfrm>
            <a:off x="4693825" y="2756300"/>
            <a:ext cx="2973600" cy="2289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Photosystem I/ETC 2</a:t>
            </a:r>
            <a:endParaRPr/>
          </a:p>
        </p:txBody>
      </p:sp>
      <p:sp>
        <p:nvSpPr>
          <p:cNvPr id="189" name="Google Shape;18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Electrons from PSII enter PS I and get </a:t>
            </a:r>
            <a:r>
              <a:rPr lang="en" u="sng"/>
              <a:t>re-energized </a:t>
            </a:r>
            <a:r>
              <a:rPr lang="en"/>
              <a:t>with light absorbed by pigments </a:t>
            </a:r>
            <a:endParaRPr/>
          </a:p>
          <a:p>
            <a:pPr indent="-342900" lvl="0" marL="457200" rtl="0" algn="l">
              <a:spcBef>
                <a:spcPts val="0"/>
              </a:spcBef>
              <a:spcAft>
                <a:spcPts val="0"/>
              </a:spcAft>
              <a:buSzPts val="1800"/>
              <a:buAutoNum type="arabicPeriod"/>
            </a:pPr>
            <a:r>
              <a:rPr lang="en"/>
              <a:t>As e-’s move into ETC 2 an enzyme called </a:t>
            </a:r>
            <a:r>
              <a:rPr b="1" lang="en"/>
              <a:t>NADP+ reductase </a:t>
            </a:r>
            <a:r>
              <a:rPr lang="en"/>
              <a:t>reduces NADP+ into NADPH (accepts electrons)</a:t>
            </a:r>
            <a:endParaRPr/>
          </a:p>
          <a:p>
            <a:pPr indent="-342900" lvl="0" marL="457200" rtl="0" algn="l">
              <a:spcBef>
                <a:spcPts val="0"/>
              </a:spcBef>
              <a:spcAft>
                <a:spcPts val="0"/>
              </a:spcAft>
              <a:buSzPts val="1800"/>
              <a:buAutoNum type="arabicPeriod"/>
            </a:pPr>
            <a:r>
              <a:rPr lang="en"/>
              <a:t>NADPH and ATP are now in the stroma ready to power the light independent reactions (Calvin cycle)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99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Photosystem I/ETC 2 (Step 2)</a:t>
            </a:r>
            <a:endParaRPr/>
          </a:p>
          <a:p>
            <a:pPr indent="0" lvl="0" marL="0" rtl="0" algn="l">
              <a:spcBef>
                <a:spcPts val="0"/>
              </a:spcBef>
              <a:spcAft>
                <a:spcPts val="0"/>
              </a:spcAft>
              <a:buNone/>
            </a:pPr>
            <a:r>
              <a:t/>
            </a:r>
            <a:endParaRPr/>
          </a:p>
        </p:txBody>
      </p:sp>
      <p:pic>
        <p:nvPicPr>
          <p:cNvPr descr="Light-dependent reactions (photosynthesis reaction) (article) | Khan Academy" id="195" name="Google Shape;195;p33"/>
          <p:cNvPicPr preferRelativeResize="0"/>
          <p:nvPr/>
        </p:nvPicPr>
        <p:blipFill rotWithShape="1">
          <a:blip r:embed="rId3">
            <a:alphaModFix/>
          </a:blip>
          <a:srcRect b="0" l="0" r="0" t="0"/>
          <a:stretch/>
        </p:blipFill>
        <p:spPr>
          <a:xfrm>
            <a:off x="1176803" y="672153"/>
            <a:ext cx="6490626" cy="4373350"/>
          </a:xfrm>
          <a:prstGeom prst="rect">
            <a:avLst/>
          </a:prstGeom>
          <a:noFill/>
          <a:ln>
            <a:noFill/>
          </a:ln>
        </p:spPr>
      </p:pic>
      <p:sp>
        <p:nvSpPr>
          <p:cNvPr id="196" name="Google Shape;196;p33"/>
          <p:cNvSpPr/>
          <p:nvPr/>
        </p:nvSpPr>
        <p:spPr>
          <a:xfrm>
            <a:off x="4525050" y="672150"/>
            <a:ext cx="2973600" cy="2289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34"/>
          <p:cNvPicPr preferRelativeResize="0"/>
          <p:nvPr/>
        </p:nvPicPr>
        <p:blipFill rotWithShape="1">
          <a:blip r:embed="rId3">
            <a:alphaModFix/>
          </a:blip>
          <a:srcRect b="0" l="0" r="0" t="0"/>
          <a:stretch/>
        </p:blipFill>
        <p:spPr>
          <a:xfrm>
            <a:off x="1371613" y="171462"/>
            <a:ext cx="6400776" cy="4800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Calvin Cycle (Dark Reaction) — Equation &amp;amp; Steps - Expii" id="206" name="Google Shape;206;p35"/>
          <p:cNvPicPr preferRelativeResize="0"/>
          <p:nvPr/>
        </p:nvPicPr>
        <p:blipFill rotWithShape="1">
          <a:blip r:embed="rId3">
            <a:alphaModFix/>
          </a:blip>
          <a:srcRect b="0" l="5358" r="4447" t="0"/>
          <a:stretch/>
        </p:blipFill>
        <p:spPr>
          <a:xfrm>
            <a:off x="0" y="0"/>
            <a:ext cx="9144000" cy="51450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 </a:t>
            </a:r>
            <a:r>
              <a:rPr lang="en"/>
              <a:t>What do plants need?</a:t>
            </a:r>
            <a:endParaRPr/>
          </a:p>
        </p:txBody>
      </p:sp>
      <p:sp>
        <p:nvSpPr>
          <p:cNvPr id="212" name="Google Shape;212;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Plants need to produce their own organic molecules necessary for growth</a:t>
            </a:r>
            <a:endParaRPr sz="2100"/>
          </a:p>
          <a:p>
            <a:pPr indent="-361950" lvl="0" marL="457200" rtl="0" algn="l">
              <a:spcBef>
                <a:spcPts val="0"/>
              </a:spcBef>
              <a:spcAft>
                <a:spcPts val="0"/>
              </a:spcAft>
              <a:buSzPts val="2100"/>
              <a:buChar char="●"/>
            </a:pPr>
            <a:r>
              <a:rPr lang="en" sz="2100"/>
              <a:t>What do we already have?</a:t>
            </a:r>
            <a:endParaRPr sz="2100"/>
          </a:p>
          <a:p>
            <a:pPr indent="-336550" lvl="1" marL="914400" rtl="0" algn="l">
              <a:spcBef>
                <a:spcPts val="0"/>
              </a:spcBef>
              <a:spcAft>
                <a:spcPts val="0"/>
              </a:spcAft>
              <a:buSzPts val="1700"/>
              <a:buChar char="○"/>
            </a:pPr>
            <a:r>
              <a:rPr lang="en" sz="1700"/>
              <a:t>ATP and NADPH (chemical energy) from light rxns</a:t>
            </a:r>
            <a:endParaRPr sz="1700"/>
          </a:p>
          <a:p>
            <a:pPr indent="-361950" lvl="0" marL="457200" rtl="0" algn="l">
              <a:spcBef>
                <a:spcPts val="0"/>
              </a:spcBef>
              <a:spcAft>
                <a:spcPts val="0"/>
              </a:spcAft>
              <a:buSzPts val="2100"/>
              <a:buChar char="●"/>
            </a:pPr>
            <a:r>
              <a:rPr lang="en" sz="2100"/>
              <a:t>Plants need to store this chemical energy in a more stable form 🡪 we will store it into organic molecules (glucose!)</a:t>
            </a:r>
            <a:endParaRPr sz="2100"/>
          </a:p>
          <a:p>
            <a:pPr indent="-361950" lvl="0" marL="457200" rtl="0" algn="l">
              <a:spcBef>
                <a:spcPts val="0"/>
              </a:spcBef>
              <a:spcAft>
                <a:spcPts val="0"/>
              </a:spcAft>
              <a:buSzPts val="2100"/>
              <a:buChar char="●"/>
            </a:pPr>
            <a:r>
              <a:rPr lang="en" sz="2100"/>
              <a:t>Where is this sugar stored? (...think back to Unit 1 again)</a:t>
            </a:r>
            <a:endParaRPr sz="2100"/>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is Glucose Made?</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Glucose = C</a:t>
            </a:r>
            <a:r>
              <a:rPr baseline="-25000" lang="en" sz="2100"/>
              <a:t>6</a:t>
            </a:r>
            <a:r>
              <a:rPr lang="en" sz="2100"/>
              <a:t>H</a:t>
            </a:r>
            <a:r>
              <a:rPr baseline="-25000" lang="en" sz="2100"/>
              <a:t>12</a:t>
            </a:r>
            <a:r>
              <a:rPr lang="en" sz="2100"/>
              <a:t>O</a:t>
            </a:r>
            <a:r>
              <a:rPr baseline="-25000" lang="en" sz="2100"/>
              <a:t>6</a:t>
            </a:r>
            <a:endParaRPr baseline="-25000" sz="2100"/>
          </a:p>
          <a:p>
            <a:pPr indent="-361950" lvl="0" marL="457200" rtl="0" algn="l">
              <a:spcBef>
                <a:spcPts val="0"/>
              </a:spcBef>
              <a:spcAft>
                <a:spcPts val="0"/>
              </a:spcAft>
              <a:buSzPts val="2100"/>
              <a:buChar char="●"/>
            </a:pPr>
            <a:r>
              <a:rPr lang="en" sz="2100"/>
              <a:t>CO</a:t>
            </a:r>
            <a:r>
              <a:rPr baseline="-25000" lang="en" sz="2100"/>
              <a:t>2</a:t>
            </a:r>
            <a:r>
              <a:rPr lang="en" sz="2100"/>
              <a:t> that enters the plant through stomata can be “fixed” (incorporated into organic molecules) and used to build sugars</a:t>
            </a:r>
            <a:endParaRPr sz="2100"/>
          </a:p>
          <a:p>
            <a:pPr indent="-336550" lvl="1" marL="914400" rtl="0" algn="l">
              <a:spcBef>
                <a:spcPts val="0"/>
              </a:spcBef>
              <a:spcAft>
                <a:spcPts val="0"/>
              </a:spcAft>
              <a:buSzPts val="1700"/>
              <a:buChar char="○"/>
            </a:pPr>
            <a:r>
              <a:rPr lang="en" sz="1700"/>
              <a:t>In this process </a:t>
            </a:r>
            <a:r>
              <a:rPr lang="en" sz="1700"/>
              <a:t>CO</a:t>
            </a:r>
            <a:r>
              <a:rPr baseline="-25000" lang="en" sz="1700"/>
              <a:t>2</a:t>
            </a:r>
            <a:r>
              <a:rPr lang="en" sz="1700"/>
              <a:t> </a:t>
            </a:r>
            <a:r>
              <a:rPr lang="en" sz="1700"/>
              <a:t>is </a:t>
            </a:r>
            <a:r>
              <a:rPr b="1" lang="en" sz="1700">
                <a:solidFill>
                  <a:srgbClr val="0000FF"/>
                </a:solidFill>
              </a:rPr>
              <a:t>reduced</a:t>
            </a:r>
            <a:endParaRPr b="1" sz="1700">
              <a:solidFill>
                <a:srgbClr val="0000FF"/>
              </a:solidFill>
            </a:endParaRPr>
          </a:p>
          <a:p>
            <a:pPr indent="-361950" lvl="0" marL="457200" rtl="0" algn="l">
              <a:spcBef>
                <a:spcPts val="0"/>
              </a:spcBef>
              <a:spcAft>
                <a:spcPts val="0"/>
              </a:spcAft>
              <a:buSzPts val="2100"/>
              <a:buChar char="●"/>
            </a:pPr>
            <a:r>
              <a:rPr lang="en" sz="2100"/>
              <a:t>ATP and NADPH power this reaction</a:t>
            </a:r>
            <a:endParaRPr sz="2100"/>
          </a:p>
        </p:txBody>
      </p:sp>
      <p:pic>
        <p:nvPicPr>
          <p:cNvPr id="219" name="Google Shape;219;p37"/>
          <p:cNvPicPr preferRelativeResize="0"/>
          <p:nvPr/>
        </p:nvPicPr>
        <p:blipFill rotWithShape="1">
          <a:blip r:embed="rId3">
            <a:alphaModFix/>
          </a:blip>
          <a:srcRect b="19513" l="61020" r="6786" t="18579"/>
          <a:stretch/>
        </p:blipFill>
        <p:spPr>
          <a:xfrm>
            <a:off x="6710572" y="2843375"/>
            <a:ext cx="1804876" cy="1930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Calvin Cycle Overview</a:t>
            </a:r>
            <a:endParaRPr/>
          </a:p>
        </p:txBody>
      </p:sp>
      <p:sp>
        <p:nvSpPr>
          <p:cNvPr id="225" name="Google Shape;225;p38"/>
          <p:cNvSpPr txBox="1"/>
          <p:nvPr>
            <p:ph idx="1" type="body"/>
          </p:nvPr>
        </p:nvSpPr>
        <p:spPr>
          <a:xfrm>
            <a:off x="311700" y="1152475"/>
            <a:ext cx="4260300" cy="3766500"/>
          </a:xfrm>
          <a:prstGeom prst="rect">
            <a:avLst/>
          </a:prstGeom>
        </p:spPr>
        <p:txBody>
          <a:bodyPr anchorCtr="0" anchor="t" bIns="91425" lIns="91425" spcFirstLastPara="1" rIns="91425" wrap="square" tIns="91425">
            <a:normAutofit/>
          </a:bodyPr>
          <a:lstStyle/>
          <a:p>
            <a:pPr indent="-348735" lvl="0" marL="457200" rtl="0" algn="l">
              <a:spcBef>
                <a:spcPts val="0"/>
              </a:spcBef>
              <a:spcAft>
                <a:spcPts val="0"/>
              </a:spcAft>
              <a:buSzPts val="1892"/>
              <a:buChar char="●"/>
            </a:pPr>
            <a:r>
              <a:rPr lang="en" sz="1892"/>
              <a:t>Location: </a:t>
            </a:r>
            <a:r>
              <a:rPr b="1" lang="en" sz="1892"/>
              <a:t>stroma </a:t>
            </a:r>
            <a:r>
              <a:rPr lang="en" sz="1892"/>
              <a:t>inside chloroplasts</a:t>
            </a:r>
            <a:endParaRPr sz="1892"/>
          </a:p>
          <a:p>
            <a:pPr indent="-348735" lvl="0" marL="457200" rtl="0" algn="l">
              <a:spcBef>
                <a:spcPts val="0"/>
              </a:spcBef>
              <a:spcAft>
                <a:spcPts val="0"/>
              </a:spcAft>
              <a:buSzPts val="1892"/>
              <a:buChar char="●"/>
            </a:pPr>
            <a:r>
              <a:rPr lang="en" sz="1892"/>
              <a:t>Powered by energy generated in light reactions</a:t>
            </a:r>
            <a:endParaRPr sz="1892"/>
          </a:p>
          <a:p>
            <a:pPr indent="-348735" lvl="0" marL="457200" rtl="0" algn="l">
              <a:spcBef>
                <a:spcPts val="0"/>
              </a:spcBef>
              <a:spcAft>
                <a:spcPts val="0"/>
              </a:spcAft>
              <a:buSzPts val="1892"/>
              <a:buChar char="●"/>
            </a:pPr>
            <a:r>
              <a:rPr lang="en" sz="1892"/>
              <a:t>CO2 has very little chemical energy</a:t>
            </a:r>
            <a:endParaRPr sz="1892"/>
          </a:p>
          <a:p>
            <a:pPr indent="-323335" lvl="1" marL="914400" rtl="0" algn="l">
              <a:spcBef>
                <a:spcPts val="0"/>
              </a:spcBef>
              <a:spcAft>
                <a:spcPts val="0"/>
              </a:spcAft>
              <a:buSzPts val="1492"/>
              <a:buChar char="○"/>
            </a:pPr>
            <a:r>
              <a:rPr lang="en" sz="1492"/>
              <a:t>Calvin cycle converts CO</a:t>
            </a:r>
            <a:r>
              <a:rPr baseline="-25000" lang="en" sz="1492"/>
              <a:t>2 </a:t>
            </a:r>
            <a:r>
              <a:rPr lang="en" sz="1492"/>
              <a:t>into C</a:t>
            </a:r>
            <a:r>
              <a:rPr baseline="-25000" lang="en" sz="1492"/>
              <a:t>6</a:t>
            </a:r>
            <a:r>
              <a:rPr lang="en" sz="1492"/>
              <a:t>H</a:t>
            </a:r>
            <a:r>
              <a:rPr baseline="-25000" lang="en" sz="1492"/>
              <a:t>12</a:t>
            </a:r>
            <a:r>
              <a:rPr lang="en" sz="1492"/>
              <a:t>O</a:t>
            </a:r>
            <a:r>
              <a:rPr baseline="-25000" lang="en" sz="1492"/>
              <a:t>6</a:t>
            </a:r>
            <a:r>
              <a:rPr lang="en" sz="1492"/>
              <a:t> which has a lot of chemical energy</a:t>
            </a:r>
            <a:endParaRPr sz="1492"/>
          </a:p>
          <a:p>
            <a:pPr indent="-348735" lvl="0" marL="457200" rtl="0" algn="l">
              <a:spcBef>
                <a:spcPts val="0"/>
              </a:spcBef>
              <a:spcAft>
                <a:spcPts val="0"/>
              </a:spcAft>
              <a:buSzPts val="1892"/>
              <a:buChar char="●"/>
            </a:pPr>
            <a:r>
              <a:rPr lang="en" sz="1892"/>
              <a:t>Synthesizing glucose=</a:t>
            </a:r>
            <a:r>
              <a:rPr b="1" lang="en" sz="1892"/>
              <a:t>endergonic process</a:t>
            </a:r>
            <a:r>
              <a:rPr lang="en" sz="1892"/>
              <a:t> completed by reducing CO</a:t>
            </a:r>
            <a:r>
              <a:rPr baseline="-25000" lang="en" sz="1892"/>
              <a:t>2</a:t>
            </a:r>
            <a:r>
              <a:rPr lang="en" sz="1892"/>
              <a:t> </a:t>
            </a:r>
            <a:endParaRPr/>
          </a:p>
          <a:p>
            <a:pPr indent="0" lvl="0" marL="0" rtl="0" algn="l">
              <a:spcBef>
                <a:spcPts val="1200"/>
              </a:spcBef>
              <a:spcAft>
                <a:spcPts val="1200"/>
              </a:spcAft>
              <a:buNone/>
            </a:pPr>
            <a:r>
              <a:t/>
            </a:r>
            <a:endParaRPr/>
          </a:p>
        </p:txBody>
      </p:sp>
      <p:pic>
        <p:nvPicPr>
          <p:cNvPr id="226" name="Google Shape;226;p38"/>
          <p:cNvPicPr preferRelativeResize="0"/>
          <p:nvPr/>
        </p:nvPicPr>
        <p:blipFill rotWithShape="1">
          <a:blip r:embed="rId3">
            <a:alphaModFix/>
          </a:blip>
          <a:srcRect b="4907" l="0" r="0" t="0"/>
          <a:stretch/>
        </p:blipFill>
        <p:spPr>
          <a:xfrm>
            <a:off x="4888876" y="1254902"/>
            <a:ext cx="4028100" cy="2633700"/>
          </a:xfrm>
          <a:prstGeom prst="round2DiagRect">
            <a:avLst>
              <a:gd fmla="val 4860" name="adj1"/>
              <a:gd fmla="val 0" name="adj2"/>
            </a:avLst>
          </a:prstGeom>
          <a:noFill/>
          <a:ln cap="sq" cmpd="sng" w="19050">
            <a:solidFill>
              <a:srgbClr val="E7FDA3">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
        <p:nvSpPr>
          <p:cNvPr id="227" name="Google Shape;227;p38"/>
          <p:cNvSpPr/>
          <p:nvPr/>
        </p:nvSpPr>
        <p:spPr>
          <a:xfrm>
            <a:off x="7551863" y="1152486"/>
            <a:ext cx="914400" cy="3048000"/>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wentieth Century"/>
              <a:ea typeface="Twentieth Century"/>
              <a:cs typeface="Twentieth Century"/>
              <a:sym typeface="Twentieth Century"/>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9"/>
          <p:cNvSpPr txBox="1"/>
          <p:nvPr>
            <p:ph type="title"/>
          </p:nvPr>
        </p:nvSpPr>
        <p:spPr>
          <a:xfrm>
            <a:off x="16082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Calvin Cycle</a:t>
            </a:r>
            <a:endParaRPr/>
          </a:p>
        </p:txBody>
      </p:sp>
      <p:sp>
        <p:nvSpPr>
          <p:cNvPr id="233" name="Google Shape;233;p39"/>
          <p:cNvSpPr txBox="1"/>
          <p:nvPr>
            <p:ph idx="1" type="body"/>
          </p:nvPr>
        </p:nvSpPr>
        <p:spPr>
          <a:xfrm>
            <a:off x="311700" y="1152475"/>
            <a:ext cx="3204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Major phases: </a:t>
            </a:r>
            <a:endParaRPr/>
          </a:p>
          <a:p>
            <a:pPr indent="-342900" lvl="0" marL="457200" rtl="0" algn="l">
              <a:spcBef>
                <a:spcPts val="1200"/>
              </a:spcBef>
              <a:spcAft>
                <a:spcPts val="0"/>
              </a:spcAft>
              <a:buSzPts val="1800"/>
              <a:buAutoNum type="arabicPeriod"/>
            </a:pPr>
            <a:r>
              <a:rPr lang="en"/>
              <a:t>Carbon Fixation (</a:t>
            </a:r>
            <a:r>
              <a:rPr b="1" lang="en"/>
              <a:t>Carboxylation</a:t>
            </a:r>
            <a:r>
              <a:rPr lang="en"/>
              <a:t>) of CO2 by RuBisCo</a:t>
            </a:r>
            <a:endParaRPr/>
          </a:p>
          <a:p>
            <a:pPr indent="-342900" lvl="0" marL="457200" rtl="0" algn="l">
              <a:spcBef>
                <a:spcPts val="0"/>
              </a:spcBef>
              <a:spcAft>
                <a:spcPts val="0"/>
              </a:spcAft>
              <a:buSzPts val="1800"/>
              <a:buAutoNum type="arabicPeriod"/>
            </a:pPr>
            <a:r>
              <a:rPr lang="en"/>
              <a:t>Reduction of 3-PGA to G3P</a:t>
            </a:r>
            <a:endParaRPr/>
          </a:p>
          <a:p>
            <a:pPr indent="-342900" lvl="0" marL="457200" rtl="0" algn="l">
              <a:spcBef>
                <a:spcPts val="0"/>
              </a:spcBef>
              <a:spcAft>
                <a:spcPts val="0"/>
              </a:spcAft>
              <a:buSzPts val="1800"/>
              <a:buAutoNum type="arabicPeriod"/>
            </a:pPr>
            <a:r>
              <a:rPr lang="en"/>
              <a:t>Regeneration of RuBP</a:t>
            </a:r>
            <a:endParaRPr/>
          </a:p>
          <a:p>
            <a:pPr indent="0" lvl="0" marL="0" rtl="0" algn="l">
              <a:spcBef>
                <a:spcPts val="1200"/>
              </a:spcBef>
              <a:spcAft>
                <a:spcPts val="1200"/>
              </a:spcAft>
              <a:buNone/>
            </a:pPr>
            <a:r>
              <a:t/>
            </a:r>
            <a:endParaRPr/>
          </a:p>
        </p:txBody>
      </p:sp>
      <p:pic>
        <p:nvPicPr>
          <p:cNvPr descr="Calvin Cycle | National Geographic Society" id="234" name="Google Shape;234;p39"/>
          <p:cNvPicPr preferRelativeResize="0"/>
          <p:nvPr/>
        </p:nvPicPr>
        <p:blipFill rotWithShape="1">
          <a:blip r:embed="rId3">
            <a:alphaModFix/>
          </a:blip>
          <a:srcRect b="0" l="0" r="0" t="0"/>
          <a:stretch/>
        </p:blipFill>
        <p:spPr>
          <a:xfrm>
            <a:off x="3579749" y="769550"/>
            <a:ext cx="5247376" cy="3938249"/>
          </a:xfrm>
          <a:prstGeom prst="rect">
            <a:avLst/>
          </a:prstGeom>
          <a:noFill/>
          <a:ln>
            <a:noFill/>
          </a:ln>
        </p:spPr>
      </p:pic>
      <p:sp>
        <p:nvSpPr>
          <p:cNvPr id="235" name="Google Shape;235;p39"/>
          <p:cNvSpPr txBox="1"/>
          <p:nvPr/>
        </p:nvSpPr>
        <p:spPr>
          <a:xfrm>
            <a:off x="7559650" y="4043875"/>
            <a:ext cx="1267500" cy="6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latin typeface="Average"/>
                <a:ea typeface="Average"/>
                <a:cs typeface="Average"/>
                <a:sym typeface="Average"/>
              </a:rPr>
              <a:t>G3P is used to make glucose, starch, cellulose, etc. </a:t>
            </a:r>
            <a:endParaRPr b="1">
              <a:solidFill>
                <a:srgbClr val="0000FF"/>
              </a:solidFill>
              <a:latin typeface="Average"/>
              <a:ea typeface="Average"/>
              <a:cs typeface="Average"/>
              <a:sym typeface="Average"/>
            </a:endParaRPr>
          </a:p>
          <a:p>
            <a:pPr indent="0" lvl="0" marL="0" rtl="0" algn="l">
              <a:spcBef>
                <a:spcPts val="0"/>
              </a:spcBef>
              <a:spcAft>
                <a:spcPts val="0"/>
              </a:spcAft>
              <a:buNone/>
            </a:pPr>
            <a:r>
              <a:t/>
            </a:r>
            <a:endParaRPr sz="1800">
              <a:solidFill>
                <a:schemeClr val="dk1"/>
              </a:solidFill>
              <a:latin typeface="Average"/>
              <a:ea typeface="Average"/>
              <a:cs typeface="Average"/>
              <a:sym typeface="Average"/>
            </a:endParaRPr>
          </a:p>
        </p:txBody>
      </p:sp>
      <p:sp>
        <p:nvSpPr>
          <p:cNvPr id="236" name="Google Shape;236;p39"/>
          <p:cNvSpPr txBox="1"/>
          <p:nvPr/>
        </p:nvSpPr>
        <p:spPr>
          <a:xfrm>
            <a:off x="3787375" y="75450"/>
            <a:ext cx="2459400" cy="6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0000FF"/>
                </a:solidFill>
                <a:latin typeface="Average"/>
                <a:ea typeface="Average"/>
                <a:cs typeface="Average"/>
                <a:sym typeface="Average"/>
              </a:rPr>
              <a:t>RuBP is a 5C molecule; gets combined with CO2 by RuBisCo enzyme</a:t>
            </a:r>
            <a:endParaRPr b="1" sz="1500">
              <a:solidFill>
                <a:srgbClr val="0000FF"/>
              </a:solidFill>
              <a:latin typeface="Average"/>
              <a:ea typeface="Average"/>
              <a:cs typeface="Average"/>
              <a:sym typeface="Average"/>
            </a:endParaRPr>
          </a:p>
          <a:p>
            <a:pPr indent="0" lvl="0" marL="0" rtl="0" algn="l">
              <a:spcBef>
                <a:spcPts val="0"/>
              </a:spcBef>
              <a:spcAft>
                <a:spcPts val="0"/>
              </a:spcAft>
              <a:buNone/>
            </a:pPr>
            <a:r>
              <a:t/>
            </a:r>
            <a:endParaRPr sz="1800">
              <a:solidFill>
                <a:schemeClr val="dk1"/>
              </a:solidFill>
              <a:latin typeface="Average"/>
              <a:ea typeface="Average"/>
              <a:cs typeface="Average"/>
              <a:sym typeface="Average"/>
            </a:endParaRPr>
          </a:p>
        </p:txBody>
      </p:sp>
      <p:cxnSp>
        <p:nvCxnSpPr>
          <p:cNvPr id="237" name="Google Shape;237;p39"/>
          <p:cNvCxnSpPr/>
          <p:nvPr/>
        </p:nvCxnSpPr>
        <p:spPr>
          <a:xfrm flipH="1">
            <a:off x="5205625" y="799725"/>
            <a:ext cx="286800" cy="663900"/>
          </a:xfrm>
          <a:prstGeom prst="straightConnector1">
            <a:avLst/>
          </a:prstGeom>
          <a:noFill/>
          <a:ln cap="flat" cmpd="sng" w="9525">
            <a:solidFill>
              <a:srgbClr val="0000FF"/>
            </a:solidFill>
            <a:prstDash val="solid"/>
            <a:round/>
            <a:headEnd len="med" w="med" type="none"/>
            <a:tailEnd len="med" w="med" type="triangle"/>
          </a:ln>
        </p:spPr>
      </p:cxnSp>
      <p:cxnSp>
        <p:nvCxnSpPr>
          <p:cNvPr id="238" name="Google Shape;238;p39"/>
          <p:cNvCxnSpPr/>
          <p:nvPr/>
        </p:nvCxnSpPr>
        <p:spPr>
          <a:xfrm flipH="1">
            <a:off x="6895750" y="4377350"/>
            <a:ext cx="663900" cy="73800"/>
          </a:xfrm>
          <a:prstGeom prst="straightConnector1">
            <a:avLst/>
          </a:prstGeom>
          <a:noFill/>
          <a:ln cap="flat" cmpd="sng" w="9525">
            <a:solidFill>
              <a:srgbClr val="0000FF"/>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Calvin Cycle Video</a:t>
            </a:r>
            <a:endParaRPr/>
          </a:p>
        </p:txBody>
      </p:sp>
      <p:pic>
        <p:nvPicPr>
          <p:cNvPr descr="The Calvin cycle is the second set of reactions in photosynthesis and occurs after the light-dependent reactions.  Sometimes the Calvin cycle is called the Light-INDEPENDENT reactions or even the dark reactions because light is not directly needed to make the Calvin cycle happen.  Nevertheless, two key products from the light reactions are needed to make the Calvin cycle work: ATP and NADPH.&#10;You may recall that both ATP and NADPH were made during the light reactions at the thylakoids.  The Calvin cycle takes place in the fluid surrounding the thylakoids, known as the STROMA.    &#10;ATP provides the energy, and NADPH provides the electrons and hydrogens that are needed to reduce carbon dioxide to build sugars in the Calvin cycle.&#10;Here’s how it works:&#10;Phase 1: Carbon Fixation&#10;An enzyme called Rubisco takes CO2 from the air and adds it to a 5-carbon compound called RuBP.  This is called carbon fixation.  This makes a 6 carbon compound that immediately splits in half to make two molecules of 3-phosphoglycerate.  Notice that we did carbon fixation for 3 molecules of CO2.  You will see why soon!&#10; &#10;Phase 2: Reduction&#10;In the reduction phase, ATP from the light reactions provides energy to make an intermediate compound.  This reactive intermediate can then be reduced, or gain electrons and hydrogen.  The electrons and hydrogen come from NADPH  and are used to reduce the intermediate compound to make Glyceraldehyde-3-phosphate, more commonly called G3P (or sometimes triose phosphate).  G3P is the key product of the Calvin Cycle that can be used to make sugar!  Notice that for every 3 molecules of CO2 brought into the Calvin cycle, there is a net gain of 1 G3P.   3 carbons in, 3 carbons out… makes sense, right?&#10;Phase 3: Regeneration&#10;Notice in our model that only one G3P is removed from the cycle, but 5 more remain.   These 5 G3P molecules get converted back to our starting compound, RuBP.   Remember, the Calvin cycle is a cycle so we need to make our starting compound again to keep the cycle going.   Now, I’m going to give you a moment to think…   If we have 5 G3P molecules and each one has 3 carbons, how many carbon atoms do we have?    Now that you have the answer, how many 5-carbon RuBP molecules can we make using those carbon atoms?  I’m guessing that you’ve figured it out… we can make 3 RuBP molecules.   To do this, energy is required.   Can you guess where that energy comes from?   If you said ATP, you are right.   Let’s watch. &#10;Now that we’ve completed the Calvin cycle for 3 carbon atoms, let’s go through the process again so that we can make glucose!   Remember, our overall photosynthesis equation has 6 carbon dioxides being used to make 1 glucose molecule with 6 carbons.    With this in mind, how many G3Ps are needed to make one glucose?  If you said 2, you are correct!  &#10;Now you have seen how the Calvin cycle is used to make glucose and how the light-dependent reactions provide the NADPH and ATP that were needed to make the Calvin cycle work!  &#10;The glucose and other organic compounds made as a result of these processes in photosynthesis are what allow plants and algae to grow and support practically all life on earth, including you!  &#10;To become an expert on the Calvin Cycle by doing it yourself, play Photosynthesis Interactive at BioMan Biology!&#10; &#10;Music by Bensound.com/royalty-free-music" id="244" name="Google Shape;244;p40" title="Photosynthesis: The Calvin Cycle">
            <a:hlinkClick r:id="rId3"/>
          </p:cNvPr>
          <p:cNvPicPr preferRelativeResize="0"/>
          <p:nvPr/>
        </p:nvPicPr>
        <p:blipFill>
          <a:blip r:embed="rId4">
            <a:alphaModFix/>
          </a:blip>
          <a:stretch>
            <a:fillRect/>
          </a:stretch>
        </p:blipFill>
        <p:spPr>
          <a:xfrm>
            <a:off x="828650" y="1199550"/>
            <a:ext cx="6041600" cy="3398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445025"/>
            <a:ext cx="2530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Calvin Cycle</a:t>
            </a:r>
            <a:endParaRPr/>
          </a:p>
        </p:txBody>
      </p:sp>
      <p:pic>
        <p:nvPicPr>
          <p:cNvPr id="250" name="Google Shape;250;p41"/>
          <p:cNvPicPr preferRelativeResize="0"/>
          <p:nvPr/>
        </p:nvPicPr>
        <p:blipFill>
          <a:blip r:embed="rId3">
            <a:alphaModFix/>
          </a:blip>
          <a:stretch>
            <a:fillRect/>
          </a:stretch>
        </p:blipFill>
        <p:spPr>
          <a:xfrm>
            <a:off x="3674300" y="169300"/>
            <a:ext cx="5058166" cy="4974202"/>
          </a:xfrm>
          <a:prstGeom prst="rect">
            <a:avLst/>
          </a:prstGeom>
          <a:noFill/>
          <a:ln>
            <a:noFill/>
          </a:ln>
        </p:spPr>
      </p:pic>
      <p:sp>
        <p:nvSpPr>
          <p:cNvPr id="251" name="Google Shape;251;p41"/>
          <p:cNvSpPr txBox="1"/>
          <p:nvPr/>
        </p:nvSpPr>
        <p:spPr>
          <a:xfrm>
            <a:off x="7440375" y="344925"/>
            <a:ext cx="1292100" cy="3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0000"/>
                </a:solidFill>
                <a:latin typeface="Average"/>
                <a:ea typeface="Average"/>
                <a:cs typeface="Average"/>
                <a:sym typeface="Average"/>
              </a:rPr>
              <a:t>Step 1: Carbon Fixation</a:t>
            </a:r>
            <a:endParaRPr b="1" sz="1800">
              <a:solidFill>
                <a:srgbClr val="CC0000"/>
              </a:solidFill>
              <a:latin typeface="Average"/>
              <a:ea typeface="Average"/>
              <a:cs typeface="Average"/>
              <a:sym typeface="Average"/>
            </a:endParaRPr>
          </a:p>
        </p:txBody>
      </p:sp>
      <p:sp>
        <p:nvSpPr>
          <p:cNvPr id="252" name="Google Shape;252;p41"/>
          <p:cNvSpPr txBox="1"/>
          <p:nvPr/>
        </p:nvSpPr>
        <p:spPr>
          <a:xfrm>
            <a:off x="6110550" y="1941550"/>
            <a:ext cx="1469100" cy="6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0000"/>
                </a:solidFill>
                <a:latin typeface="Average"/>
                <a:ea typeface="Average"/>
                <a:cs typeface="Average"/>
                <a:sym typeface="Average"/>
              </a:rPr>
              <a:t>Step 2: Reduction</a:t>
            </a:r>
            <a:endParaRPr b="1" sz="1800">
              <a:solidFill>
                <a:srgbClr val="CC0000"/>
              </a:solidFill>
              <a:latin typeface="Average"/>
              <a:ea typeface="Average"/>
              <a:cs typeface="Average"/>
              <a:sym typeface="Average"/>
            </a:endParaRPr>
          </a:p>
        </p:txBody>
      </p:sp>
      <p:sp>
        <p:nvSpPr>
          <p:cNvPr id="253" name="Google Shape;253;p41"/>
          <p:cNvSpPr txBox="1"/>
          <p:nvPr/>
        </p:nvSpPr>
        <p:spPr>
          <a:xfrm>
            <a:off x="6712275" y="4065175"/>
            <a:ext cx="2020200" cy="6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0000FF"/>
                </a:solidFill>
                <a:latin typeface="Average"/>
                <a:ea typeface="Average"/>
                <a:cs typeface="Average"/>
                <a:sym typeface="Average"/>
              </a:rPr>
              <a:t>2 G3P used to make glucose- the rest are recycled!</a:t>
            </a:r>
            <a:endParaRPr b="1" sz="1800">
              <a:solidFill>
                <a:srgbClr val="0000FF"/>
              </a:solidFill>
              <a:latin typeface="Average"/>
              <a:ea typeface="Average"/>
              <a:cs typeface="Average"/>
              <a:sym typeface="Average"/>
            </a:endParaRPr>
          </a:p>
        </p:txBody>
      </p:sp>
      <p:sp>
        <p:nvSpPr>
          <p:cNvPr id="254" name="Google Shape;254;p41"/>
          <p:cNvSpPr txBox="1"/>
          <p:nvPr/>
        </p:nvSpPr>
        <p:spPr>
          <a:xfrm>
            <a:off x="3044650" y="2726100"/>
            <a:ext cx="1469100" cy="6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C0000"/>
                </a:solidFill>
                <a:latin typeface="Average"/>
                <a:ea typeface="Average"/>
                <a:cs typeface="Average"/>
                <a:sym typeface="Average"/>
              </a:rPr>
              <a:t>Step 3: Regeneration</a:t>
            </a:r>
            <a:endParaRPr b="1" sz="1800">
              <a:solidFill>
                <a:srgbClr val="CC0000"/>
              </a:solidFill>
              <a:latin typeface="Average"/>
              <a:ea typeface="Average"/>
              <a:cs typeface="Average"/>
              <a:sym typeface="Averag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Carbon Fixing Enzyme</a:t>
            </a:r>
            <a:endParaRPr/>
          </a:p>
        </p:txBody>
      </p:sp>
      <p:sp>
        <p:nvSpPr>
          <p:cNvPr id="260" name="Google Shape;260;p42"/>
          <p:cNvSpPr txBox="1"/>
          <p:nvPr>
            <p:ph idx="1" type="body"/>
          </p:nvPr>
        </p:nvSpPr>
        <p:spPr>
          <a:xfrm>
            <a:off x="311700" y="11072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RuBisCo</a:t>
            </a:r>
            <a:r>
              <a:rPr lang="en"/>
              <a:t>= ribulose bisphosphate carboxylase</a:t>
            </a:r>
            <a:endParaRPr/>
          </a:p>
          <a:p>
            <a:pPr indent="-342900" lvl="0" marL="457200" rtl="0" algn="l">
              <a:spcBef>
                <a:spcPts val="0"/>
              </a:spcBef>
              <a:spcAft>
                <a:spcPts val="0"/>
              </a:spcAft>
              <a:buSzPts val="1800"/>
              <a:buChar char="●"/>
            </a:pPr>
            <a:r>
              <a:rPr lang="en"/>
              <a:t>Enzyme that fixes carbon from the CO</a:t>
            </a:r>
            <a:r>
              <a:rPr baseline="-25000" lang="en"/>
              <a:t>2</a:t>
            </a:r>
            <a:r>
              <a:rPr lang="en"/>
              <a:t> in the air</a:t>
            </a:r>
            <a:endParaRPr/>
          </a:p>
          <a:p>
            <a:pPr indent="-342900" lvl="0" marL="457200" rtl="0" algn="l">
              <a:spcBef>
                <a:spcPts val="0"/>
              </a:spcBef>
              <a:spcAft>
                <a:spcPts val="0"/>
              </a:spcAft>
              <a:buSzPts val="1800"/>
              <a:buChar char="●"/>
            </a:pPr>
            <a:r>
              <a:rPr lang="en"/>
              <a:t>Most </a:t>
            </a:r>
            <a:r>
              <a:rPr b="1" lang="en"/>
              <a:t>important and abundant</a:t>
            </a:r>
            <a:r>
              <a:rPr lang="en"/>
              <a:t> enzyme on earth 🡪 makes life out of air!</a:t>
            </a:r>
            <a:endParaRPr/>
          </a:p>
        </p:txBody>
      </p:sp>
      <p:pic>
        <p:nvPicPr>
          <p:cNvPr descr="Can we improve Nature? |" id="261" name="Google Shape;261;p42"/>
          <p:cNvPicPr preferRelativeResize="0"/>
          <p:nvPr/>
        </p:nvPicPr>
        <p:blipFill rotWithShape="1">
          <a:blip r:embed="rId3">
            <a:alphaModFix/>
          </a:blip>
          <a:srcRect b="0" l="6975" r="6811" t="0"/>
          <a:stretch/>
        </p:blipFill>
        <p:spPr>
          <a:xfrm>
            <a:off x="2358350" y="2435950"/>
            <a:ext cx="3869700" cy="2533800"/>
          </a:xfrm>
          <a:prstGeom prst="round2DiagRect">
            <a:avLst>
              <a:gd fmla="val 4860" name="adj1"/>
              <a:gd fmla="val 0" name="adj2"/>
            </a:avLst>
          </a:prstGeom>
          <a:noFill/>
          <a:ln cap="sq" cmpd="sng" w="19050">
            <a:solidFill>
              <a:srgbClr val="E7FDA3">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Calvin Cycle Summary</a:t>
            </a:r>
            <a:endParaRPr/>
          </a:p>
        </p:txBody>
      </p:sp>
      <p:sp>
        <p:nvSpPr>
          <p:cNvPr id="267" name="Google Shape;267;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Char char="●"/>
            </a:pPr>
            <a:r>
              <a:rPr lang="en" sz="2200"/>
              <a:t>During 6 turns of the Calvin cycle:</a:t>
            </a:r>
            <a:endParaRPr sz="2200"/>
          </a:p>
          <a:p>
            <a:pPr indent="-342900" lvl="1" marL="914400" rtl="0" algn="l">
              <a:spcBef>
                <a:spcPts val="0"/>
              </a:spcBef>
              <a:spcAft>
                <a:spcPts val="0"/>
              </a:spcAft>
              <a:buSzPts val="1800"/>
              <a:buChar char="○"/>
            </a:pPr>
            <a:r>
              <a:rPr lang="en" sz="1800"/>
              <a:t>6 CO</a:t>
            </a:r>
            <a:r>
              <a:rPr baseline="-25000" lang="en" sz="1800"/>
              <a:t>2</a:t>
            </a:r>
            <a:r>
              <a:rPr lang="en" sz="1800"/>
              <a:t> 🡪 1 C</a:t>
            </a:r>
            <a:r>
              <a:rPr baseline="-25000" lang="en" sz="1800"/>
              <a:t>6</a:t>
            </a:r>
            <a:r>
              <a:rPr lang="en" sz="1800"/>
              <a:t>H</a:t>
            </a:r>
            <a:r>
              <a:rPr baseline="-25000" lang="en" sz="1800"/>
              <a:t>12</a:t>
            </a:r>
            <a:r>
              <a:rPr lang="en" sz="1800"/>
              <a:t>O</a:t>
            </a:r>
            <a:r>
              <a:rPr baseline="-25000" lang="en" sz="1800"/>
              <a:t>6</a:t>
            </a:r>
            <a:endParaRPr baseline="-25000" sz="1800"/>
          </a:p>
          <a:p>
            <a:pPr indent="-342900" lvl="1" marL="914400" rtl="0" algn="l">
              <a:spcBef>
                <a:spcPts val="0"/>
              </a:spcBef>
              <a:spcAft>
                <a:spcPts val="0"/>
              </a:spcAft>
              <a:buSzPts val="1800"/>
              <a:buChar char="○"/>
            </a:pPr>
            <a:r>
              <a:rPr lang="en" sz="1800"/>
              <a:t>18 ATP and 12 NADPH are used (where from?)</a:t>
            </a:r>
            <a:endParaRPr sz="1800"/>
          </a:p>
          <a:p>
            <a:pPr indent="-368300" lvl="0" marL="457200" rtl="0" algn="l">
              <a:spcBef>
                <a:spcPts val="0"/>
              </a:spcBef>
              <a:spcAft>
                <a:spcPts val="0"/>
              </a:spcAft>
              <a:buSzPts val="2200"/>
              <a:buChar char="●"/>
            </a:pPr>
            <a:r>
              <a:rPr lang="en" sz="2200"/>
              <a:t>Any leftover ATP will be used elsewhere by the cell</a:t>
            </a:r>
            <a:endParaRPr sz="2200"/>
          </a:p>
        </p:txBody>
      </p:sp>
      <p:pic>
        <p:nvPicPr>
          <p:cNvPr descr="This dynamic music video lyrically describes how the Calvin cycle, also called the light-independent reactions, uses carbon dioxide from the air, enzymes, and ATP and NADPH from the light reactions to produce the three carbon sugar G3P, the building block of glucose. The three phases of the Calvin cycle: Carbon Fixation, PGA Reduction, and the Regeneration of RuBP are described in rhyme. Keywords are spelled out to reinforce science terminology.  Suitable for high school and higher ed students.&#10;&#10;Thank you for watching our video. If you enjoyed today's video please subscribe to our channel and like, share, and leave a comment below. &#10;&#10;YouTube channel:                                                                           www.youtube.com/BiologyMusicVideos_educational                                                                                                      &#10;&#10;For more information please visit our website:&#10;www.biologymusicvideos.com&#10;&#10;Like us on Facebook&#10;www.facebook.com/biologeerap" id="268" name="Google Shape;268;p43" title="Photosynthesis Part 2: The Calvin Cycle  | Animated Music Video |">
            <a:hlinkClick r:id="rId3"/>
          </p:cNvPr>
          <p:cNvPicPr preferRelativeResize="0"/>
          <p:nvPr/>
        </p:nvPicPr>
        <p:blipFill>
          <a:blip r:embed="rId4">
            <a:alphaModFix/>
          </a:blip>
          <a:stretch>
            <a:fillRect/>
          </a:stretch>
        </p:blipFill>
        <p:spPr>
          <a:xfrm>
            <a:off x="3048000" y="2921775"/>
            <a:ext cx="3048000" cy="1714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Photosynthesis</a:t>
            </a:r>
            <a:endParaRPr/>
          </a:p>
        </p:txBody>
      </p:sp>
      <p:pic>
        <p:nvPicPr>
          <p:cNvPr id="274" name="Google Shape;274;p44"/>
          <p:cNvPicPr preferRelativeResize="0"/>
          <p:nvPr/>
        </p:nvPicPr>
        <p:blipFill rotWithShape="1">
          <a:blip r:embed="rId3">
            <a:alphaModFix/>
          </a:blip>
          <a:srcRect b="3717" l="0" r="0" t="0"/>
          <a:stretch/>
        </p:blipFill>
        <p:spPr>
          <a:xfrm>
            <a:off x="4400585" y="1728170"/>
            <a:ext cx="4655100" cy="3048000"/>
          </a:xfrm>
          <a:prstGeom prst="round2DiagRect">
            <a:avLst>
              <a:gd fmla="val 4860" name="adj1"/>
              <a:gd fmla="val 0" name="adj2"/>
            </a:avLst>
          </a:prstGeom>
          <a:noFill/>
          <a:ln cap="sq" cmpd="sng" w="19050">
            <a:solidFill>
              <a:srgbClr val="E7FDA3">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pic>
      <p:sp>
        <p:nvSpPr>
          <p:cNvPr id="275" name="Google Shape;275;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Light Reactions: </a:t>
            </a:r>
            <a:endParaRPr sz="2100"/>
          </a:p>
          <a:p>
            <a:pPr indent="-336550" lvl="1" marL="914400" rtl="0" algn="l">
              <a:spcBef>
                <a:spcPts val="0"/>
              </a:spcBef>
              <a:spcAft>
                <a:spcPts val="0"/>
              </a:spcAft>
              <a:buSzPts val="1700"/>
              <a:buChar char="○"/>
            </a:pPr>
            <a:r>
              <a:rPr lang="en" sz="1700"/>
              <a:t>Uses H</a:t>
            </a:r>
            <a:r>
              <a:rPr baseline="-25000" lang="en" sz="1700"/>
              <a:t>2</a:t>
            </a:r>
            <a:r>
              <a:rPr lang="en" sz="1700"/>
              <a:t>O</a:t>
            </a:r>
            <a:endParaRPr sz="1700"/>
          </a:p>
          <a:p>
            <a:pPr indent="-336550" lvl="1" marL="914400" rtl="0" algn="l">
              <a:spcBef>
                <a:spcPts val="0"/>
              </a:spcBef>
              <a:spcAft>
                <a:spcPts val="0"/>
              </a:spcAft>
              <a:buSzPts val="1700"/>
              <a:buChar char="○"/>
            </a:pPr>
            <a:r>
              <a:rPr lang="en" sz="1700"/>
              <a:t>Produces ATP and NADPH</a:t>
            </a:r>
            <a:endParaRPr sz="1700"/>
          </a:p>
          <a:p>
            <a:pPr indent="-336550" lvl="1" marL="914400" rtl="0" algn="l">
              <a:spcBef>
                <a:spcPts val="0"/>
              </a:spcBef>
              <a:spcAft>
                <a:spcPts val="0"/>
              </a:spcAft>
              <a:buSzPts val="1700"/>
              <a:buChar char="○"/>
            </a:pPr>
            <a:r>
              <a:rPr lang="en" sz="1700"/>
              <a:t>Releases O</a:t>
            </a:r>
            <a:r>
              <a:rPr baseline="-25000" lang="en" sz="1700"/>
              <a:t>2</a:t>
            </a:r>
            <a:r>
              <a:rPr lang="en" sz="1700"/>
              <a:t> as a byproduct</a:t>
            </a:r>
            <a:endParaRPr sz="1700"/>
          </a:p>
          <a:p>
            <a:pPr indent="-361950" lvl="0" marL="457200" rtl="0" algn="l">
              <a:spcBef>
                <a:spcPts val="0"/>
              </a:spcBef>
              <a:spcAft>
                <a:spcPts val="0"/>
              </a:spcAft>
              <a:buSzPts val="2100"/>
              <a:buChar char="●"/>
            </a:pPr>
            <a:r>
              <a:rPr lang="en" sz="2100"/>
              <a:t>Calvin Cycle</a:t>
            </a:r>
            <a:endParaRPr sz="2100"/>
          </a:p>
          <a:p>
            <a:pPr indent="-336550" lvl="1" marL="914400" rtl="0" algn="l">
              <a:spcBef>
                <a:spcPts val="0"/>
              </a:spcBef>
              <a:spcAft>
                <a:spcPts val="0"/>
              </a:spcAft>
              <a:buSzPts val="1700"/>
              <a:buChar char="○"/>
            </a:pPr>
            <a:r>
              <a:rPr lang="en" sz="1700"/>
              <a:t>Uses CO</a:t>
            </a:r>
            <a:r>
              <a:rPr baseline="-25000" lang="en" sz="1700"/>
              <a:t>2</a:t>
            </a:r>
            <a:r>
              <a:rPr lang="en" sz="1700"/>
              <a:t> </a:t>
            </a:r>
            <a:endParaRPr sz="1700"/>
          </a:p>
          <a:p>
            <a:pPr indent="-336550" lvl="1" marL="914400" rtl="0" algn="l">
              <a:spcBef>
                <a:spcPts val="0"/>
              </a:spcBef>
              <a:spcAft>
                <a:spcPts val="0"/>
              </a:spcAft>
              <a:buSzPts val="1700"/>
              <a:buChar char="○"/>
            </a:pPr>
            <a:r>
              <a:rPr lang="en" sz="1700"/>
              <a:t>Produces C</a:t>
            </a:r>
            <a:r>
              <a:rPr baseline="-25000" lang="en" sz="1700"/>
              <a:t>6</a:t>
            </a:r>
            <a:r>
              <a:rPr lang="en" sz="1700"/>
              <a:t>H</a:t>
            </a:r>
            <a:r>
              <a:rPr baseline="-25000" lang="en" sz="1700"/>
              <a:t>12</a:t>
            </a:r>
            <a:r>
              <a:rPr lang="en" sz="1700"/>
              <a:t>O</a:t>
            </a:r>
            <a:r>
              <a:rPr baseline="-25000" lang="en" sz="1700"/>
              <a:t>6</a:t>
            </a:r>
            <a:endParaRPr baseline="-25000" sz="1700"/>
          </a:p>
          <a:p>
            <a:pPr indent="-336550" lvl="1" marL="914400" rtl="0" algn="l">
              <a:spcBef>
                <a:spcPts val="0"/>
              </a:spcBef>
              <a:spcAft>
                <a:spcPts val="0"/>
              </a:spcAft>
              <a:buSzPts val="1700"/>
              <a:buChar char="○"/>
            </a:pPr>
            <a:r>
              <a:rPr lang="en" sz="1700"/>
              <a:t>Regenerates ADP and NADP+</a:t>
            </a:r>
            <a:endParaRPr sz="17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45"/>
          <p:cNvPicPr preferRelativeResize="0"/>
          <p:nvPr/>
        </p:nvPicPr>
        <p:blipFill>
          <a:blip r:embed="rId3">
            <a:alphaModFix/>
          </a:blip>
          <a:stretch>
            <a:fillRect/>
          </a:stretch>
        </p:blipFill>
        <p:spPr>
          <a:xfrm>
            <a:off x="1252688" y="1250749"/>
            <a:ext cx="6638623" cy="3555950"/>
          </a:xfrm>
          <a:prstGeom prst="rect">
            <a:avLst/>
          </a:prstGeom>
          <a:noFill/>
          <a:ln>
            <a:noFill/>
          </a:ln>
        </p:spPr>
      </p:pic>
      <p:sp>
        <p:nvSpPr>
          <p:cNvPr id="281" name="Google Shape;281;p45"/>
          <p:cNvSpPr txBox="1"/>
          <p:nvPr>
            <p:ph type="title"/>
          </p:nvPr>
        </p:nvSpPr>
        <p:spPr>
          <a:xfrm>
            <a:off x="311700" y="475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of Photosynthesis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6"/>
          <p:cNvSpPr txBox="1"/>
          <p:nvPr>
            <p:ph type="title"/>
          </p:nvPr>
        </p:nvSpPr>
        <p:spPr>
          <a:xfrm>
            <a:off x="160800" y="2122800"/>
            <a:ext cx="3098400" cy="897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Energy Cycle</a:t>
            </a:r>
            <a:endParaRPr/>
          </a:p>
        </p:txBody>
      </p:sp>
      <p:pic>
        <p:nvPicPr>
          <p:cNvPr descr="Differences Between Cellular Respiration and Photosynthesis" id="287" name="Google Shape;287;p46"/>
          <p:cNvPicPr preferRelativeResize="0"/>
          <p:nvPr/>
        </p:nvPicPr>
        <p:blipFill rotWithShape="1">
          <a:blip r:embed="rId3">
            <a:alphaModFix/>
          </a:blip>
          <a:srcRect b="220" l="0" r="0" t="0"/>
          <a:stretch/>
        </p:blipFill>
        <p:spPr>
          <a:xfrm>
            <a:off x="3565593" y="0"/>
            <a:ext cx="5668931" cy="51435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idx="1" type="body"/>
          </p:nvPr>
        </p:nvSpPr>
        <p:spPr>
          <a:xfrm>
            <a:off x="311700" y="1152475"/>
            <a:ext cx="3867900" cy="3766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 a global scale, photosynthesis is the most important process to life on Earth </a:t>
            </a:r>
            <a:endParaRPr/>
          </a:p>
          <a:p>
            <a:pPr indent="-342900" lvl="0" marL="457200" rtl="0" algn="l">
              <a:spcBef>
                <a:spcPts val="0"/>
              </a:spcBef>
              <a:spcAft>
                <a:spcPts val="0"/>
              </a:spcAft>
              <a:buSzPts val="1800"/>
              <a:buChar char="●"/>
            </a:pPr>
            <a:r>
              <a:rPr lang="en"/>
              <a:t>Each year photosynthesis: </a:t>
            </a:r>
            <a:endParaRPr/>
          </a:p>
          <a:p>
            <a:pPr indent="-317500" lvl="1" marL="914400" rtl="0" algn="l">
              <a:spcBef>
                <a:spcPts val="0"/>
              </a:spcBef>
              <a:spcAft>
                <a:spcPts val="0"/>
              </a:spcAft>
              <a:buSzPts val="1400"/>
              <a:buChar char="○"/>
            </a:pPr>
            <a:r>
              <a:rPr lang="en"/>
              <a:t>Captures 121 billion tons of CO2 </a:t>
            </a:r>
            <a:endParaRPr/>
          </a:p>
          <a:p>
            <a:pPr indent="-317500" lvl="1" marL="914400" rtl="0" algn="l">
              <a:spcBef>
                <a:spcPts val="0"/>
              </a:spcBef>
              <a:spcAft>
                <a:spcPts val="0"/>
              </a:spcAft>
              <a:buSzPts val="1400"/>
              <a:buChar char="○"/>
            </a:pPr>
            <a:r>
              <a:rPr lang="en"/>
              <a:t>Synthesizes 275 billion tons of carbohydrates</a:t>
            </a:r>
            <a:endParaRPr/>
          </a:p>
          <a:p>
            <a:pPr indent="-342900" lvl="0" marL="457200" rtl="0" algn="l">
              <a:spcBef>
                <a:spcPts val="0"/>
              </a:spcBef>
              <a:spcAft>
                <a:spcPts val="0"/>
              </a:spcAft>
              <a:buSzPts val="1800"/>
              <a:buChar char="●"/>
            </a:pPr>
            <a:r>
              <a:rPr lang="en"/>
              <a:t>Producers and consumers depend on each other to be able to carry out life’s processes!</a:t>
            </a:r>
            <a:endParaRPr/>
          </a:p>
          <a:p>
            <a:pPr indent="0" lvl="0" marL="0" rtl="0" algn="l">
              <a:spcBef>
                <a:spcPts val="1200"/>
              </a:spcBef>
              <a:spcAft>
                <a:spcPts val="1200"/>
              </a:spcAft>
              <a:buNone/>
            </a:pPr>
            <a:r>
              <a:t/>
            </a:r>
            <a:endParaRPr/>
          </a:p>
        </p:txBody>
      </p:sp>
      <p:sp>
        <p:nvSpPr>
          <p:cNvPr id="293" name="Google Shape;29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Supporting a </a:t>
            </a:r>
            <a:r>
              <a:rPr lang="en"/>
              <a:t>Biosphere</a:t>
            </a:r>
            <a:endParaRPr/>
          </a:p>
        </p:txBody>
      </p:sp>
      <p:pic>
        <p:nvPicPr>
          <p:cNvPr descr="Earth Day 2020: the green cure to save the Earth | Enel Green Power" id="294" name="Google Shape;294;p47"/>
          <p:cNvPicPr preferRelativeResize="0"/>
          <p:nvPr/>
        </p:nvPicPr>
        <p:blipFill rotWithShape="1">
          <a:blip r:embed="rId3">
            <a:alphaModFix/>
          </a:blip>
          <a:srcRect b="0" l="32445" r="24628" t="0"/>
          <a:stretch/>
        </p:blipFill>
        <p:spPr>
          <a:xfrm>
            <a:off x="4572002" y="0"/>
            <a:ext cx="4576200" cy="51435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8"/>
          <p:cNvSpPr/>
          <p:nvPr/>
        </p:nvSpPr>
        <p:spPr>
          <a:xfrm>
            <a:off x="0" y="0"/>
            <a:ext cx="9144000" cy="51435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pic>
        <p:nvPicPr>
          <p:cNvPr descr="10_05PhotosynthOverview_3_U" id="300" name="Google Shape;300;p48"/>
          <p:cNvPicPr preferRelativeResize="0"/>
          <p:nvPr/>
        </p:nvPicPr>
        <p:blipFill rotWithShape="1">
          <a:blip r:embed="rId3">
            <a:alphaModFix/>
          </a:blip>
          <a:srcRect b="0" l="0" r="0" t="0"/>
          <a:stretch/>
        </p:blipFill>
        <p:spPr>
          <a:xfrm>
            <a:off x="1869251" y="233876"/>
            <a:ext cx="5405499" cy="4675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