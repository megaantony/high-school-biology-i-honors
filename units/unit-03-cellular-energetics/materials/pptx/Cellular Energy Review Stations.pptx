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7010400" cy="9296400"/>
  <p:embeddedFontLst>
    <p:embeddedFont>
      <p:font typeface="Average"/>
      <p:regular r:id="rId17"/>
    </p:embeddedFont>
    <p:embeddedFont>
      <p:font typeface="Oswald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ySpUsN9gitPF+tuukW7SljFNU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F0A826-9BB4-4455-874E-359AE3C1EB08}">
  <a:tblStyle styleId="{11F0A826-9BB4-4455-874E-359AE3C1EB0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32700F79-26CE-4E22-94F8-1CC6E157B31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verage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swald-bold.fntdata"/><Relationship Id="rId6" Type="http://schemas.openxmlformats.org/officeDocument/2006/relationships/slide" Target="slides/slide1.xml"/><Relationship Id="rId18" Type="http://schemas.openxmlformats.org/officeDocument/2006/relationships/font" Target="fonts/Oswa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0d787249b2_0_2:notes"/>
          <p:cNvSpPr txBox="1"/>
          <p:nvPr>
            <p:ph idx="1" type="body"/>
          </p:nvPr>
        </p:nvSpPr>
        <p:spPr>
          <a:xfrm>
            <a:off x="701025" y="4415775"/>
            <a:ext cx="5608200" cy="41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0d787249b2_0_2:notes"/>
          <p:cNvSpPr/>
          <p:nvPr>
            <p:ph idx="2" type="sldImg"/>
          </p:nvPr>
        </p:nvSpPr>
        <p:spPr>
          <a:xfrm>
            <a:off x="1168625" y="697225"/>
            <a:ext cx="4673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0d787249b2_0_36:notes"/>
          <p:cNvSpPr txBox="1"/>
          <p:nvPr>
            <p:ph idx="1" type="body"/>
          </p:nvPr>
        </p:nvSpPr>
        <p:spPr>
          <a:xfrm>
            <a:off x="701025" y="4415775"/>
            <a:ext cx="5608200" cy="41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0d787249b2_0_36:notes"/>
          <p:cNvSpPr/>
          <p:nvPr>
            <p:ph idx="2" type="sldImg"/>
          </p:nvPr>
        </p:nvSpPr>
        <p:spPr>
          <a:xfrm>
            <a:off x="1168625" y="697225"/>
            <a:ext cx="4673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 txBox="1"/>
          <p:nvPr>
            <p:ph type="title"/>
          </p:nvPr>
        </p:nvSpPr>
        <p:spPr>
          <a:xfrm>
            <a:off x="457500" y="257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Oswald"/>
                <a:ea typeface="Oswald"/>
                <a:cs typeface="Oswald"/>
                <a:sym typeface="Oswald"/>
              </a:rPr>
              <a:t>Station 1- Enzymes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5" name="Google Shape;85;p2"/>
          <p:cNvSpPr txBox="1"/>
          <p:nvPr>
            <p:ph idx="1" type="body"/>
          </p:nvPr>
        </p:nvSpPr>
        <p:spPr>
          <a:xfrm>
            <a:off x="457500" y="1365850"/>
            <a:ext cx="10896300" cy="53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934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rage"/>
              <a:buChar char="•"/>
            </a:pPr>
            <a:r>
              <a:rPr lang="en-US">
                <a:latin typeface="Average"/>
                <a:ea typeface="Average"/>
                <a:cs typeface="Average"/>
                <a:sym typeface="Average"/>
              </a:rPr>
              <a:t>Label</a:t>
            </a:r>
            <a:r>
              <a:rPr lang="en-US">
                <a:latin typeface="Average"/>
                <a:ea typeface="Average"/>
                <a:cs typeface="Average"/>
                <a:sym typeface="Average"/>
              </a:rPr>
              <a:t> the terms on the </a:t>
            </a:r>
            <a:r>
              <a:rPr lang="en-US">
                <a:latin typeface="Average"/>
                <a:ea typeface="Average"/>
                <a:cs typeface="Average"/>
                <a:sym typeface="Average"/>
              </a:rPr>
              <a:t>diagram on your handout: 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-228600" lvl="1" marL="685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rage"/>
              <a:buChar char="•"/>
            </a:pPr>
            <a:r>
              <a:rPr lang="en-US">
                <a:latin typeface="Average"/>
                <a:ea typeface="Average"/>
                <a:cs typeface="Average"/>
                <a:sym typeface="Average"/>
              </a:rPr>
              <a:t>Enzyme 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-228600" lvl="1" marL="685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rage"/>
              <a:buChar char="•"/>
            </a:pPr>
            <a:r>
              <a:rPr lang="en-US">
                <a:latin typeface="Average"/>
                <a:ea typeface="Average"/>
                <a:cs typeface="Average"/>
                <a:sym typeface="Average"/>
              </a:rPr>
              <a:t>Substrate 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-228600" lvl="1" marL="685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rage"/>
              <a:buChar char="•"/>
            </a:pPr>
            <a:r>
              <a:rPr lang="en-US">
                <a:latin typeface="Average"/>
                <a:ea typeface="Average"/>
                <a:cs typeface="Average"/>
                <a:sym typeface="Average"/>
              </a:rPr>
              <a:t>Active Site 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-228600" lvl="1" marL="685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rage"/>
              <a:buChar char="•"/>
            </a:pPr>
            <a:r>
              <a:rPr lang="en-US">
                <a:latin typeface="Average"/>
                <a:ea typeface="Average"/>
                <a:cs typeface="Average"/>
                <a:sym typeface="Average"/>
              </a:rPr>
              <a:t>Enzyme substrate complex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-228600" lvl="1" marL="685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rage"/>
              <a:buChar char="•"/>
            </a:pPr>
            <a:r>
              <a:rPr lang="en-US">
                <a:latin typeface="Average"/>
                <a:ea typeface="Average"/>
                <a:cs typeface="Average"/>
                <a:sym typeface="Average"/>
              </a:rPr>
              <a:t>Products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-24193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rage"/>
              <a:buChar char="•"/>
            </a:pPr>
            <a:r>
              <a:rPr lang="en-US">
                <a:latin typeface="Average"/>
                <a:ea typeface="Average"/>
                <a:cs typeface="Average"/>
                <a:sym typeface="Average"/>
              </a:rPr>
              <a:t>Label the diagrams below as either competitive or non-competitive inhibition. How are these two processes different?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86" name="Google Shape;8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1950" y="365125"/>
            <a:ext cx="3232500" cy="256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2"/>
          <p:cNvPicPr preferRelativeResize="0"/>
          <p:nvPr/>
        </p:nvPicPr>
        <p:blipFill rotWithShape="1">
          <a:blip r:embed="rId4">
            <a:alphaModFix/>
          </a:blip>
          <a:srcRect b="24672" l="0" r="33105" t="54150"/>
          <a:stretch/>
        </p:blipFill>
        <p:spPr>
          <a:xfrm>
            <a:off x="1433201" y="4971950"/>
            <a:ext cx="9325601" cy="17698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"/>
          <p:cNvSpPr/>
          <p:nvPr/>
        </p:nvSpPr>
        <p:spPr>
          <a:xfrm>
            <a:off x="4464550" y="4971950"/>
            <a:ext cx="2130900" cy="411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0d787249b2_0_2"/>
          <p:cNvSpPr txBox="1"/>
          <p:nvPr>
            <p:ph idx="1" type="body"/>
          </p:nvPr>
        </p:nvSpPr>
        <p:spPr>
          <a:xfrm>
            <a:off x="498000" y="1445484"/>
            <a:ext cx="10515600" cy="1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Average"/>
                <a:ea typeface="Average"/>
                <a:cs typeface="Average"/>
                <a:sym typeface="Average"/>
              </a:rPr>
              <a:t>Answer the questions related to the graphs below on your handout. 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4" name="Google Shape;94;g30d787249b2_0_2"/>
          <p:cNvSpPr txBox="1"/>
          <p:nvPr>
            <p:ph type="title"/>
          </p:nvPr>
        </p:nvSpPr>
        <p:spPr>
          <a:xfrm>
            <a:off x="382925" y="1914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Oswald"/>
                <a:ea typeface="Oswald"/>
                <a:cs typeface="Oswald"/>
                <a:sym typeface="Oswald"/>
              </a:rPr>
              <a:t>Station 1 Cont.- Enzymes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95" name="Google Shape;95;g30d787249b2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3650" y="3177425"/>
            <a:ext cx="381000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30d787249b2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7957" y="3054025"/>
            <a:ext cx="4425530" cy="32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30d787249b2_0_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324550"/>
            <a:ext cx="3312576" cy="257775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0d787249b2_0_2"/>
          <p:cNvSpPr/>
          <p:nvPr/>
        </p:nvSpPr>
        <p:spPr>
          <a:xfrm>
            <a:off x="10158675" y="3700575"/>
            <a:ext cx="1253400" cy="42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0d787249b2_0_2"/>
          <p:cNvSpPr txBox="1"/>
          <p:nvPr/>
        </p:nvSpPr>
        <p:spPr>
          <a:xfrm>
            <a:off x="913188" y="2497025"/>
            <a:ext cx="14862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Graph A</a:t>
            </a:r>
            <a:endParaRPr b="1" sz="24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0" name="Google Shape;100;g30d787249b2_0_2"/>
          <p:cNvSpPr txBox="1"/>
          <p:nvPr/>
        </p:nvSpPr>
        <p:spPr>
          <a:xfrm>
            <a:off x="4897625" y="2286000"/>
            <a:ext cx="14862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Graph B</a:t>
            </a:r>
            <a:endParaRPr b="1" sz="24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1" name="Google Shape;101;g30d787249b2_0_2"/>
          <p:cNvSpPr txBox="1"/>
          <p:nvPr/>
        </p:nvSpPr>
        <p:spPr>
          <a:xfrm>
            <a:off x="9245538" y="2286000"/>
            <a:ext cx="14862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Graph C</a:t>
            </a:r>
            <a:endParaRPr b="1" sz="24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Oswald"/>
                <a:ea typeface="Oswald"/>
                <a:cs typeface="Oswald"/>
                <a:sym typeface="Oswald"/>
              </a:rPr>
              <a:t>Station 2-Energy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7" name="Google Shape;107;p3"/>
          <p:cNvSpPr txBox="1"/>
          <p:nvPr>
            <p:ph idx="1" type="body"/>
          </p:nvPr>
        </p:nvSpPr>
        <p:spPr>
          <a:xfrm>
            <a:off x="838200" y="1539125"/>
            <a:ext cx="105156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US" sz="2470">
                <a:latin typeface="Average"/>
                <a:ea typeface="Average"/>
                <a:cs typeface="Average"/>
                <a:sym typeface="Average"/>
              </a:rPr>
              <a:t>Label the parts of the graphs below with </a:t>
            </a:r>
            <a:r>
              <a:rPr b="1" lang="en-US" sz="2470">
                <a:latin typeface="Average"/>
                <a:ea typeface="Average"/>
                <a:cs typeface="Average"/>
                <a:sym typeface="Average"/>
              </a:rPr>
              <a:t>reactants</a:t>
            </a:r>
            <a:r>
              <a:rPr lang="en-US" sz="2470">
                <a:latin typeface="Average"/>
                <a:ea typeface="Average"/>
                <a:cs typeface="Average"/>
                <a:sym typeface="Average"/>
              </a:rPr>
              <a:t>, </a:t>
            </a:r>
            <a:r>
              <a:rPr b="1" lang="en-US" sz="2470">
                <a:latin typeface="Average"/>
                <a:ea typeface="Average"/>
                <a:cs typeface="Average"/>
                <a:sym typeface="Average"/>
              </a:rPr>
              <a:t>products</a:t>
            </a:r>
            <a:r>
              <a:rPr lang="en-US" sz="2470">
                <a:latin typeface="Average"/>
                <a:ea typeface="Average"/>
                <a:cs typeface="Average"/>
                <a:sym typeface="Average"/>
              </a:rPr>
              <a:t>, and </a:t>
            </a:r>
            <a:r>
              <a:rPr b="1" lang="en-US" sz="2470">
                <a:latin typeface="Average"/>
                <a:ea typeface="Average"/>
                <a:cs typeface="Average"/>
                <a:sym typeface="Average"/>
              </a:rPr>
              <a:t>where energy is either being released or added</a:t>
            </a:r>
            <a:r>
              <a:rPr lang="en-US" sz="2470">
                <a:latin typeface="Average"/>
                <a:ea typeface="Average"/>
                <a:cs typeface="Average"/>
                <a:sym typeface="Average"/>
              </a:rPr>
              <a:t>. Indicate if the graph represents an </a:t>
            </a:r>
            <a:r>
              <a:rPr b="1" lang="en-US" sz="2470">
                <a:latin typeface="Average"/>
                <a:ea typeface="Average"/>
                <a:cs typeface="Average"/>
                <a:sym typeface="Average"/>
              </a:rPr>
              <a:t>endergonic</a:t>
            </a:r>
            <a:r>
              <a:rPr lang="en-US" sz="2470">
                <a:latin typeface="Average"/>
                <a:ea typeface="Average"/>
                <a:cs typeface="Average"/>
                <a:sym typeface="Average"/>
              </a:rPr>
              <a:t> or </a:t>
            </a:r>
            <a:r>
              <a:rPr b="1" lang="en-US" sz="2470">
                <a:latin typeface="Average"/>
                <a:ea typeface="Average"/>
                <a:cs typeface="Average"/>
                <a:sym typeface="Average"/>
              </a:rPr>
              <a:t>exergonic</a:t>
            </a:r>
            <a:r>
              <a:rPr lang="en-US" sz="2470">
                <a:latin typeface="Average"/>
                <a:ea typeface="Average"/>
                <a:cs typeface="Average"/>
                <a:sym typeface="Average"/>
              </a:rPr>
              <a:t> reaction. </a:t>
            </a:r>
            <a:endParaRPr sz="2470"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08" name="Google Shape;108;p3"/>
          <p:cNvPicPr preferRelativeResize="0"/>
          <p:nvPr/>
        </p:nvPicPr>
        <p:blipFill rotWithShape="1">
          <a:blip r:embed="rId3">
            <a:alphaModFix/>
          </a:blip>
          <a:srcRect b="22612" l="0" r="0" t="12649"/>
          <a:stretch/>
        </p:blipFill>
        <p:spPr>
          <a:xfrm>
            <a:off x="1244650" y="3055950"/>
            <a:ext cx="9429024" cy="349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/>
          <p:nvPr/>
        </p:nvSpPr>
        <p:spPr>
          <a:xfrm>
            <a:off x="1760750" y="3790100"/>
            <a:ext cx="931200" cy="411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957175" y="4802000"/>
            <a:ext cx="931200" cy="411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6380900" y="4802000"/>
            <a:ext cx="1038000" cy="411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9635675" y="3790100"/>
            <a:ext cx="1038000" cy="411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3067900" y="2679925"/>
            <a:ext cx="13071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Graph A</a:t>
            </a:r>
            <a:endParaRPr b="1" sz="24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7893775" y="2679925"/>
            <a:ext cx="13071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Graph B</a:t>
            </a:r>
            <a:endParaRPr b="1" sz="24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>
            <p:ph type="title"/>
          </p:nvPr>
        </p:nvSpPr>
        <p:spPr>
          <a:xfrm>
            <a:off x="838200" y="1323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Oswald"/>
                <a:ea typeface="Oswald"/>
                <a:cs typeface="Oswald"/>
                <a:sym typeface="Oswald"/>
              </a:rPr>
              <a:t>Station 2 Energy Cont. 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0" name="Google Shape;120;p4"/>
          <p:cNvSpPr txBox="1"/>
          <p:nvPr>
            <p:ph idx="1" type="body"/>
          </p:nvPr>
        </p:nvSpPr>
        <p:spPr>
          <a:xfrm>
            <a:off x="766575" y="1304250"/>
            <a:ext cx="4217400" cy="42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verage"/>
                <a:ea typeface="Average"/>
                <a:cs typeface="Average"/>
                <a:sym typeface="Average"/>
              </a:rPr>
              <a:t>Label the enzyme graph with the following: 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rage"/>
              <a:buChar char="•"/>
            </a:pPr>
            <a:r>
              <a:rPr lang="en-US">
                <a:latin typeface="Average"/>
                <a:ea typeface="Average"/>
                <a:cs typeface="Average"/>
                <a:sym typeface="Average"/>
              </a:rPr>
              <a:t>Reaction with the enzyme 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rage"/>
              <a:buChar char="•"/>
            </a:pPr>
            <a:r>
              <a:rPr lang="en-US">
                <a:latin typeface="Average"/>
                <a:ea typeface="Average"/>
                <a:cs typeface="Average"/>
                <a:sym typeface="Average"/>
              </a:rPr>
              <a:t>Reaction without the enzyme 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rage"/>
              <a:buChar char="•"/>
            </a:pPr>
            <a:r>
              <a:rPr lang="en-US">
                <a:latin typeface="Average"/>
                <a:ea typeface="Average"/>
                <a:cs typeface="Average"/>
                <a:sym typeface="Average"/>
              </a:rPr>
              <a:t>overall energy released 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rage"/>
              <a:buChar char="•"/>
            </a:pPr>
            <a:r>
              <a:rPr lang="en-US">
                <a:latin typeface="Average"/>
                <a:ea typeface="Average"/>
                <a:cs typeface="Average"/>
                <a:sym typeface="Average"/>
              </a:rPr>
              <a:t>reactants 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rage"/>
              <a:buChar char="•"/>
            </a:pPr>
            <a:r>
              <a:rPr lang="en-US">
                <a:latin typeface="Average"/>
                <a:ea typeface="Average"/>
                <a:cs typeface="Average"/>
                <a:sym typeface="Average"/>
              </a:rPr>
              <a:t>products 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rage"/>
              <a:buChar char="•"/>
            </a:pPr>
            <a:r>
              <a:rPr lang="en-US">
                <a:latin typeface="Average"/>
                <a:ea typeface="Average"/>
                <a:cs typeface="Average"/>
                <a:sym typeface="Average"/>
              </a:rPr>
              <a:t>activation energy with the enzyme 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rage"/>
              <a:buChar char="•"/>
            </a:pPr>
            <a:r>
              <a:rPr lang="en-US">
                <a:latin typeface="Average"/>
                <a:ea typeface="Average"/>
                <a:cs typeface="Average"/>
                <a:sym typeface="Average"/>
              </a:rPr>
              <a:t>activation energy without the enzyme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21" name="Google Shape;12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0125" y="1913075"/>
            <a:ext cx="6432376" cy="433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 txBox="1"/>
          <p:nvPr/>
        </p:nvSpPr>
        <p:spPr>
          <a:xfrm>
            <a:off x="766575" y="5437450"/>
            <a:ext cx="3831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How do enzymes speed up the rate of chemical reactions?</a:t>
            </a:r>
            <a:endParaRPr sz="2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>
            <p:ph type="title"/>
          </p:nvPr>
        </p:nvSpPr>
        <p:spPr>
          <a:xfrm>
            <a:off x="311725" y="2218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Oswald"/>
                <a:ea typeface="Oswald"/>
                <a:cs typeface="Oswald"/>
                <a:sym typeface="Oswald"/>
              </a:rPr>
              <a:t>Station 3- Relating Cellular Respiration and Photosynthesis 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8" name="Google Shape;128;p5"/>
          <p:cNvSpPr txBox="1"/>
          <p:nvPr>
            <p:ph idx="1" type="body"/>
          </p:nvPr>
        </p:nvSpPr>
        <p:spPr>
          <a:xfrm>
            <a:off x="311725" y="1637099"/>
            <a:ext cx="105156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Average"/>
                <a:ea typeface="Average"/>
                <a:cs typeface="Average"/>
                <a:sym typeface="Average"/>
              </a:rPr>
              <a:t>Fill in the chart below in your handout. How are cellular respiration and </a:t>
            </a:r>
            <a:r>
              <a:rPr lang="en-US">
                <a:latin typeface="Average"/>
                <a:ea typeface="Average"/>
                <a:cs typeface="Average"/>
                <a:sym typeface="Average"/>
              </a:rPr>
              <a:t>photosynthesis related processes?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graphicFrame>
        <p:nvGraphicFramePr>
          <p:cNvPr id="129" name="Google Shape;129;p5"/>
          <p:cNvGraphicFramePr/>
          <p:nvPr/>
        </p:nvGraphicFramePr>
        <p:xfrm>
          <a:off x="2146017" y="26728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{11F0A826-9BB4-4455-874E-359AE3C1EB08}</a:tableStyleId>
              </a:tblPr>
              <a:tblGrid>
                <a:gridCol w="2543800"/>
                <a:gridCol w="2543800"/>
                <a:gridCol w="2543800"/>
              </a:tblGrid>
              <a:tr h="410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Cellular Respiration</a:t>
                      </a:r>
                      <a:endParaRPr sz="19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Photosynthesis</a:t>
                      </a:r>
                      <a:endParaRPr sz="19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</a:tr>
              <a:tr h="36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Role</a:t>
                      </a:r>
                      <a:r>
                        <a:rPr lang="en-US" sz="1600"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 of Oxygen?</a:t>
                      </a:r>
                      <a:endParaRPr sz="16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</a:tr>
              <a:tr h="36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Role of CO2?</a:t>
                      </a:r>
                      <a:endParaRPr sz="16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</a:tr>
              <a:tr h="36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Role of Glucose?</a:t>
                      </a:r>
                      <a:endParaRPr sz="16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</a:tr>
              <a:tr h="36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Role of Water?</a:t>
                      </a:r>
                      <a:endParaRPr sz="16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</a:tr>
              <a:tr h="36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Role</a:t>
                      </a:r>
                      <a:r>
                        <a:rPr lang="en-US" sz="1600"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 of ATP?</a:t>
                      </a:r>
                      <a:endParaRPr sz="16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</a:tr>
              <a:tr h="36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WHO does it?</a:t>
                      </a:r>
                      <a:endParaRPr sz="16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</a:tr>
              <a:tr h="50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WHERE</a:t>
                      </a:r>
                      <a:r>
                        <a:rPr lang="en-US" sz="1600"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 does it occur in the cell?</a:t>
                      </a:r>
                      <a:endParaRPr sz="16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</a:tr>
              <a:tr h="36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WHY does it occur?</a:t>
                      </a:r>
                      <a:endParaRPr sz="16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Oswald"/>
                <a:ea typeface="Oswald"/>
                <a:cs typeface="Oswald"/>
                <a:sym typeface="Oswald"/>
              </a:rPr>
              <a:t>Station 4- Cellular Respiration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5" name="Google Shape;135;p6"/>
          <p:cNvSpPr txBox="1"/>
          <p:nvPr>
            <p:ph idx="1" type="body"/>
          </p:nvPr>
        </p:nvSpPr>
        <p:spPr>
          <a:xfrm>
            <a:off x="838200" y="14987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Average"/>
                <a:ea typeface="Average"/>
                <a:cs typeface="Average"/>
                <a:sym typeface="Average"/>
              </a:rPr>
              <a:t>Complete the graphic organizer in your handout summarizing </a:t>
            </a:r>
            <a:r>
              <a:rPr lang="en-US">
                <a:latin typeface="Average"/>
                <a:ea typeface="Average"/>
                <a:cs typeface="Average"/>
                <a:sym typeface="Average"/>
              </a:rPr>
              <a:t>the</a:t>
            </a:r>
            <a:r>
              <a:rPr lang="en-US">
                <a:latin typeface="Average"/>
                <a:ea typeface="Average"/>
                <a:cs typeface="Average"/>
                <a:sym typeface="Average"/>
              </a:rPr>
              <a:t> steps to cellular respiration. Answer the </a:t>
            </a:r>
            <a:r>
              <a:rPr lang="en-US">
                <a:latin typeface="Average"/>
                <a:ea typeface="Average"/>
                <a:cs typeface="Average"/>
                <a:sym typeface="Average"/>
              </a:rPr>
              <a:t>questions</a:t>
            </a:r>
            <a:r>
              <a:rPr lang="en-US">
                <a:latin typeface="Average"/>
                <a:ea typeface="Average"/>
                <a:cs typeface="Average"/>
                <a:sym typeface="Average"/>
              </a:rPr>
              <a:t> that follow. 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cellular respiration diagram" id="136" name="Google Shape;136;p6"/>
          <p:cNvPicPr preferRelativeResize="0"/>
          <p:nvPr/>
        </p:nvPicPr>
        <p:blipFill rotWithShape="1">
          <a:blip r:embed="rId3">
            <a:alphaModFix/>
          </a:blip>
          <a:srcRect b="0" l="0" r="0" t="39"/>
          <a:stretch/>
        </p:blipFill>
        <p:spPr>
          <a:xfrm>
            <a:off x="2788048" y="2381949"/>
            <a:ext cx="6615900" cy="4331700"/>
          </a:xfrm>
          <a:prstGeom prst="round2DiagRect">
            <a:avLst>
              <a:gd fmla="val 4860" name="adj1"/>
              <a:gd fmla="val 0" name="adj2"/>
            </a:avLst>
          </a:prstGeom>
          <a:noFill/>
          <a:ln cap="sq" cmpd="sng" w="1905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>
            <p:ph type="title"/>
          </p:nvPr>
        </p:nvSpPr>
        <p:spPr>
          <a:xfrm>
            <a:off x="748675" y="257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Oswald"/>
                <a:ea typeface="Oswald"/>
                <a:cs typeface="Oswald"/>
                <a:sym typeface="Oswald"/>
              </a:rPr>
              <a:t>Station 5- Photosynthesis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2" name="Google Shape;142;p7"/>
          <p:cNvSpPr txBox="1"/>
          <p:nvPr>
            <p:ph idx="1" type="body"/>
          </p:nvPr>
        </p:nvSpPr>
        <p:spPr>
          <a:xfrm>
            <a:off x="748675" y="15834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Average"/>
                <a:ea typeface="Average"/>
                <a:cs typeface="Average"/>
                <a:sym typeface="Average"/>
              </a:rPr>
              <a:t>Complete the graphic organizer in your handout summarizing the steps to photosynthesis. Answer the questions that follow. 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7"/>
          <p:cNvPicPr preferRelativeResize="0"/>
          <p:nvPr/>
        </p:nvPicPr>
        <p:blipFill rotWithShape="1">
          <a:blip r:embed="rId3">
            <a:alphaModFix/>
          </a:blip>
          <a:srcRect b="0" l="0" r="0" t="12180"/>
          <a:stretch/>
        </p:blipFill>
        <p:spPr>
          <a:xfrm>
            <a:off x="2661338" y="2515325"/>
            <a:ext cx="6690276" cy="410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type="title"/>
          </p:nvPr>
        </p:nvSpPr>
        <p:spPr>
          <a:xfrm>
            <a:off x="390550" y="1860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Oswald"/>
                <a:ea typeface="Oswald"/>
                <a:cs typeface="Oswald"/>
                <a:sym typeface="Oswald"/>
              </a:rPr>
              <a:t>Station 6 -The ETC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9" name="Google Shape;149;p8"/>
          <p:cNvSpPr txBox="1"/>
          <p:nvPr>
            <p:ph idx="1" type="body"/>
          </p:nvPr>
        </p:nvSpPr>
        <p:spPr>
          <a:xfrm>
            <a:off x="390550" y="1171425"/>
            <a:ext cx="105156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Average"/>
                <a:ea typeface="Average"/>
                <a:cs typeface="Average"/>
                <a:sym typeface="Average"/>
              </a:rPr>
              <a:t>Label the diagrams of the ETC in your handout. 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50" name="Google Shape;15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825" y="3038075"/>
            <a:ext cx="6144000" cy="34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8"/>
          <p:cNvPicPr preferRelativeResize="0"/>
          <p:nvPr/>
        </p:nvPicPr>
        <p:blipFill rotWithShape="1">
          <a:blip r:embed="rId4">
            <a:alphaModFix/>
          </a:blip>
          <a:srcRect b="0" l="23011" r="0" t="0"/>
          <a:stretch/>
        </p:blipFill>
        <p:spPr>
          <a:xfrm>
            <a:off x="6649125" y="3403375"/>
            <a:ext cx="5467274" cy="28398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2" name="Google Shape;152;p8"/>
          <p:cNvGraphicFramePr/>
          <p:nvPr/>
        </p:nvGraphicFramePr>
        <p:xfrm>
          <a:off x="791350" y="228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{32700F79-26CE-4E22-94F8-1CC6E157B31D}</a:tableStyleId>
              </a:tblPr>
              <a:tblGrid>
                <a:gridCol w="5519525"/>
                <a:gridCol w="5519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ETC- Cellular Respiration </a:t>
                      </a:r>
                      <a:endParaRPr b="1" sz="24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ETC- Photosynthesis</a:t>
                      </a:r>
                      <a:endParaRPr b="1" sz="24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0d787249b2_0_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Oswald"/>
                <a:ea typeface="Oswald"/>
                <a:cs typeface="Oswald"/>
                <a:sym typeface="Oswald"/>
              </a:rPr>
              <a:t>Station 6 Cont.-The ETC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8" name="Google Shape;158;g30d787249b2_0_36"/>
          <p:cNvSpPr txBox="1"/>
          <p:nvPr>
            <p:ph idx="1" type="body"/>
          </p:nvPr>
        </p:nvSpPr>
        <p:spPr>
          <a:xfrm>
            <a:off x="838200" y="1690825"/>
            <a:ext cx="10515600" cy="15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Average"/>
                <a:ea typeface="Average"/>
                <a:cs typeface="Average"/>
                <a:sym typeface="Average"/>
              </a:rPr>
              <a:t>Complete the chart below summarizing the differences between the ETC in photosynthesis and cellular respiration. 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graphicFrame>
        <p:nvGraphicFramePr>
          <p:cNvPr id="159" name="Google Shape;159;g30d787249b2_0_36"/>
          <p:cNvGraphicFramePr/>
          <p:nvPr/>
        </p:nvGraphicFramePr>
        <p:xfrm>
          <a:off x="838200" y="28086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{11F0A826-9BB4-4455-874E-359AE3C1EB08}</a:tableStyleId>
              </a:tblPr>
              <a:tblGrid>
                <a:gridCol w="3565225"/>
                <a:gridCol w="3565225"/>
                <a:gridCol w="3565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Cellular Respiration</a:t>
                      </a:r>
                      <a:endParaRPr sz="22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Photosynthesis</a:t>
                      </a:r>
                      <a:endParaRPr sz="22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What is the purpose of the ETC?</a:t>
                      </a:r>
                      <a:endParaRPr sz="22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Who are the electron carriers?</a:t>
                      </a:r>
                      <a:endParaRPr sz="22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Where is the ETC located?</a:t>
                      </a:r>
                      <a:endParaRPr sz="22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What supplies energy for the ETC?</a:t>
                      </a:r>
                      <a:endParaRPr sz="22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Oswald"/>
                <a:ea typeface="Oswald"/>
                <a:cs typeface="Oswald"/>
                <a:sym typeface="Oswald"/>
              </a:rPr>
              <a:t>Station 7- CR Practice Questions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5" name="Google Shape;165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verage"/>
                <a:ea typeface="Average"/>
                <a:cs typeface="Average"/>
                <a:sym typeface="Average"/>
              </a:rPr>
              <a:t>Complete the cellular respiration practice multiple choice questions in your packet. See your teacher for the answer key </a:t>
            </a:r>
            <a:r>
              <a:rPr lang="en-US">
                <a:latin typeface="Average"/>
                <a:ea typeface="Average"/>
                <a:cs typeface="Average"/>
                <a:sym typeface="Average"/>
              </a:rPr>
              <a:t>when you finish. 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66" name="Google Shape;16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9033" y="2947625"/>
            <a:ext cx="3433150" cy="343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0200" y="2949713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Oswald"/>
                <a:ea typeface="Oswald"/>
                <a:cs typeface="Oswald"/>
                <a:sym typeface="Oswald"/>
              </a:rPr>
              <a:t>Station 8- PS Practice Questions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3" name="Google Shape;173;p10"/>
          <p:cNvSpPr txBox="1"/>
          <p:nvPr>
            <p:ph idx="1" type="body"/>
          </p:nvPr>
        </p:nvSpPr>
        <p:spPr>
          <a:xfrm>
            <a:off x="838200" y="1825625"/>
            <a:ext cx="10515600" cy="137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verage"/>
                <a:ea typeface="Average"/>
                <a:cs typeface="Average"/>
                <a:sym typeface="Average"/>
              </a:rPr>
              <a:t>Complete the photosynthesis practice multiple choice questions in your packet. See your teacher for the answer key when you finish. 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5125" y="2895400"/>
            <a:ext cx="3769600" cy="381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3850" y="3044651"/>
            <a:ext cx="3661574" cy="3661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2016-12-05T14:19:42Z</dcterms:created>
  <dc:creator>Smith, Melissa</dc:creator>
</cp:coreProperties>
</file>